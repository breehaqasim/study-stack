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195" r:id="rId3"/>
    <p:sldId id="1860" r:id="rId4"/>
    <p:sldId id="2084" r:id="rId5"/>
    <p:sldId id="2056" r:id="rId6"/>
    <p:sldId id="1867" r:id="rId7"/>
    <p:sldId id="2055" r:id="rId8"/>
    <p:sldId id="2095" r:id="rId9"/>
    <p:sldId id="2057" r:id="rId10"/>
    <p:sldId id="2058" r:id="rId11"/>
    <p:sldId id="2059" r:id="rId12"/>
    <p:sldId id="2060" r:id="rId13"/>
    <p:sldId id="2061" r:id="rId14"/>
    <p:sldId id="2217" r:id="rId15"/>
    <p:sldId id="2242" r:id="rId16"/>
    <p:sldId id="2216" r:id="rId17"/>
    <p:sldId id="2218" r:id="rId18"/>
    <p:sldId id="1999" r:id="rId19"/>
    <p:sldId id="2243" r:id="rId20"/>
    <p:sldId id="2219" r:id="rId21"/>
    <p:sldId id="2220" r:id="rId22"/>
    <p:sldId id="2222" r:id="rId23"/>
    <p:sldId id="2221" r:id="rId24"/>
    <p:sldId id="2223" r:id="rId25"/>
    <p:sldId id="2224" r:id="rId26"/>
    <p:sldId id="2238" r:id="rId27"/>
    <p:sldId id="2241" r:id="rId28"/>
    <p:sldId id="2062" r:id="rId29"/>
    <p:sldId id="2096" r:id="rId30"/>
    <p:sldId id="2063" r:id="rId31"/>
    <p:sldId id="2231" r:id="rId32"/>
    <p:sldId id="2234" r:id="rId33"/>
    <p:sldId id="2244" r:id="rId34"/>
    <p:sldId id="2259" r:id="rId35"/>
    <p:sldId id="2246" r:id="rId36"/>
    <p:sldId id="2260" r:id="rId37"/>
    <p:sldId id="2261" r:id="rId38"/>
    <p:sldId id="2236" r:id="rId39"/>
    <p:sldId id="2232" r:id="rId40"/>
    <p:sldId id="2233" r:id="rId41"/>
    <p:sldId id="2237" r:id="rId42"/>
    <p:sldId id="223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27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 Khan" userId="c69037a3-7830-45e8-82b4-2cfafa8c009d" providerId="ADAL" clId="{08D1F232-96C6-40B9-8A88-80538708B29C}"/>
    <pc:docChg chg="undo redo custSel addSld modSld sldOrd">
      <pc:chgData name="Farhan Khan" userId="c69037a3-7830-45e8-82b4-2cfafa8c009d" providerId="ADAL" clId="{08D1F232-96C6-40B9-8A88-80538708B29C}" dt="2023-01-19T04:47:54.783" v="499" actId="255"/>
      <pc:docMkLst>
        <pc:docMk/>
      </pc:docMkLst>
      <pc:sldChg chg="modSp mod">
        <pc:chgData name="Farhan Khan" userId="c69037a3-7830-45e8-82b4-2cfafa8c009d" providerId="ADAL" clId="{08D1F232-96C6-40B9-8A88-80538708B29C}" dt="2023-01-17T04:06:39.508" v="20" actId="20577"/>
        <pc:sldMkLst>
          <pc:docMk/>
          <pc:sldMk cId="0" sldId="256"/>
        </pc:sldMkLst>
        <pc:spChg chg="mod">
          <ac:chgData name="Farhan Khan" userId="c69037a3-7830-45e8-82b4-2cfafa8c009d" providerId="ADAL" clId="{08D1F232-96C6-40B9-8A88-80538708B29C}" dt="2023-01-17T04:06:39.508" v="2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Farhan Khan" userId="c69037a3-7830-45e8-82b4-2cfafa8c009d" providerId="ADAL" clId="{08D1F232-96C6-40B9-8A88-80538708B29C}" dt="2023-01-17T04:20:06.875" v="45" actId="1076"/>
        <pc:sldMkLst>
          <pc:docMk/>
          <pc:sldMk cId="4073266839" sldId="2061"/>
        </pc:sldMkLst>
        <pc:picChg chg="add mod">
          <ac:chgData name="Farhan Khan" userId="c69037a3-7830-45e8-82b4-2cfafa8c009d" providerId="ADAL" clId="{08D1F232-96C6-40B9-8A88-80538708B29C}" dt="2023-01-17T04:20:06.875" v="45" actId="1076"/>
          <ac:picMkLst>
            <pc:docMk/>
            <pc:sldMk cId="4073266839" sldId="2061"/>
            <ac:picMk id="3" creationId="{3FB34972-8D15-EC98-641C-6A609ADB9383}"/>
          </ac:picMkLst>
        </pc:picChg>
        <pc:picChg chg="del">
          <ac:chgData name="Farhan Khan" userId="c69037a3-7830-45e8-82b4-2cfafa8c009d" providerId="ADAL" clId="{08D1F232-96C6-40B9-8A88-80538708B29C}" dt="2023-01-17T04:15:46.426" v="21" actId="478"/>
          <ac:picMkLst>
            <pc:docMk/>
            <pc:sldMk cId="4073266839" sldId="2061"/>
            <ac:picMk id="6" creationId="{073D19D2-315D-48C2-921D-6D6AD1BD5881}"/>
          </ac:picMkLst>
        </pc:picChg>
      </pc:sldChg>
      <pc:sldChg chg="ord">
        <pc:chgData name="Farhan Khan" userId="c69037a3-7830-45e8-82b4-2cfafa8c009d" providerId="ADAL" clId="{08D1F232-96C6-40B9-8A88-80538708B29C}" dt="2023-01-19T04:45:59.851" v="456"/>
        <pc:sldMkLst>
          <pc:docMk/>
          <pc:sldMk cId="171771223" sldId="2236"/>
        </pc:sldMkLst>
      </pc:sldChg>
      <pc:sldChg chg="addSp delSp modSp mod">
        <pc:chgData name="Farhan Khan" userId="c69037a3-7830-45e8-82b4-2cfafa8c009d" providerId="ADAL" clId="{08D1F232-96C6-40B9-8A88-80538708B29C}" dt="2023-01-17T04:20:05.004" v="43" actId="478"/>
        <pc:sldMkLst>
          <pc:docMk/>
          <pc:sldMk cId="2554251767" sldId="2242"/>
        </pc:sldMkLst>
        <pc:spChg chg="add del">
          <ac:chgData name="Farhan Khan" userId="c69037a3-7830-45e8-82b4-2cfafa8c009d" providerId="ADAL" clId="{08D1F232-96C6-40B9-8A88-80538708B29C}" dt="2023-01-17T04:20:05.004" v="43" actId="478"/>
          <ac:spMkLst>
            <pc:docMk/>
            <pc:sldMk cId="2554251767" sldId="2242"/>
            <ac:spMk id="3" creationId="{00000000-0000-0000-0000-000000000000}"/>
          </ac:spMkLst>
        </pc:spChg>
        <pc:spChg chg="add del mod">
          <ac:chgData name="Farhan Khan" userId="c69037a3-7830-45e8-82b4-2cfafa8c009d" providerId="ADAL" clId="{08D1F232-96C6-40B9-8A88-80538708B29C}" dt="2023-01-17T04:20:05.004" v="43" actId="478"/>
          <ac:spMkLst>
            <pc:docMk/>
            <pc:sldMk cId="2554251767" sldId="2242"/>
            <ac:spMk id="7" creationId="{503ED8CD-0A92-64AA-BB79-08EE46478D66}"/>
          </ac:spMkLst>
        </pc:spChg>
        <pc:picChg chg="add del">
          <ac:chgData name="Farhan Khan" userId="c69037a3-7830-45e8-82b4-2cfafa8c009d" providerId="ADAL" clId="{08D1F232-96C6-40B9-8A88-80538708B29C}" dt="2023-01-17T04:19:30.002" v="32" actId="478"/>
          <ac:picMkLst>
            <pc:docMk/>
            <pc:sldMk cId="2554251767" sldId="2242"/>
            <ac:picMk id="11" creationId="{E24492F0-8BCC-47DC-821B-FA82E99AA536}"/>
          </ac:picMkLst>
        </pc:picChg>
        <pc:picChg chg="add del">
          <ac:chgData name="Farhan Khan" userId="c69037a3-7830-45e8-82b4-2cfafa8c009d" providerId="ADAL" clId="{08D1F232-96C6-40B9-8A88-80538708B29C}" dt="2023-01-17T04:19:30.547" v="33" actId="478"/>
          <ac:picMkLst>
            <pc:docMk/>
            <pc:sldMk cId="2554251767" sldId="2242"/>
            <ac:picMk id="13" creationId="{52999F39-8DE8-4427-A400-D6F0B4187524}"/>
          </ac:picMkLst>
        </pc:picChg>
        <pc:picChg chg="add del">
          <ac:chgData name="Farhan Khan" userId="c69037a3-7830-45e8-82b4-2cfafa8c009d" providerId="ADAL" clId="{08D1F232-96C6-40B9-8A88-80538708B29C}" dt="2023-01-17T04:19:29.452" v="31" actId="478"/>
          <ac:picMkLst>
            <pc:docMk/>
            <pc:sldMk cId="2554251767" sldId="2242"/>
            <ac:picMk id="16" creationId="{0001FD60-BC21-4434-A012-DD2CEF3684E1}"/>
          </ac:picMkLst>
        </pc:picChg>
        <pc:picChg chg="add del">
          <ac:chgData name="Farhan Khan" userId="c69037a3-7830-45e8-82b4-2cfafa8c009d" providerId="ADAL" clId="{08D1F232-96C6-40B9-8A88-80538708B29C}" dt="2023-01-17T04:19:28.934" v="30" actId="478"/>
          <ac:picMkLst>
            <pc:docMk/>
            <pc:sldMk cId="2554251767" sldId="2242"/>
            <ac:picMk id="19" creationId="{51ABBA98-4A63-44E3-BD35-27BB8B2F24EE}"/>
          </ac:picMkLst>
        </pc:picChg>
      </pc:sldChg>
      <pc:sldChg chg="addSp modSp new mod modClrScheme chgLayout">
        <pc:chgData name="Farhan Khan" userId="c69037a3-7830-45e8-82b4-2cfafa8c009d" providerId="ADAL" clId="{08D1F232-96C6-40B9-8A88-80538708B29C}" dt="2023-01-19T04:41:05.987" v="451" actId="20577"/>
        <pc:sldMkLst>
          <pc:docMk/>
          <pc:sldMk cId="21328892" sldId="2260"/>
        </pc:sldMkLst>
        <pc:spChg chg="mod ord">
          <ac:chgData name="Farhan Khan" userId="c69037a3-7830-45e8-82b4-2cfafa8c009d" providerId="ADAL" clId="{08D1F232-96C6-40B9-8A88-80538708B29C}" dt="2023-01-19T04:39:58.409" v="437" actId="20577"/>
          <ac:spMkLst>
            <pc:docMk/>
            <pc:sldMk cId="21328892" sldId="2260"/>
            <ac:spMk id="2" creationId="{F3A4E634-70C6-DCF6-A081-B18067CE075B}"/>
          </ac:spMkLst>
        </pc:spChg>
        <pc:spChg chg="mod ord">
          <ac:chgData name="Farhan Khan" userId="c69037a3-7830-45e8-82b4-2cfafa8c009d" providerId="ADAL" clId="{08D1F232-96C6-40B9-8A88-80538708B29C}" dt="2023-01-19T04:41:05.987" v="451" actId="20577"/>
          <ac:spMkLst>
            <pc:docMk/>
            <pc:sldMk cId="21328892" sldId="2260"/>
            <ac:spMk id="3" creationId="{074583A3-D9E2-D43E-7BD3-BF4292F96019}"/>
          </ac:spMkLst>
        </pc:spChg>
        <pc:spChg chg="mod ord">
          <ac:chgData name="Farhan Khan" userId="c69037a3-7830-45e8-82b4-2cfafa8c009d" providerId="ADAL" clId="{08D1F232-96C6-40B9-8A88-80538708B29C}" dt="2023-01-19T04:38:59.547" v="420" actId="20577"/>
          <ac:spMkLst>
            <pc:docMk/>
            <pc:sldMk cId="21328892" sldId="2260"/>
            <ac:spMk id="4" creationId="{6B877C39-8601-93F0-9A1E-680DAF41407C}"/>
          </ac:spMkLst>
        </pc:spChg>
        <pc:spChg chg="mod ord">
          <ac:chgData name="Farhan Khan" userId="c69037a3-7830-45e8-82b4-2cfafa8c009d" providerId="ADAL" clId="{08D1F232-96C6-40B9-8A88-80538708B29C}" dt="2023-01-19T04:30:11.728" v="211" actId="700"/>
          <ac:spMkLst>
            <pc:docMk/>
            <pc:sldMk cId="21328892" sldId="2260"/>
            <ac:spMk id="5" creationId="{AFF883D4-85CB-0C0D-18C3-5E76E5A5AC12}"/>
          </ac:spMkLst>
        </pc:spChg>
        <pc:spChg chg="add mod ord">
          <ac:chgData name="Farhan Khan" userId="c69037a3-7830-45e8-82b4-2cfafa8c009d" providerId="ADAL" clId="{08D1F232-96C6-40B9-8A88-80538708B29C}" dt="2023-01-19T04:36:54.688" v="366" actId="122"/>
          <ac:spMkLst>
            <pc:docMk/>
            <pc:sldMk cId="21328892" sldId="2260"/>
            <ac:spMk id="6" creationId="{649F82AF-5DDF-6978-B295-996F82274151}"/>
          </ac:spMkLst>
        </pc:spChg>
        <pc:spChg chg="add mod ord">
          <ac:chgData name="Farhan Khan" userId="c69037a3-7830-45e8-82b4-2cfafa8c009d" providerId="ADAL" clId="{08D1F232-96C6-40B9-8A88-80538708B29C}" dt="2023-01-19T04:36:57.218" v="367" actId="122"/>
          <ac:spMkLst>
            <pc:docMk/>
            <pc:sldMk cId="21328892" sldId="2260"/>
            <ac:spMk id="7" creationId="{D88D43E6-A518-4FDA-3B93-2569CE11EC70}"/>
          </ac:spMkLst>
        </pc:spChg>
      </pc:sldChg>
      <pc:sldChg chg="delSp modSp add mod ord">
        <pc:chgData name="Farhan Khan" userId="c69037a3-7830-45e8-82b4-2cfafa8c009d" providerId="ADAL" clId="{08D1F232-96C6-40B9-8A88-80538708B29C}" dt="2023-01-19T04:47:54.783" v="499" actId="255"/>
        <pc:sldMkLst>
          <pc:docMk/>
          <pc:sldMk cId="3248440319" sldId="2261"/>
        </pc:sldMkLst>
        <pc:spChg chg="mod">
          <ac:chgData name="Farhan Khan" userId="c69037a3-7830-45e8-82b4-2cfafa8c009d" providerId="ADAL" clId="{08D1F232-96C6-40B9-8A88-80538708B29C}" dt="2023-01-19T04:46:25.727" v="459"/>
          <ac:spMkLst>
            <pc:docMk/>
            <pc:sldMk cId="3248440319" sldId="2261"/>
            <ac:spMk id="2" creationId="{00000000-0000-0000-0000-000000000000}"/>
          </ac:spMkLst>
        </pc:spChg>
        <pc:spChg chg="mod">
          <ac:chgData name="Farhan Khan" userId="c69037a3-7830-45e8-82b4-2cfafa8c009d" providerId="ADAL" clId="{08D1F232-96C6-40B9-8A88-80538708B29C}" dt="2023-01-19T04:47:54.783" v="499" actId="255"/>
          <ac:spMkLst>
            <pc:docMk/>
            <pc:sldMk cId="3248440319" sldId="2261"/>
            <ac:spMk id="3" creationId="{00000000-0000-0000-0000-000000000000}"/>
          </ac:spMkLst>
        </pc:spChg>
        <pc:picChg chg="del">
          <ac:chgData name="Farhan Khan" userId="c69037a3-7830-45e8-82b4-2cfafa8c009d" providerId="ADAL" clId="{08D1F232-96C6-40B9-8A88-80538708B29C}" dt="2023-01-19T04:46:08.259" v="457" actId="478"/>
          <ac:picMkLst>
            <pc:docMk/>
            <pc:sldMk cId="3248440319" sldId="2261"/>
            <ac:picMk id="7" creationId="{C3427AAA-4535-4B2F-A399-6B837E50A168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2-01-12T09:29:10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21889 949 657 0,'0'0'21'0,"0"0"-18"0,0 0 5 16,0 0 12-16,0 0-6 15,0 0-9-15,0 0 8 16,-32 9-8-16,32-9-1 16,0 0-2-16,0 0-2 15,0 0-3-15,0 0-19 0,0 2-28 16,0 3 10-1,0 0 14-15,3 5 22 0,0-1 3 16,-3-3-6-16,0-2 5 16,0-3-37-16,0-1 32 15,0 0-39-15,-6 0-16 16,-6-1-37-16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1-01-28T13:25:29.2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13179 6113 47 0,'0'0'48'15,"0"0"-48"-15,0 0 0 16,0 0-15-16,0 0 5 0,0 0 10 16,0 0-10-1,0 0-26-15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1-01-28T13:25:29.2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13179 6113 47 0,'0'0'48'15,"0"0"-48"-15,0 0 0 16,0 0-15-16,0 0 5 0,0 0 10 16,0 0-10-1,0 0-26-15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3EA71-4CB0-4319-B81D-D442260E5312}" type="datetimeFigureOut">
              <a:rPr lang="en-US" smtClean="0"/>
              <a:pPr/>
              <a:t>4/13/2023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2D4E6-71C4-4CFE-A537-18F11F6DEB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66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04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62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39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88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22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46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36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89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43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03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12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1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2D4E6-71C4-4CFE-A537-18F11F6DEB0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59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6FDB-F304-41C6-B4E4-E3B164CCADF0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681A-A011-49C4-9B41-3135BFD00293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ED536-1616-4FCA-8D6D-73ADBAB4020E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C5A47-407F-4A16-A473-E74B5D5F7402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D849-ED04-449E-8492-11B1EFC0DF82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2136-B12D-4B93-A83E-B89B0C765962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38C80-CC8E-41D1-B23A-DDE22207645B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4608C-F049-4C66-BF05-AFD2E3F3375E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38EE7-0373-468C-B06F-0226A64B9B62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DF574-1B58-467E-9D3A-91F5BC9791FF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E52-5534-4534-AFA0-8220C9CC5AFE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9ED0E-BDB8-4BBD-97E2-A16467C01A5A}" type="datetime1">
              <a:rPr lang="en-US" smtClean="0"/>
              <a:t>4/13/2023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326D5-A657-4D47-B6B3-CD6CBA03F4E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2.xml"/><Relationship Id="rId4" Type="http://schemas.openxmlformats.org/officeDocument/2006/relationships/image" Target="../media/image19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  <a:t>Computer Architecture</a:t>
            </a:r>
            <a:br>
              <a:rPr lang="en-GB" sz="2800" dirty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GB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(EE 371 / CE 321 / CS 330)</a:t>
            </a:r>
            <a:endParaRPr lang="en-US" sz="2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Dr. Farhan Khan</a:t>
            </a:r>
          </a:p>
          <a:p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Assistant Professor, </a:t>
            </a:r>
          </a:p>
          <a:p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Dhanani School of Science &amp; Engineering, </a:t>
            </a:r>
          </a:p>
          <a:p>
            <a:r>
              <a:rPr lang="en-US" sz="1800" dirty="0">
                <a:latin typeface="Tahoma" pitchFamily="34" charset="0"/>
                <a:ea typeface="Tahoma" pitchFamily="34" charset="0"/>
                <a:cs typeface="Tahoma" pitchFamily="34" charset="0"/>
              </a:rPr>
              <a:t>Habib University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8582"/>
            <a:ext cx="8305800" cy="49672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000" dirty="0"/>
              <a:t>Computer Architecture: The Big Picture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Defining Performance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/>
              <a:t>Measuring Performance</a:t>
            </a:r>
            <a:endParaRPr lang="en-US" sz="2000" dirty="0"/>
          </a:p>
          <a:p>
            <a:pPr>
              <a:defRPr/>
            </a:pPr>
            <a:endParaRPr lang="en-US" sz="2000" dirty="0"/>
          </a:p>
          <a:p>
            <a:pPr marL="0" indent="0">
              <a:buNone/>
              <a:defRPr/>
            </a:pPr>
            <a:endParaRPr lang="en-US" sz="2000" dirty="0"/>
          </a:p>
          <a:p>
            <a:pPr lvl="1">
              <a:defRPr/>
            </a:pPr>
            <a:endParaRPr lang="en-US" sz="16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1800" dirty="0"/>
          </a:p>
          <a:p>
            <a:pPr>
              <a:defRPr/>
            </a:pPr>
            <a:endParaRPr lang="en-US" sz="2000" dirty="0"/>
          </a:p>
          <a:p>
            <a:pPr marL="0" indent="0" algn="ctr">
              <a:buNone/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1400" dirty="0"/>
          </a:p>
          <a:p>
            <a:pPr lvl="1">
              <a:defRPr/>
            </a:pPr>
            <a:endParaRPr lang="en-US" sz="1000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Outline: </a:t>
            </a:r>
            <a:r>
              <a:rPr lang="en-US" sz="2600">
                <a:ea typeface="Tahoma" pitchFamily="34" charset="0"/>
                <a:cs typeface="Tahoma" pitchFamily="34" charset="0"/>
              </a:rPr>
              <a:t>Unit 1</a:t>
            </a:r>
            <a:endParaRPr lang="en-US" sz="2600" dirty="0"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70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Engineering: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 flipH="1">
            <a:off x="6130710" y="2410474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200" y="41148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0" y="50292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59436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Deployment / Operation</a:t>
            </a:r>
          </a:p>
        </p:txBody>
      </p:sp>
      <p:cxnSp>
        <p:nvCxnSpPr>
          <p:cNvPr id="13" name="Straight Arrow Connector 12"/>
          <p:cNvCxnSpPr>
            <a:stCxn id="10" idx="2"/>
            <a:endCxn id="11" idx="0"/>
          </p:cNvCxnSpPr>
          <p:nvPr/>
        </p:nvCxnSpPr>
        <p:spPr>
          <a:xfrm>
            <a:off x="2209800" y="4648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2"/>
            <a:endCxn id="12" idx="0"/>
          </p:cNvCxnSpPr>
          <p:nvPr/>
        </p:nvCxnSpPr>
        <p:spPr>
          <a:xfrm>
            <a:off x="2209800" y="55626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19200" y="21336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Requirements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Specification</a:t>
            </a:r>
          </a:p>
        </p:txBody>
      </p:sp>
      <p:cxnSp>
        <p:nvCxnSpPr>
          <p:cNvPr id="16" name="Straight Arrow Connector 15"/>
          <p:cNvCxnSpPr>
            <a:stCxn id="15" idx="2"/>
            <a:endCxn id="18" idx="0"/>
          </p:cNvCxnSpPr>
          <p:nvPr/>
        </p:nvCxnSpPr>
        <p:spPr>
          <a:xfrm>
            <a:off x="2209800" y="2667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19200" y="31242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Design</a:t>
            </a:r>
          </a:p>
        </p:txBody>
      </p:sp>
      <p:cxnSp>
        <p:nvCxnSpPr>
          <p:cNvPr id="19" name="Straight Arrow Connector 18"/>
          <p:cNvCxnSpPr>
            <a:stCxn id="18" idx="2"/>
            <a:endCxn id="10" idx="0"/>
          </p:cNvCxnSpPr>
          <p:nvPr/>
        </p:nvCxnSpPr>
        <p:spPr>
          <a:xfrm>
            <a:off x="2209800" y="36576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19200" y="15240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Process View</a:t>
            </a:r>
          </a:p>
        </p:txBody>
      </p:sp>
      <p:sp>
        <p:nvSpPr>
          <p:cNvPr id="25" name="Rectangle 24"/>
          <p:cNvSpPr/>
          <p:nvPr/>
        </p:nvSpPr>
        <p:spPr>
          <a:xfrm rot="16200000" flipH="1">
            <a:off x="6130710" y="1717891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26" name="Rectangle 25"/>
          <p:cNvSpPr/>
          <p:nvPr/>
        </p:nvSpPr>
        <p:spPr>
          <a:xfrm rot="16200000" flipH="1">
            <a:off x="6130710" y="3096272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Computer Architecture</a:t>
            </a:r>
          </a:p>
        </p:txBody>
      </p:sp>
      <p:sp>
        <p:nvSpPr>
          <p:cNvPr id="27" name="Rectangle 26"/>
          <p:cNvSpPr/>
          <p:nvPr/>
        </p:nvSpPr>
        <p:spPr>
          <a:xfrm rot="16200000" flipH="1">
            <a:off x="6130710" y="3782072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Digital Logic Circuits</a:t>
            </a:r>
          </a:p>
        </p:txBody>
      </p:sp>
      <p:sp>
        <p:nvSpPr>
          <p:cNvPr id="28" name="Rectangle 27"/>
          <p:cNvSpPr/>
          <p:nvPr/>
        </p:nvSpPr>
        <p:spPr>
          <a:xfrm rot="16200000" flipH="1">
            <a:off x="6130710" y="4461091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Transistors/ICs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200" y="15240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Structural View</a:t>
            </a:r>
          </a:p>
        </p:txBody>
      </p:sp>
    </p:spTree>
    <p:extLst>
      <p:ext uri="{BB962C8B-B14F-4D97-AF65-F5344CB8AC3E}">
        <p14:creationId xmlns:p14="http://schemas.microsoft.com/office/powerpoint/2010/main" val="213776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Engineering: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 rot="16200000" flipH="1">
            <a:off x="6130710" y="2410474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200" y="41148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9200" y="50292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9200" y="59436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Deployment / Operation</a:t>
            </a:r>
          </a:p>
        </p:txBody>
      </p:sp>
      <p:cxnSp>
        <p:nvCxnSpPr>
          <p:cNvPr id="13" name="Straight Arrow Connector 12"/>
          <p:cNvCxnSpPr>
            <a:stCxn id="10" idx="2"/>
            <a:endCxn id="11" idx="0"/>
          </p:cNvCxnSpPr>
          <p:nvPr/>
        </p:nvCxnSpPr>
        <p:spPr>
          <a:xfrm>
            <a:off x="2209800" y="46482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2"/>
            <a:endCxn id="12" idx="0"/>
          </p:cNvCxnSpPr>
          <p:nvPr/>
        </p:nvCxnSpPr>
        <p:spPr>
          <a:xfrm>
            <a:off x="2209800" y="55626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219200" y="21336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Requirements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Specification</a:t>
            </a:r>
          </a:p>
        </p:txBody>
      </p:sp>
      <p:cxnSp>
        <p:nvCxnSpPr>
          <p:cNvPr id="16" name="Straight Arrow Connector 15"/>
          <p:cNvCxnSpPr>
            <a:stCxn id="15" idx="2"/>
            <a:endCxn id="18" idx="0"/>
          </p:cNvCxnSpPr>
          <p:nvPr/>
        </p:nvCxnSpPr>
        <p:spPr>
          <a:xfrm>
            <a:off x="2209800" y="26670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19200" y="3124200"/>
            <a:ext cx="1981200" cy="53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chemeClr val="tx1"/>
                </a:solidFill>
              </a:rPr>
              <a:t>Design</a:t>
            </a:r>
          </a:p>
        </p:txBody>
      </p:sp>
      <p:cxnSp>
        <p:nvCxnSpPr>
          <p:cNvPr id="19" name="Straight Arrow Connector 18"/>
          <p:cNvCxnSpPr>
            <a:stCxn id="18" idx="2"/>
            <a:endCxn id="10" idx="0"/>
          </p:cNvCxnSpPr>
          <p:nvPr/>
        </p:nvCxnSpPr>
        <p:spPr>
          <a:xfrm>
            <a:off x="2209800" y="36576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19200" y="15240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Process View</a:t>
            </a:r>
          </a:p>
        </p:txBody>
      </p:sp>
      <p:sp>
        <p:nvSpPr>
          <p:cNvPr id="25" name="Rectangle 24"/>
          <p:cNvSpPr/>
          <p:nvPr/>
        </p:nvSpPr>
        <p:spPr>
          <a:xfrm rot="16200000" flipH="1">
            <a:off x="6130710" y="1717891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26" name="Rectangle 25"/>
          <p:cNvSpPr/>
          <p:nvPr/>
        </p:nvSpPr>
        <p:spPr>
          <a:xfrm rot="16200000" flipH="1">
            <a:off x="6130710" y="3096272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Computer Architecture</a:t>
            </a:r>
          </a:p>
        </p:txBody>
      </p:sp>
      <p:sp>
        <p:nvSpPr>
          <p:cNvPr id="27" name="Rectangle 26"/>
          <p:cNvSpPr/>
          <p:nvPr/>
        </p:nvSpPr>
        <p:spPr>
          <a:xfrm rot="16200000" flipH="1">
            <a:off x="6130710" y="3782072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Digital Logic Circuits</a:t>
            </a:r>
          </a:p>
        </p:txBody>
      </p:sp>
      <p:sp>
        <p:nvSpPr>
          <p:cNvPr id="28" name="Rectangle 27"/>
          <p:cNvSpPr/>
          <p:nvPr/>
        </p:nvSpPr>
        <p:spPr>
          <a:xfrm rot="16200000" flipH="1">
            <a:off x="6130710" y="4461091"/>
            <a:ext cx="692580" cy="182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Transistors/ICs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200" y="15240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Structural View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8CF707-A420-4FF7-985B-DBD753F1E344}"/>
              </a:ext>
            </a:extLst>
          </p:cNvPr>
          <p:cNvSpPr/>
          <p:nvPr/>
        </p:nvSpPr>
        <p:spPr>
          <a:xfrm>
            <a:off x="5257800" y="3581400"/>
            <a:ext cx="2362200" cy="914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9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1608138" y="2582863"/>
            <a:ext cx="6302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6000">
                <a:latin typeface="Franklin Gothic Book" pitchFamily="34" charset="0"/>
              </a:rPr>
              <a:t>=</a:t>
            </a:r>
          </a:p>
        </p:txBody>
      </p:sp>
      <p:pic>
        <p:nvPicPr>
          <p:cNvPr id="22" name="Picture 21" descr="ch01-p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743200"/>
            <a:ext cx="7191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ch01-p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0" y="2394693"/>
            <a:ext cx="1949450" cy="1651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4967288" y="2582863"/>
            <a:ext cx="6302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sz="6000">
                <a:latin typeface="Franklin Gothic Book" pitchFamily="34" charset="0"/>
              </a:rPr>
              <a:t>=</a:t>
            </a:r>
          </a:p>
        </p:txBody>
      </p:sp>
      <p:pic>
        <p:nvPicPr>
          <p:cNvPr id="30" name="Picture 29" descr="ch01-supe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2258657"/>
            <a:ext cx="2400300" cy="2083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7473" y="4114800"/>
            <a:ext cx="15744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Cellphone</a:t>
            </a: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2781300" y="4343400"/>
            <a:ext cx="179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Workstation</a:t>
            </a: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6134100" y="4572000"/>
            <a:ext cx="2270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Supercomputer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ea typeface="Tahoma" pitchFamily="34" charset="0"/>
                <a:cs typeface="Tahoma" pitchFamily="34" charset="0"/>
              </a:rPr>
              <a:t>“Computer”: Examples</a:t>
            </a:r>
          </a:p>
        </p:txBody>
      </p:sp>
    </p:spTree>
    <p:extLst>
      <p:ext uri="{BB962C8B-B14F-4D97-AF65-F5344CB8AC3E}">
        <p14:creationId xmlns:p14="http://schemas.microsoft.com/office/powerpoint/2010/main" val="402588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“Computer”: Examples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648200" y="1524000"/>
            <a:ext cx="0" cy="495300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0"/>
            <a:ext cx="4095950" cy="218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4038600"/>
            <a:ext cx="3809389" cy="257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Box 28"/>
          <p:cNvSpPr txBox="1"/>
          <p:nvPr/>
        </p:nvSpPr>
        <p:spPr>
          <a:xfrm>
            <a:off x="304800" y="1143000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Smart Grid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800" y="3852446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Smart Irrigation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1143000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Automotive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852446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Avionics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1600200"/>
            <a:ext cx="3951484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C:\Dropbox\Academics\ProposalPlus\Slides\avionics_networking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4419600"/>
            <a:ext cx="4057650" cy="1905000"/>
          </a:xfrm>
          <a:prstGeom prst="rect">
            <a:avLst/>
          </a:prstGeom>
          <a:noFill/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8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634866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623851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2052351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830064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1393633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2286000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3195351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3195351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133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634866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(Keyboard,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Mouse)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623851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(LCD, Printer)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2052351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830064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1393633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2286000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3195351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3195351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80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61D752D-18CF-4792-9D70-1E52D37BF1E4}"/>
              </a:ext>
            </a:extLst>
          </p:cNvPr>
          <p:cNvSpPr/>
          <p:nvPr/>
        </p:nvSpPr>
        <p:spPr>
          <a:xfrm>
            <a:off x="1295400" y="5193455"/>
            <a:ext cx="6629400" cy="10549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/>
              <a:t>Control Unit: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Reads an instruction from the Memory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Interprets the instruction and generates signals that tell other components what to do</a:t>
            </a:r>
          </a:p>
        </p:txBody>
      </p:sp>
    </p:spTree>
    <p:extLst>
      <p:ext uri="{BB962C8B-B14F-4D97-AF65-F5344CB8AC3E}">
        <p14:creationId xmlns:p14="http://schemas.microsoft.com/office/powerpoint/2010/main" val="414262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4572000" y="614203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3200400" y="6262687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3200400" y="614838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3330575" y="6262687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Clock Cycle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F9D2AD-84B7-4506-9EF3-706676205C4C}"/>
              </a:ext>
            </a:extLst>
          </p:cNvPr>
          <p:cNvSpPr/>
          <p:nvPr/>
        </p:nvSpPr>
        <p:spPr>
          <a:xfrm>
            <a:off x="5638800" y="4419600"/>
            <a:ext cx="3126037" cy="87335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u="sng" dirty="0"/>
          </a:p>
          <a:p>
            <a:r>
              <a:rPr lang="en-US" sz="1600" u="sng" dirty="0"/>
              <a:t>Control Unit: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“Clock” is a signal that keeps the Control Unit moving.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661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4572000" y="614203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3200400" y="6262687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3200400" y="6148387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3330575" y="6262687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Clock Cycle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F9D2AD-84B7-4506-9EF3-706676205C4C}"/>
              </a:ext>
            </a:extLst>
          </p:cNvPr>
          <p:cNvSpPr/>
          <p:nvPr/>
        </p:nvSpPr>
        <p:spPr>
          <a:xfrm>
            <a:off x="5562601" y="2895600"/>
            <a:ext cx="3505200" cy="26403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u="sng" dirty="0"/>
          </a:p>
          <a:p>
            <a:r>
              <a:rPr lang="en-US" sz="1600" b="1" u="sng" dirty="0"/>
              <a:t>Summary: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Processor can execute instructions (such as “add two numbers” or “multiply two numbers”)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instruction may take a certain number of clock cycles to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8065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32004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1828800" y="6216650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18288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1958975" y="6216650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“Add”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id="{6967BB62-6923-4B6B-811C-EA8124D79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D86C1378-5AD6-4D6D-923F-BE7E50558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6216648"/>
            <a:ext cx="2743194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3055696B-3C9D-45D3-98C3-6F0312CED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FEB4426B-538D-4B6E-900F-C6293F3F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6" y="6195726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“Multiply”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0CF116-8B51-42FA-A966-939A9F9E6B20}"/>
              </a:ext>
            </a:extLst>
          </p:cNvPr>
          <p:cNvSpPr/>
          <p:nvPr/>
        </p:nvSpPr>
        <p:spPr>
          <a:xfrm>
            <a:off x="5562601" y="2895600"/>
            <a:ext cx="3505200" cy="264039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u="sng" dirty="0"/>
          </a:p>
          <a:p>
            <a:r>
              <a:rPr lang="en-US" sz="1600" b="1" u="sng" dirty="0"/>
              <a:t>Summary: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Processor can execute instructions (such as “add two numbers” or “multiply two numbers”)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instruction may take a certain number of clock cycles to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1470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Computer Architecture: The Big Picture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3FB34972-8D15-EC98-641C-6A609ADB93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456" y="1417638"/>
            <a:ext cx="3367088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266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26C1E1C-406B-43AA-9819-8E4732D4D606}"/>
              </a:ext>
            </a:extLst>
          </p:cNvPr>
          <p:cNvSpPr txBox="1">
            <a:spLocks/>
          </p:cNvSpPr>
          <p:nvPr/>
        </p:nvSpPr>
        <p:spPr>
          <a:xfrm>
            <a:off x="609600" y="2133600"/>
            <a:ext cx="7772400" cy="24153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we say one computer has better performance than another, what do we mean?  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1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000" dirty="0"/>
              <a:t>Which airplane has the best performance? </a:t>
            </a:r>
            <a:endParaRPr lang="en-US" sz="16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4492F0-8BCC-47DC-821B-FA82E99AA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215" y="2086928"/>
            <a:ext cx="3091925" cy="1993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999F39-8DE8-4427-A400-D6F0B4187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612" y="2047875"/>
            <a:ext cx="3148320" cy="19934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01FD60-BC21-4434-A012-DD2CEF368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922" y="4291013"/>
            <a:ext cx="2879467" cy="19934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ABBA98-4A63-44E3-BD35-27BB8B2F2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132" y="4219363"/>
            <a:ext cx="3120823" cy="19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51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619"/>
            <a:ext cx="4114800" cy="2415381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u="sng" dirty="0"/>
              <a:t>Individual User</a:t>
            </a:r>
          </a:p>
          <a:p>
            <a:endParaRPr lang="en-US" sz="2000" dirty="0"/>
          </a:p>
          <a:p>
            <a:r>
              <a:rPr lang="en-US" sz="2000" dirty="0"/>
              <a:t>Response Time / Execution Time</a:t>
            </a:r>
          </a:p>
          <a:p>
            <a:pPr lvl="1"/>
            <a:r>
              <a:rPr lang="en-US" sz="1700" dirty="0"/>
              <a:t>The time between start and completion of a task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E1F56A-43A5-415A-9F31-4E04A84A84D9}"/>
              </a:ext>
            </a:extLst>
          </p:cNvPr>
          <p:cNvSpPr txBox="1">
            <a:spLocks/>
          </p:cNvSpPr>
          <p:nvPr/>
        </p:nvSpPr>
        <p:spPr>
          <a:xfrm>
            <a:off x="4953000" y="1371600"/>
            <a:ext cx="4114800" cy="2438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Datacenter Manager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Throughput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total amount of work done in a given time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example, tasks/transactions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05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619"/>
            <a:ext cx="4114800" cy="2415381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u="sng" dirty="0"/>
              <a:t>Individual User</a:t>
            </a:r>
          </a:p>
          <a:p>
            <a:endParaRPr lang="en-US" sz="2000" dirty="0"/>
          </a:p>
          <a:p>
            <a:r>
              <a:rPr lang="en-US" sz="2000" dirty="0"/>
              <a:t>Response Time / Execution Time</a:t>
            </a:r>
          </a:p>
          <a:p>
            <a:pPr lvl="1"/>
            <a:r>
              <a:rPr lang="en-US" sz="1700" dirty="0"/>
              <a:t>The time between start and completion of a task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E1F56A-43A5-415A-9F31-4E04A84A84D9}"/>
              </a:ext>
            </a:extLst>
          </p:cNvPr>
          <p:cNvSpPr txBox="1">
            <a:spLocks/>
          </p:cNvSpPr>
          <p:nvPr/>
        </p:nvSpPr>
        <p:spPr>
          <a:xfrm>
            <a:off x="4953000" y="1371600"/>
            <a:ext cx="4114800" cy="2438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Datacenter Manager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Throughput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total amount of work done in a give time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example, tasks/transactions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26C1E1C-406B-43AA-9819-8E4732D4D606}"/>
              </a:ext>
            </a:extLst>
          </p:cNvPr>
          <p:cNvSpPr txBox="1">
            <a:spLocks/>
          </p:cNvSpPr>
          <p:nvPr/>
        </p:nvSpPr>
        <p:spPr>
          <a:xfrm>
            <a:off x="609600" y="4290219"/>
            <a:ext cx="7772400" cy="24153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will need different performance metrics for personal mobile devices, which are more focused on response time, versus servers, which are more focused on throughput.  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74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algn="ctr">
              <a:buNone/>
            </a:pPr>
            <a:endParaRPr lang="en-US" sz="1600" dirty="0"/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Interplay between “Response Time” and “Throughput”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D38892-D79C-4FB3-9DB6-58CFDB02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95400"/>
            <a:ext cx="7391400" cy="17057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618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algn="ctr">
              <a:buNone/>
            </a:pPr>
            <a:endParaRPr lang="en-US" sz="1600" dirty="0"/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Interplay between “Response Time” and Throughput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D38892-D79C-4FB3-9DB6-58CFDB02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9698"/>
            <a:ext cx="7391400" cy="17057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68917-FCE9-416F-BAFD-440970B61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18" y="3608199"/>
            <a:ext cx="6757538" cy="223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74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619"/>
            <a:ext cx="4114800" cy="2415381"/>
          </a:xfrm>
          <a:ln>
            <a:noFill/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u="sng" dirty="0"/>
              <a:t>Individual User</a:t>
            </a:r>
          </a:p>
          <a:p>
            <a:endParaRPr lang="en-US" sz="2000" dirty="0"/>
          </a:p>
          <a:p>
            <a:r>
              <a:rPr lang="en-US" sz="2000" dirty="0"/>
              <a:t>Response Time / Execution Time</a:t>
            </a:r>
          </a:p>
          <a:p>
            <a:pPr lvl="1"/>
            <a:r>
              <a:rPr lang="en-US" sz="1700" dirty="0"/>
              <a:t>The time between start and completion of a task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6326D5-A657-4D47-B6B3-CD6CBA03F4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E1F56A-43A5-415A-9F31-4E04A84A84D9}"/>
              </a:ext>
            </a:extLst>
          </p:cNvPr>
          <p:cNvSpPr txBox="1">
            <a:spLocks/>
          </p:cNvSpPr>
          <p:nvPr/>
        </p:nvSpPr>
        <p:spPr>
          <a:xfrm>
            <a:off x="4953000" y="1371600"/>
            <a:ext cx="4114800" cy="2438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Datacenter Manager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Throughput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total amount of work done in a give time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example, tasks/transactions per hour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26C1E1C-406B-43AA-9819-8E4732D4D606}"/>
              </a:ext>
            </a:extLst>
          </p:cNvPr>
          <p:cNvSpPr txBox="1">
            <a:spLocks/>
          </p:cNvSpPr>
          <p:nvPr/>
        </p:nvSpPr>
        <p:spPr>
          <a:xfrm>
            <a:off x="609600" y="4290219"/>
            <a:ext cx="7772400" cy="241538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will need different performance metrics for personal mobile devices, which are more focused on response time, versus servers, which are more focused on throughput.  </a:t>
            </a:r>
            <a:endParaRPr kumimoji="0" lang="en-US" sz="14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F291D9-D557-4EDF-A5A2-132E14BD7B27}"/>
              </a:ext>
            </a:extLst>
          </p:cNvPr>
          <p:cNvSpPr/>
          <p:nvPr/>
        </p:nvSpPr>
        <p:spPr>
          <a:xfrm>
            <a:off x="1295400" y="3276600"/>
            <a:ext cx="6629400" cy="990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In this course, we will primarily be concerned with </a:t>
            </a:r>
          </a:p>
          <a:p>
            <a:pPr algn="ctr"/>
            <a:r>
              <a:rPr lang="en-US" u="sng" dirty="0"/>
              <a:t>Response Time / Execution Time as a measure of Performance </a:t>
            </a:r>
          </a:p>
        </p:txBody>
      </p:sp>
    </p:spTree>
    <p:extLst>
      <p:ext uri="{BB962C8B-B14F-4D97-AF65-F5344CB8AC3E}">
        <p14:creationId xmlns:p14="http://schemas.microsoft.com/office/powerpoint/2010/main" val="2429294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Performance of a Computer X is defined in terms of the execution time of a program on Computer X: 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667" t="-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2A314C-1C7B-4185-8EE1-A63CCA177A73}"/>
              </a:ext>
            </a:extLst>
          </p:cNvPr>
          <p:cNvSpPr/>
          <p:nvPr/>
        </p:nvSpPr>
        <p:spPr>
          <a:xfrm>
            <a:off x="2819400" y="2286000"/>
            <a:ext cx="3810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59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Performance of a Computer X is defined in terms of the execution time of a program on Computer X: 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blipFill>
                <a:blip r:embed="rId2"/>
                <a:stretch>
                  <a:fillRect l="-667" t="-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2A314C-1C7B-4185-8EE1-A63CCA177A73}"/>
              </a:ext>
            </a:extLst>
          </p:cNvPr>
          <p:cNvSpPr/>
          <p:nvPr/>
        </p:nvSpPr>
        <p:spPr>
          <a:xfrm>
            <a:off x="2819400" y="2286000"/>
            <a:ext cx="3810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DE5715-5E61-4415-BD84-C28ADDB28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996642"/>
            <a:ext cx="4746372" cy="191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70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Performance of a Computer X is defined in terms of the execution time of a program on Computer X: 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2000" dirty="0"/>
                  <a:t>Computer X is n times faster than Computer Y:</a:t>
                </a:r>
              </a:p>
              <a:p>
                <a:endParaRPr lang="en-US" sz="20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667" t="-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2A314C-1C7B-4185-8EE1-A63CCA177A73}"/>
              </a:ext>
            </a:extLst>
          </p:cNvPr>
          <p:cNvSpPr/>
          <p:nvPr/>
        </p:nvSpPr>
        <p:spPr>
          <a:xfrm>
            <a:off x="2819400" y="2286000"/>
            <a:ext cx="3810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2B02E2-6586-45C5-9437-F3004F314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978331"/>
            <a:ext cx="2959743" cy="1009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6A7D8C-FAF2-4BC1-A494-2B0017FC6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880" y="5049308"/>
            <a:ext cx="4896239" cy="9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5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2000" b="1" u="sng" dirty="0"/>
              <a:t>Elapsed time</a:t>
            </a:r>
          </a:p>
          <a:p>
            <a:pPr lvl="1"/>
            <a:r>
              <a:rPr lang="en-US" sz="1800" dirty="0"/>
              <a:t>Total response time, including all aspects</a:t>
            </a:r>
          </a:p>
          <a:p>
            <a:pPr lvl="1"/>
            <a:r>
              <a:rPr lang="en-US" sz="1800" dirty="0"/>
              <a:t>Processing, I/O, OS overhead, idle time</a:t>
            </a:r>
          </a:p>
          <a:p>
            <a:pPr lvl="1"/>
            <a:r>
              <a:rPr lang="en-US" sz="1800" dirty="0"/>
              <a:t>Determines system performance</a:t>
            </a:r>
          </a:p>
          <a:p>
            <a:endParaRPr lang="en-US" sz="2000" dirty="0"/>
          </a:p>
          <a:p>
            <a:r>
              <a:rPr lang="en-US" sz="2000" b="1" u="sng" dirty="0"/>
              <a:t>CPU time</a:t>
            </a:r>
          </a:p>
          <a:p>
            <a:pPr lvl="1"/>
            <a:r>
              <a:rPr lang="en-US" sz="1800" dirty="0"/>
              <a:t>Time spent processing a given job</a:t>
            </a:r>
          </a:p>
          <a:p>
            <a:pPr lvl="1"/>
            <a:r>
              <a:rPr lang="en-US" sz="1800" dirty="0"/>
              <a:t>Discounts I/O time, other jobs’ shares</a:t>
            </a:r>
          </a:p>
          <a:p>
            <a:pPr lvl="1"/>
            <a:r>
              <a:rPr lang="en-US" sz="1800" dirty="0"/>
              <a:t>Comprises user CPU time and system CPU time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r>
              <a:rPr lang="en-US" sz="2000" dirty="0"/>
              <a:t>  </a:t>
            </a:r>
            <a:endParaRPr lang="en-US" sz="1600" b="0" i="0" dirty="0">
              <a:latin typeface="Cambria Math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Measuring “Execution Time”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12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Performance of a Computer X is defined in terms of the execution time of a program on Computer X: 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800" b="0" i="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𝐸𝑙𝑎𝑝𝑠𝑒𝑑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𝑇𝑖𝑚𝑒𝑋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PU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i="1" baseline="-2500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𝐸𝑥𝑒𝑐𝑢𝑡𝑖𝑜𝑛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𝑇𝑖𝑚𝑒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𝐶𝑃𝑈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𝑇𝑖𝑚𝑒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blipFill>
                <a:blip r:embed="rId2"/>
                <a:stretch>
                  <a:fillRect l="-667" t="-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2A314C-1C7B-4185-8EE1-A63CCA177A73}"/>
              </a:ext>
            </a:extLst>
          </p:cNvPr>
          <p:cNvSpPr/>
          <p:nvPr/>
        </p:nvSpPr>
        <p:spPr>
          <a:xfrm>
            <a:off x="2819400" y="2286000"/>
            <a:ext cx="3810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54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Performance of a Computer X is defined in terms of the execution time of a program on Computer X: 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:endParaRPr lang="en-US" sz="1600" b="0" i="0" dirty="0">
                  <a:latin typeface="Cambria Math" panose="02040503050406030204" pitchFamily="18" charset="0"/>
                </a:endParaRP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baseline="-2500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>
                  <a:buNone/>
                </a:pPr>
                <a:endParaRPr lang="en-US" sz="1600" dirty="0"/>
              </a:p>
              <a:p>
                <a:pPr>
                  <a:buNone/>
                </a:pPr>
                <a:endParaRPr lang="en-US" sz="1800" b="0" i="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b="0" i="1" baseline="-2500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𝐸𝑥𝑒𝑐𝑢𝑡𝑖𝑜𝑛𝑇𝑖𝑚𝑒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𝐸𝑙𝑎𝑝𝑠𝑒𝑑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𝑇𝑖𝑚𝑒𝑋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PU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</a:rPr>
                        <m:t>Perfor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𝑚𝑎𝑛𝑐𝑒</m:t>
                      </m:r>
                      <m:r>
                        <a:rPr lang="en-US" sz="1600" i="1" baseline="-2500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𝐸𝑥𝑒𝑐𝑢𝑡𝑖𝑜𝑛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𝑇𝑖𝑚𝑒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𝐶𝑃𝑈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𝑇𝑖𝑚𝑒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  <a:p>
                <a:pPr>
                  <a:buNone/>
                </a:pPr>
                <a:endParaRPr lang="en-US" sz="1800" dirty="0"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229600" cy="4876800"/>
              </a:xfrm>
              <a:blipFill>
                <a:blip r:embed="rId2"/>
                <a:stretch>
                  <a:fillRect l="-667" t="-7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Defining “Performance”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32A314C-1C7B-4185-8EE1-A63CCA177A73}"/>
              </a:ext>
            </a:extLst>
          </p:cNvPr>
          <p:cNvSpPr/>
          <p:nvPr/>
        </p:nvSpPr>
        <p:spPr>
          <a:xfrm>
            <a:off x="2819400" y="2286000"/>
            <a:ext cx="38100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7844F1-E334-46A5-A0E6-81E58F63E609}"/>
              </a:ext>
            </a:extLst>
          </p:cNvPr>
          <p:cNvSpPr/>
          <p:nvPr/>
        </p:nvSpPr>
        <p:spPr>
          <a:xfrm>
            <a:off x="1257300" y="2286000"/>
            <a:ext cx="6629400" cy="990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In this course, we will mostly focus on CPU Performance </a:t>
            </a:r>
          </a:p>
        </p:txBody>
      </p:sp>
    </p:spTree>
    <p:extLst>
      <p:ext uri="{BB962C8B-B14F-4D97-AF65-F5344CB8AC3E}">
        <p14:creationId xmlns:p14="http://schemas.microsoft.com/office/powerpoint/2010/main" val="1828030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endParaRPr lang="en-US" sz="1800" dirty="0"/>
              </a:p>
              <a:p>
                <a:r>
                  <a:rPr lang="en-US" sz="1800" dirty="0"/>
                  <a:t>Classical performance equation: </a:t>
                </a:r>
              </a:p>
              <a:p>
                <a:pPr>
                  <a:buNone/>
                </a:pPr>
                <a:r>
                  <a:rPr lang="en-US" sz="1400" dirty="0"/>
                  <a:t>  </a:t>
                </a:r>
              </a:p>
              <a:p>
                <a:pPr>
                  <a:buNone/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𝐼𝑛𝑠𝑡𝑟𝑢𝑐𝑡𝑖𝑜𝑛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𝐶𝑜𝑢𝑛𝑡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𝑚𝑎𝑐h𝑖𝑛𝑒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𝑖𝑛𝑠𝑡𝑟𝑢𝑐𝑡𝑖𝑜𝑛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endParaRPr lang="en-US" sz="2400" dirty="0"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Classical Performance Equation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E6BD1D-9FE2-4742-8454-18647A937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35768"/>
            <a:ext cx="5285484" cy="47932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427AAA-4535-4B2F-A399-6B837E50A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533" y="3966381"/>
            <a:ext cx="3640667" cy="63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48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Classical Performance Equation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32004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1828800" y="6216650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18288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1958975" y="6216650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“Add”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id="{6967BB62-6923-4B6B-811C-EA8124D79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D86C1378-5AD6-4D6D-923F-BE7E50558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6216648"/>
            <a:ext cx="2743194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3055696B-3C9D-45D3-98C3-6F0312CED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FEB4426B-538D-4B6E-900F-C6293F3F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6" y="6195726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“Multiply”</a:t>
            </a:r>
          </a:p>
        </p:txBody>
      </p:sp>
    </p:spTree>
    <p:extLst>
      <p:ext uri="{BB962C8B-B14F-4D97-AF65-F5344CB8AC3E}">
        <p14:creationId xmlns:p14="http://schemas.microsoft.com/office/powerpoint/2010/main" val="3819821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Classical Performance Equation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32004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1828800" y="6216650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18288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1958975" y="6216650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“Add”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F9D2AD-84B7-4506-9EF3-706676205C4C}"/>
              </a:ext>
            </a:extLst>
          </p:cNvPr>
          <p:cNvSpPr/>
          <p:nvPr/>
        </p:nvSpPr>
        <p:spPr>
          <a:xfrm>
            <a:off x="1905014" y="2292348"/>
            <a:ext cx="5486386" cy="274987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9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u="sng" dirty="0"/>
          </a:p>
          <a:p>
            <a:r>
              <a:rPr lang="en-US" sz="1600" u="sng" dirty="0"/>
              <a:t>Toy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Instruction Count = 2 (1 add, 1 multiply)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Cycles for Add instruction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Cycles for Multiply instruction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CPI = (2+1)/2 = 1.5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Period = 1 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 Time = Instruction Count x CPI x Clock Period</a:t>
            </a:r>
          </a:p>
          <a:p>
            <a:r>
              <a:rPr lang="en-US" sz="1600" dirty="0"/>
              <a:t>                                   = 2                              x 1.5 x 1</a:t>
            </a:r>
          </a:p>
          <a:p>
            <a:r>
              <a:rPr lang="en-US" sz="1600" dirty="0"/>
              <a:t>                                   = 3 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id="{6967BB62-6923-4B6B-811C-EA8124D79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D86C1378-5AD6-4D6D-923F-BE7E50558A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6216648"/>
            <a:ext cx="2743194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3055696B-3C9D-45D3-98C3-6F0312CED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FEB4426B-538D-4B6E-900F-C6293F3F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6" y="6195726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“Multiply”</a:t>
            </a:r>
          </a:p>
        </p:txBody>
      </p:sp>
    </p:spTree>
    <p:extLst>
      <p:ext uri="{BB962C8B-B14F-4D97-AF65-F5344CB8AC3E}">
        <p14:creationId xmlns:p14="http://schemas.microsoft.com/office/powerpoint/2010/main" val="378248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Improving Performance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800" y="2182715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1364" y="2171700"/>
            <a:ext cx="1752600" cy="20895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5700" y="1600200"/>
            <a:ext cx="17526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5700" y="3377913"/>
            <a:ext cx="1752600" cy="1732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Processor</a:t>
            </a:r>
          </a:p>
        </p:txBody>
      </p:sp>
      <p:cxnSp>
        <p:nvCxnSpPr>
          <p:cNvPr id="4" name="Elbow Connector 3"/>
          <p:cNvCxnSpPr>
            <a:stCxn id="22" idx="0"/>
          </p:cNvCxnSpPr>
          <p:nvPr/>
        </p:nvCxnSpPr>
        <p:spPr>
          <a:xfrm rot="5400000" flipH="1" flipV="1">
            <a:off x="2454467" y="941482"/>
            <a:ext cx="348866" cy="2133600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endCxn id="30" idx="0"/>
          </p:cNvCxnSpPr>
          <p:nvPr/>
        </p:nvCxnSpPr>
        <p:spPr>
          <a:xfrm>
            <a:off x="5448300" y="1833849"/>
            <a:ext cx="1979364" cy="337851"/>
          </a:xfrm>
          <a:prstGeom prst="bentConnector2">
            <a:avLst/>
          </a:prstGeom>
          <a:ln w="15875"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2743200"/>
            <a:ext cx="0" cy="63471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798763" y="2743200"/>
            <a:ext cx="1" cy="615443"/>
          </a:xfrm>
          <a:prstGeom prst="straightConnector1">
            <a:avLst/>
          </a:prstGeom>
          <a:ln w="15875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43350" y="3815049"/>
            <a:ext cx="1257300" cy="386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Datapath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Line 4"/>
          <p:cNvSpPr>
            <a:spLocks noChangeShapeType="1"/>
          </p:cNvSpPr>
          <p:nvPr/>
        </p:nvSpPr>
        <p:spPr bwMode="auto">
          <a:xfrm>
            <a:off x="1371600" y="6110287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25146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38862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>
            <a:off x="52578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6629400" y="61102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>
            <a:off x="18288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>
            <a:off x="32004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45720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2"/>
          <p:cNvSpPr>
            <a:spLocks noChangeShapeType="1"/>
          </p:cNvSpPr>
          <p:nvPr/>
        </p:nvSpPr>
        <p:spPr bwMode="auto">
          <a:xfrm>
            <a:off x="5943600" y="5653087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13"/>
          <p:cNvSpPr>
            <a:spLocks noChangeShapeType="1"/>
          </p:cNvSpPr>
          <p:nvPr/>
        </p:nvSpPr>
        <p:spPr bwMode="auto">
          <a:xfrm>
            <a:off x="7315200" y="5653087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828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514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00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3886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9"/>
          <p:cNvSpPr>
            <a:spLocks noChangeShapeType="1"/>
          </p:cNvSpPr>
          <p:nvPr/>
        </p:nvSpPr>
        <p:spPr bwMode="auto">
          <a:xfrm>
            <a:off x="45720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52578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59436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/>
        </p:nvSpPr>
        <p:spPr bwMode="auto">
          <a:xfrm>
            <a:off x="66294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Line 23"/>
          <p:cNvSpPr>
            <a:spLocks noChangeShapeType="1"/>
          </p:cNvSpPr>
          <p:nvPr/>
        </p:nvSpPr>
        <p:spPr bwMode="auto">
          <a:xfrm>
            <a:off x="7315200" y="5653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609600" y="5881687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Franklin Gothic Book" pitchFamily="34" charset="0"/>
              </a:rPr>
              <a:t>“0”</a:t>
            </a: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6934200" y="6262687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i="1">
                <a:latin typeface="Franklin Gothic Book" pitchFamily="34" charset="0"/>
              </a:rPr>
              <a:t>time</a:t>
            </a:r>
            <a:r>
              <a:rPr lang="en-US" altLang="en-US" sz="1800" i="1">
                <a:latin typeface="Franklin Gothic Book" pitchFamily="34" charset="0"/>
                <a:sym typeface="Symbol" panose="05050102010706020507" pitchFamily="18" charset="2"/>
              </a:rPr>
              <a:t></a:t>
            </a:r>
            <a:endParaRPr lang="en-US" altLang="en-US" sz="1800" i="1">
              <a:latin typeface="Franklin Gothic Book" pitchFamily="34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32004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1828800" y="6216650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>
            <a:off x="18288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1958975" y="6216650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“Add”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43350" y="4513552"/>
            <a:ext cx="1257300" cy="3860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Control Unit</a:t>
            </a:r>
          </a:p>
        </p:txBody>
      </p:sp>
      <p:cxnSp>
        <p:nvCxnSpPr>
          <p:cNvPr id="47" name="Elbow Connector 46"/>
          <p:cNvCxnSpPr>
            <a:cxnSpLocks/>
            <a:endCxn id="22" idx="2"/>
          </p:cNvCxnSpPr>
          <p:nvPr/>
        </p:nvCxnSpPr>
        <p:spPr>
          <a:xfrm rot="10800000">
            <a:off x="1562101" y="4272248"/>
            <a:ext cx="2381249" cy="554978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cxnSpLocks/>
          </p:cNvCxnSpPr>
          <p:nvPr/>
        </p:nvCxnSpPr>
        <p:spPr>
          <a:xfrm rot="10800000">
            <a:off x="3674813" y="2050150"/>
            <a:ext cx="247650" cy="2534876"/>
          </a:xfrm>
          <a:prstGeom prst="bentConnector3">
            <a:avLst>
              <a:gd name="adj1" fmla="val 339247"/>
            </a:avLst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6">
            <a:extLst>
              <a:ext uri="{FF2B5EF4-FFF2-40B4-BE49-F238E27FC236}">
                <a16:creationId xmlns:a16="http://schemas.microsoft.com/office/drawing/2014/main" id="{2795579B-401D-429C-B797-48F4B110F26D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5200649" y="4261233"/>
            <a:ext cx="2227015" cy="457199"/>
          </a:xfrm>
          <a:prstGeom prst="bentConnector2">
            <a:avLst/>
          </a:prstGeom>
          <a:ln w="15875">
            <a:prstDash val="dash"/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753ED5-5B5C-4AE9-A3E9-46580D7BB8AC}"/>
              </a:ext>
            </a:extLst>
          </p:cNvPr>
          <p:cNvCxnSpPr>
            <a:cxnSpLocks/>
            <a:stCxn id="45" idx="0"/>
            <a:endCxn id="12" idx="2"/>
          </p:cNvCxnSpPr>
          <p:nvPr/>
        </p:nvCxnSpPr>
        <p:spPr>
          <a:xfrm flipV="1">
            <a:off x="4572000" y="4201097"/>
            <a:ext cx="0" cy="312455"/>
          </a:xfrm>
          <a:prstGeom prst="straightConnector1">
            <a:avLst/>
          </a:prstGeom>
          <a:ln w="15875"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4">
            <a:extLst>
              <a:ext uri="{FF2B5EF4-FFF2-40B4-BE49-F238E27FC236}">
                <a16:creationId xmlns:a16="http://schemas.microsoft.com/office/drawing/2014/main" id="{A9543CCC-C01B-4991-8036-00241C85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483224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dirty="0">
                <a:latin typeface="Franklin Gothic Book" panose="020B0503020102020204" pitchFamily="34" charset="0"/>
              </a:rPr>
              <a:t>“1”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F9D2AD-84B7-4506-9EF3-706676205C4C}"/>
              </a:ext>
            </a:extLst>
          </p:cNvPr>
          <p:cNvSpPr/>
          <p:nvPr/>
        </p:nvSpPr>
        <p:spPr>
          <a:xfrm>
            <a:off x="1905014" y="2292348"/>
            <a:ext cx="5486386" cy="2749877"/>
          </a:xfrm>
          <a:prstGeom prst="roundRect">
            <a:avLst/>
          </a:prstGeom>
          <a:solidFill>
            <a:schemeClr val="accent2">
              <a:lumMod val="60000"/>
              <a:lumOff val="40000"/>
              <a:alpha val="9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u="sng" dirty="0"/>
          </a:p>
          <a:p>
            <a:r>
              <a:rPr lang="en-US" sz="1600" u="sng" dirty="0"/>
              <a:t>Toy Example: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Instruction Count = 2 (1 add, 1 multiply)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Cycles for Add instruction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Cycles for Multiply instruction = </a:t>
            </a:r>
            <a:r>
              <a:rPr lang="en-US" sz="1600" b="1" dirty="0">
                <a:solidFill>
                  <a:schemeClr val="tx1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CPI = (1+1)/2 = </a:t>
            </a:r>
            <a:r>
              <a:rPr lang="en-US" sz="1600" b="1" dirty="0">
                <a:solidFill>
                  <a:schemeClr val="tx1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Clock Period = 1 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CPU Time = Instruction Count x CPI x Clock Period</a:t>
            </a:r>
          </a:p>
          <a:p>
            <a:r>
              <a:rPr lang="en-US" sz="1600" dirty="0"/>
              <a:t>                                   = 2                              x </a:t>
            </a:r>
            <a:r>
              <a:rPr lang="en-US" sz="1600" b="1" dirty="0">
                <a:solidFill>
                  <a:schemeClr val="tx1"/>
                </a:solidFill>
              </a:rPr>
              <a:t>1</a:t>
            </a:r>
            <a:r>
              <a:rPr lang="en-US" sz="1600" dirty="0"/>
              <a:t> x 1</a:t>
            </a:r>
          </a:p>
          <a:p>
            <a:r>
              <a:rPr lang="en-US" sz="1600" dirty="0"/>
              <a:t>                                   = </a:t>
            </a:r>
            <a:r>
              <a:rPr lang="en-US" sz="1600" b="1" dirty="0">
                <a:solidFill>
                  <a:schemeClr val="tx1"/>
                </a:solidFill>
              </a:rPr>
              <a:t>2</a:t>
            </a:r>
            <a:r>
              <a:rPr lang="en-US" sz="1600" dirty="0"/>
              <a:t> sec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Line 28">
            <a:extLst>
              <a:ext uri="{FF2B5EF4-FFF2-40B4-BE49-F238E27FC236}">
                <a16:creationId xmlns:a16="http://schemas.microsoft.com/office/drawing/2014/main" id="{6967BB62-6923-4B6B-811C-EA8124D79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09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29">
            <a:extLst>
              <a:ext uri="{FF2B5EF4-FFF2-40B4-BE49-F238E27FC236}">
                <a16:creationId xmlns:a16="http://schemas.microsoft.com/office/drawing/2014/main" id="{D86C1378-5AD6-4D6D-923F-BE7E50558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216647"/>
            <a:ext cx="1380063" cy="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30">
            <a:extLst>
              <a:ext uri="{FF2B5EF4-FFF2-40B4-BE49-F238E27FC236}">
                <a16:creationId xmlns:a16="http://schemas.microsoft.com/office/drawing/2014/main" id="{3055696B-3C9D-45D3-98C3-6F0312CED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1023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FEB4426B-538D-4B6E-900F-C6293F3FB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95726"/>
            <a:ext cx="11652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dirty="0">
                <a:solidFill>
                  <a:schemeClr val="accent2"/>
                </a:solidFill>
                <a:latin typeface="Franklin Gothic Book" pitchFamily="34" charset="0"/>
              </a:rPr>
              <a:t>“Multiply”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0B9AE5-4376-4DCD-BCB4-9B7E10478F3A}"/>
                  </a:ext>
                </a:extLst>
              </p14:cNvPr>
              <p14:cNvContentPartPr/>
              <p14:nvPr/>
            </p14:nvContentPartPr>
            <p14:xfrm>
              <a:off x="7864200" y="341640"/>
              <a:ext cx="16200" cy="18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0B9AE5-4376-4DCD-BCB4-9B7E10478F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4840" y="332280"/>
                <a:ext cx="3492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1180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endParaRPr lang="en-US" sz="1800" dirty="0"/>
              </a:p>
              <a:p>
                <a:r>
                  <a:rPr lang="en-US" sz="1800" dirty="0"/>
                  <a:t>Classical performance equation: </a:t>
                </a:r>
              </a:p>
              <a:p>
                <a:pPr>
                  <a:buNone/>
                </a:pPr>
                <a:r>
                  <a:rPr lang="en-US" sz="1400" dirty="0"/>
                  <a:t>  </a:t>
                </a:r>
              </a:p>
              <a:p>
                <a:pPr>
                  <a:buNone/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𝐼𝑛𝑠𝑡𝑟𝑢𝑐𝑡𝑖𝑜𝑛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𝐶𝑜𝑢𝑛𝑡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𝑚𝑎𝑐h𝑖𝑛𝑒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𝑖𝑛𝑠𝑡𝑟𝑢𝑐𝑡𝑖𝑜𝑛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These formulas are particularly useful because they separate the three key factors that affect performance. </a:t>
                </a:r>
              </a:p>
              <a:p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We can use these formulas to compare two different implementations or to evaluate a design alternative if we know its impact on these three parameters</a:t>
                </a:r>
                <a:r>
                  <a:rPr lang="en-US" sz="2000" dirty="0">
                    <a:ea typeface="Tahoma" pitchFamily="34" charset="0"/>
                    <a:cs typeface="Tahoma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Classical Performance Equation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E6BD1D-9FE2-4742-8454-18647A937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35768"/>
            <a:ext cx="5285484" cy="47932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427AAA-4535-4B2F-A399-6B837E50A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533" y="3966381"/>
            <a:ext cx="3640667" cy="63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374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endParaRPr lang="en-US" sz="1800" dirty="0"/>
              </a:p>
              <a:p>
                <a:r>
                  <a:rPr lang="en-US" sz="1800" dirty="0"/>
                  <a:t>Classical performance equation: </a:t>
                </a:r>
              </a:p>
              <a:p>
                <a:pPr>
                  <a:buNone/>
                </a:pPr>
                <a:r>
                  <a:rPr lang="en-US" sz="1400" dirty="0"/>
                  <a:t>  </a:t>
                </a:r>
              </a:p>
              <a:p>
                <a:pPr>
                  <a:buNone/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𝐼𝑛𝑠𝑡𝑟𝑢𝑐𝑡𝑖𝑜𝑛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𝐶𝑜𝑢𝑛𝑡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𝑚𝑎𝑐h𝑖𝑛𝑒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𝑖𝑛𝑠𝑡𝑟𝑢𝑐𝑡𝑖𝑜𝑛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1400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  <a:p>
                <a:pPr lvl="1">
                  <a:buNone/>
                </a:pPr>
                <a:endParaRPr lang="en-US" sz="2000" dirty="0"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2000" dirty="0">
                    <a:ea typeface="Tahoma" pitchFamily="34" charset="0"/>
                    <a:cs typeface="Tahoma" pitchFamily="34" charset="0"/>
                  </a:rPr>
                  <a:t>Performance depends on</a:t>
                </a:r>
              </a:p>
              <a:p>
                <a:pPr lvl="1"/>
                <a:r>
                  <a:rPr lang="en-US" sz="1800" u="sng" dirty="0">
                    <a:ea typeface="Tahoma" pitchFamily="34" charset="0"/>
                    <a:cs typeface="Tahoma" pitchFamily="34" charset="0"/>
                  </a:rPr>
                  <a:t>Algorithm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: affects IC, possibly CPI</a:t>
                </a:r>
              </a:p>
              <a:p>
                <a:pPr lvl="1"/>
                <a:r>
                  <a:rPr lang="en-US" sz="1800" u="sng" dirty="0">
                    <a:ea typeface="Tahoma" pitchFamily="34" charset="0"/>
                    <a:cs typeface="Tahoma" pitchFamily="34" charset="0"/>
                  </a:rPr>
                  <a:t>Programming language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: affects IC, CPI</a:t>
                </a:r>
              </a:p>
              <a:p>
                <a:pPr lvl="1"/>
                <a:r>
                  <a:rPr lang="en-US" sz="1800" u="sng" dirty="0">
                    <a:ea typeface="Tahoma" pitchFamily="34" charset="0"/>
                    <a:cs typeface="Tahoma" pitchFamily="34" charset="0"/>
                  </a:rPr>
                  <a:t>Compiler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: affects IC, CPI</a:t>
                </a:r>
              </a:p>
              <a:p>
                <a:pPr lvl="1"/>
                <a:r>
                  <a:rPr lang="en-US" sz="1800" u="sng" dirty="0">
                    <a:ea typeface="Tahoma" pitchFamily="34" charset="0"/>
                    <a:cs typeface="Tahoma" pitchFamily="34" charset="0"/>
                  </a:rPr>
                  <a:t>Instruction set architecture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: affects IC, CPI, Tc</a:t>
                </a:r>
              </a:p>
              <a:p>
                <a:endParaRPr lang="en-US" sz="2000" dirty="0"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667" b="-8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Classical Performance Equation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E6BD1D-9FE2-4742-8454-18647A937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35768"/>
            <a:ext cx="5285484" cy="47932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427AAA-4535-4B2F-A399-6B837E50A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533" y="3966381"/>
            <a:ext cx="3640667" cy="635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BEEF4C-9939-4368-A83C-99B60FD087CB}"/>
                  </a:ext>
                </a:extLst>
              </p14:cNvPr>
              <p14:cNvContentPartPr/>
              <p14:nvPr/>
            </p14:nvContentPartPr>
            <p14:xfrm>
              <a:off x="4744440" y="22006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BEEF4C-9939-4368-A83C-99B60FD087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5080" y="21913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9821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sz="2000" dirty="0"/>
              <a:t>Instruction Set</a:t>
            </a:r>
          </a:p>
          <a:p>
            <a:pPr lvl="1"/>
            <a:r>
              <a:rPr lang="en-US" sz="1600" dirty="0"/>
              <a:t>The vocabulary of instructions a computer can understand</a:t>
            </a:r>
          </a:p>
          <a:p>
            <a:endParaRPr lang="en-US" sz="2200" dirty="0"/>
          </a:p>
          <a:p>
            <a:r>
              <a:rPr lang="en-US" sz="2000" dirty="0"/>
              <a:t>Different Computers have different instruction sets</a:t>
            </a:r>
          </a:p>
          <a:p>
            <a:pPr lvl="1"/>
            <a:r>
              <a:rPr lang="en-US" sz="1600" dirty="0"/>
              <a:t>But with many common aspects</a:t>
            </a:r>
          </a:p>
          <a:p>
            <a:endParaRPr lang="en-US" sz="2200" dirty="0"/>
          </a:p>
          <a:p>
            <a:r>
              <a:rPr lang="en-US" sz="2200" dirty="0"/>
              <a:t>Examples</a:t>
            </a:r>
          </a:p>
          <a:p>
            <a:pPr lvl="1"/>
            <a:r>
              <a:rPr lang="en-US" sz="1800" dirty="0"/>
              <a:t>RISC-V</a:t>
            </a:r>
          </a:p>
          <a:p>
            <a:pPr lvl="1"/>
            <a:r>
              <a:rPr lang="en-US" sz="1800" dirty="0"/>
              <a:t>MIPS</a:t>
            </a:r>
          </a:p>
          <a:p>
            <a:pPr lvl="1"/>
            <a:r>
              <a:rPr lang="en-US" sz="1800" dirty="0"/>
              <a:t>Intel x86 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Instruction Set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7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endParaRPr lang="en-US" sz="1800" dirty="0"/>
          </a:p>
          <a:p>
            <a:r>
              <a:rPr lang="en-US" sz="2000" dirty="0"/>
              <a:t>Arithmetic </a:t>
            </a:r>
          </a:p>
          <a:p>
            <a:endParaRPr lang="en-US" sz="2000" dirty="0"/>
          </a:p>
          <a:p>
            <a:r>
              <a:rPr lang="en-US" sz="2000" dirty="0"/>
              <a:t>Data Transfer</a:t>
            </a:r>
          </a:p>
          <a:p>
            <a:endParaRPr lang="en-US" sz="2000" dirty="0"/>
          </a:p>
          <a:p>
            <a:r>
              <a:rPr lang="en-US" sz="2000" dirty="0"/>
              <a:t>Logical</a:t>
            </a:r>
          </a:p>
          <a:p>
            <a:endParaRPr lang="en-US" sz="2000" dirty="0"/>
          </a:p>
          <a:p>
            <a:r>
              <a:rPr lang="en-US" sz="2000" dirty="0"/>
              <a:t>Shift</a:t>
            </a:r>
          </a:p>
          <a:p>
            <a:endParaRPr lang="en-US" sz="2000" dirty="0"/>
          </a:p>
          <a:p>
            <a:r>
              <a:rPr lang="en-US" sz="2000" dirty="0"/>
              <a:t>Conditional Branch</a:t>
            </a:r>
          </a:p>
          <a:p>
            <a:endParaRPr lang="en-US" sz="2000" dirty="0"/>
          </a:p>
          <a:p>
            <a:r>
              <a:rPr lang="en-US" sz="2000" dirty="0"/>
              <a:t>Unconditional Branch</a:t>
            </a:r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pPr>
              <a:buNone/>
            </a:pPr>
            <a:r>
              <a:rPr lang="en-US" sz="1800" dirty="0"/>
              <a:t>  </a:t>
            </a:r>
          </a:p>
          <a:p>
            <a:pPr>
              <a:buNone/>
            </a:pPr>
            <a:endParaRPr lang="en-US" sz="1400" dirty="0">
              <a:latin typeface="Cambria Math" panose="02040503050406030204" pitchFamily="18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Categories of RISC-V Instructions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94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endParaRPr lang="en-US" sz="1800" dirty="0"/>
          </a:p>
          <a:p>
            <a:endParaRPr lang="en-US" sz="2000" dirty="0"/>
          </a:p>
          <a:p>
            <a:endParaRPr lang="en-US" sz="2000" dirty="0"/>
          </a:p>
          <a:p>
            <a:pPr>
              <a:buNone/>
            </a:pPr>
            <a:r>
              <a:rPr lang="en-US" sz="1800" dirty="0"/>
              <a:t>  </a:t>
            </a:r>
          </a:p>
          <a:p>
            <a:pPr>
              <a:buNone/>
            </a:pPr>
            <a:endParaRPr lang="en-US" sz="1400" dirty="0">
              <a:latin typeface="Cambria Math" panose="02040503050406030204" pitchFamily="18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>
              <a:buNone/>
            </a:pPr>
            <a:endParaRPr lang="en-US" sz="1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24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Arithmetic Instructions of RISC-V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DEE80-5A80-4536-BF70-7513BC493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29" y="3350928"/>
            <a:ext cx="8359941" cy="91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0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634-70C6-DCF6-A081-B18067CE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Camps: CISC vs RISC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9F82AF-5DDF-6978-B295-996F82274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/>
              <a:t>Complex Instruction Set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583A3-D9E2-D43E-7BD3-BF4292F960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Includes multi-clock complex instructions	</a:t>
            </a:r>
          </a:p>
          <a:p>
            <a:r>
              <a:rPr lang="en-US" dirty="0"/>
              <a:t>Memory-to-memory: LOAD and STORE incorporated in instructions</a:t>
            </a:r>
          </a:p>
          <a:p>
            <a:r>
              <a:rPr lang="en-US" dirty="0"/>
              <a:t>Small code sizes</a:t>
            </a:r>
          </a:p>
          <a:p>
            <a:r>
              <a:rPr lang="en-US" dirty="0"/>
              <a:t>Transistors used for storing complex instructions</a:t>
            </a:r>
          </a:p>
          <a:p>
            <a:r>
              <a:rPr lang="en-US" dirty="0"/>
              <a:t>Intel x86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Example: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MULT M[5],M[3],M[2]</a:t>
            </a:r>
            <a:r>
              <a:rPr lang="en-US" dirty="0"/>
              <a:t>	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8D43E6-A518-4FDA-3B93-2569CE11E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/>
              <a:t>Reduced Instruction Set Computer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77C39-8601-93F0-9A1E-680DAF41407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Single-clock, reduced instruction only</a:t>
            </a:r>
          </a:p>
          <a:p>
            <a:r>
              <a:rPr lang="en-US" dirty="0"/>
              <a:t>Register to register: "LOAD" and "STORE“ are independent instructions</a:t>
            </a:r>
          </a:p>
          <a:p>
            <a:r>
              <a:rPr lang="en-US" dirty="0"/>
              <a:t>Large code sizes</a:t>
            </a:r>
          </a:p>
          <a:p>
            <a:r>
              <a:rPr lang="en-US" dirty="0"/>
              <a:t>Spends more transistors on memory registers</a:t>
            </a:r>
          </a:p>
          <a:p>
            <a:r>
              <a:rPr lang="en-US" dirty="0"/>
              <a:t>RISC-V, MIPS, ARM, PowerPC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Example: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LOAD R1,M[3]</a:t>
            </a:r>
            <a:br>
              <a:rPr lang="en-US" dirty="0"/>
            </a:br>
            <a:r>
              <a:rPr lang="en-US" dirty="0"/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LOAD R2,M[2]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MUL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R3,R1,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R2</a:t>
            </a:r>
            <a:br>
              <a:rPr lang="en-US" dirty="0"/>
            </a:br>
            <a:r>
              <a:rPr lang="en-US" dirty="0"/>
              <a:t>	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STORE M[5],R3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883D4-85CB-0C0D-18C3-5E76E5A5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ln>
                <a:noFill/>
              </a:ln>
            </p:spPr>
            <p:txBody>
              <a:bodyPr>
                <a:noAutofit/>
              </a:bodyPr>
              <a:lstStyle/>
              <a:p>
                <a:endParaRPr lang="en-US" sz="1800" dirty="0"/>
              </a:p>
              <a:p>
                <a:r>
                  <a:rPr lang="en-US" sz="1800" dirty="0"/>
                  <a:t>Classical performance equation: </a:t>
                </a:r>
              </a:p>
              <a:p>
                <a:pPr>
                  <a:buNone/>
                </a:pPr>
                <a:r>
                  <a:rPr lang="en-US" sz="1400" dirty="0"/>
                  <a:t>  </a:t>
                </a:r>
              </a:p>
              <a:p>
                <a:pPr>
                  <a:buNone/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	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𝐼𝑛𝑠𝑡𝑟𝑢𝑐𝑡𝑖𝑜𝑛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𝐶𝑜𝑢𝑛𝑡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𝑁𝑢𝑚𝑏𝑒𝑟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𝑚𝑎𝑐h𝑖𝑛𝑒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𝑖𝑛𝑠𝑡𝑟𝑢𝑐𝑡𝑖𝑜𝑛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𝐶𝑃𝐼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𝑖𝑛𝑠𝑡𝑟𝑢𝑐𝑡𝑖𝑜𝑛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𝑐𝑦𝑐𝑙𝑒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𝐶𝑙𝑜𝑐𝑘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𝑇𝑖𝑚𝑒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𝑝𝑒𝑟𝑖𝑜𝑑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𝑐𝑙𝑜𝑐𝑘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US" sz="2000" dirty="0">
                  <a:ea typeface="Tahoma" pitchFamily="34" charset="0"/>
                  <a:cs typeface="Tahoma" pitchFamily="34" charset="0"/>
                </a:endParaRPr>
              </a:p>
              <a:p>
                <a:endParaRPr lang="en-US" sz="2000" dirty="0">
                  <a:ea typeface="Tahoma" pitchFamily="34" charset="0"/>
                  <a:cs typeface="Tahoma" pitchFamily="34" charset="0"/>
                </a:endParaRPr>
              </a:p>
              <a:p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The CISC approach attempts to </a:t>
                </a:r>
                <a:r>
                  <a:rPr lang="en-US" sz="1800" dirty="0">
                    <a:solidFill>
                      <a:srgbClr val="FF0000"/>
                    </a:solidFill>
                    <a:ea typeface="Tahoma" pitchFamily="34" charset="0"/>
                    <a:cs typeface="Tahoma" pitchFamily="34" charset="0"/>
                  </a:rPr>
                  <a:t>minimize the number of instructions per program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, sacrificing the number of cycles per instruction. </a:t>
                </a:r>
              </a:p>
              <a:p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RISC does the opposite, </a:t>
                </a:r>
                <a:r>
                  <a:rPr lang="en-US" sz="1800" dirty="0">
                    <a:solidFill>
                      <a:srgbClr val="FF0000"/>
                    </a:solidFill>
                    <a:ea typeface="Tahoma" pitchFamily="34" charset="0"/>
                    <a:cs typeface="Tahoma" pitchFamily="34" charset="0"/>
                  </a:rPr>
                  <a:t>reducing the cycles per instruction </a:t>
                </a:r>
                <a:r>
                  <a:rPr lang="en-US" sz="1800" dirty="0">
                    <a:ea typeface="Tahoma" pitchFamily="34" charset="0"/>
                    <a:cs typeface="Tahoma" pitchFamily="34" charset="0"/>
                  </a:rPr>
                  <a:t>at the cost of the number of instructions per program.</a:t>
                </a:r>
              </a:p>
              <a:p>
                <a:endParaRPr lang="en-US" sz="2000" dirty="0"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876800"/>
              </a:xfrm>
              <a:blipFill>
                <a:blip r:embed="rId2"/>
                <a:stretch>
                  <a:fillRect l="-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CISC vs RISC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E6BD1D-9FE2-4742-8454-18647A937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35768"/>
            <a:ext cx="5285484" cy="479322"/>
          </a:xfrm>
          <a:prstGeom prst="rect">
            <a:avLst/>
          </a:prstGeom>
          <a:ln>
            <a:solidFill>
              <a:schemeClr val="accent2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BEEF4C-9939-4368-A83C-99B60FD087CB}"/>
                  </a:ext>
                </a:extLst>
              </p14:cNvPr>
              <p14:cNvContentPartPr/>
              <p14:nvPr/>
            </p14:nvContentPartPr>
            <p14:xfrm>
              <a:off x="4744440" y="22006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BEEF4C-9939-4368-A83C-99B60FD087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5080" y="21913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8440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endParaRPr lang="en-US" sz="20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Example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E8DA61-E136-4F7B-8B08-9B8F873C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16567"/>
            <a:ext cx="7540831" cy="1142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7712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endParaRPr lang="en-US" sz="20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Example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E8DA61-E136-4F7B-8B08-9B8F873C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16567"/>
            <a:ext cx="7540831" cy="11429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481898-55AB-4350-AA02-3F4858FA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566" y="2667000"/>
            <a:ext cx="5264868" cy="413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55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endParaRPr lang="en-US" sz="20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Example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7B090-54D8-4A0C-944A-878DB9828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43000"/>
            <a:ext cx="5029200" cy="2481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24410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endParaRPr lang="en-US" sz="20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Example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47B090-54D8-4A0C-944A-878DB9828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43000"/>
            <a:ext cx="5029200" cy="24819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9F8F3B-F920-45C4-B520-E915E6B35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039" y="3856038"/>
            <a:ext cx="4913561" cy="279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14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7680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</a:t>
            </a: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endParaRPr lang="en-US" sz="20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1800" dirty="0"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ea typeface="Tahoma" pitchFamily="34" charset="0"/>
                <a:cs typeface="Tahoma" pitchFamily="34" charset="0"/>
              </a:rPr>
              <a:t>Example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A97D73-B5B5-4AA3-8F3F-B4AC2764811F}"/>
              </a:ext>
            </a:extLst>
          </p:cNvPr>
          <p:cNvCxnSpPr/>
          <p:nvPr/>
        </p:nvCxnSpPr>
        <p:spPr>
          <a:xfrm flipV="1">
            <a:off x="2514600" y="1888067"/>
            <a:ext cx="16933" cy="16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26D5-A657-4D47-B6B3-CD6CBA03F4E3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57B334-2527-4AC9-993B-5F965F120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57" y="1355726"/>
            <a:ext cx="6799286" cy="275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6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39868</TotalTime>
  <Words>1571</Words>
  <Application>Microsoft Office PowerPoint</Application>
  <PresentationFormat>On-screen Show (4:3)</PresentationFormat>
  <Paragraphs>517</Paragraphs>
  <Slides>42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Cambria Math</vt:lpstr>
      <vt:lpstr>Courier New</vt:lpstr>
      <vt:lpstr>Franklin Gothic Book</vt:lpstr>
      <vt:lpstr>Tahoma</vt:lpstr>
      <vt:lpstr>Office Theme</vt:lpstr>
      <vt:lpstr>Computer Architecture (EE 371 / CE 321 / CS 330)</vt:lpstr>
      <vt:lpstr>Outline: Unit 1</vt:lpstr>
      <vt:lpstr>Computer Engineering: The Big Picture</vt:lpstr>
      <vt:lpstr>Computer Engineering: The Big Picture</vt:lpstr>
      <vt:lpstr>PowerPoint Presentation</vt:lpstr>
      <vt:lpstr>“Computer”: Examples</vt:lpstr>
      <vt:lpstr>Computer Architecture: The Big Picture</vt:lpstr>
      <vt:lpstr>Computer Architecture: The Big Picture</vt:lpstr>
      <vt:lpstr>Computer Architecture: The Big Picture</vt:lpstr>
      <vt:lpstr>Computer Architecture: The Big Picture</vt:lpstr>
      <vt:lpstr>Computer Architecture: The Big Picture</vt:lpstr>
      <vt:lpstr>Computer Architecture: The Big Picture</vt:lpstr>
      <vt:lpstr>Computer Architecture: The Big Picture</vt:lpstr>
      <vt:lpstr>Defining “Performance”</vt:lpstr>
      <vt:lpstr>Defining “Performance”</vt:lpstr>
      <vt:lpstr>Defining “Performance”</vt:lpstr>
      <vt:lpstr>Defining “Performance”</vt:lpstr>
      <vt:lpstr>Interplay between “Response Time” and “Throughput”</vt:lpstr>
      <vt:lpstr>Interplay between “Response Time” and Throughput</vt:lpstr>
      <vt:lpstr>Defining “Performance”</vt:lpstr>
      <vt:lpstr>Defining “Performance”</vt:lpstr>
      <vt:lpstr>Defining “Performance”</vt:lpstr>
      <vt:lpstr>Defining “Performance”</vt:lpstr>
      <vt:lpstr>Measuring “Execution Time”</vt:lpstr>
      <vt:lpstr>Defining “Performance”</vt:lpstr>
      <vt:lpstr>Defining “Performance”</vt:lpstr>
      <vt:lpstr>Classical Performance Equation</vt:lpstr>
      <vt:lpstr>Classical Performance Equation</vt:lpstr>
      <vt:lpstr>Classical Performance Equation</vt:lpstr>
      <vt:lpstr>Improving Performance</vt:lpstr>
      <vt:lpstr>Classical Performance Equation</vt:lpstr>
      <vt:lpstr>Classical Performance Equation</vt:lpstr>
      <vt:lpstr>Instruction Set</vt:lpstr>
      <vt:lpstr>Categories of RISC-V Instructions</vt:lpstr>
      <vt:lpstr>Arithmetic Instructions of RISC-V</vt:lpstr>
      <vt:lpstr>The Two Camps: CISC vs RISC</vt:lpstr>
      <vt:lpstr>CISC vs RISC</vt:lpstr>
      <vt:lpstr>Example</vt:lpstr>
      <vt:lpstr>Example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Service-Oriented Framework for Cyber-Physical Systems</dc:title>
  <dc:creator>Umer</dc:creator>
  <cp:lastModifiedBy>Farhan Khan</cp:lastModifiedBy>
  <cp:revision>1962</cp:revision>
  <dcterms:created xsi:type="dcterms:W3CDTF">2012-12-22T22:35:10Z</dcterms:created>
  <dcterms:modified xsi:type="dcterms:W3CDTF">2023-04-13T03:49:27Z</dcterms:modified>
</cp:coreProperties>
</file>