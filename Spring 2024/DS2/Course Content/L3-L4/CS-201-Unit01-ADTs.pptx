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handoutMasterIdLst>
    <p:handoutMasterId r:id="rId28"/>
  </p:handoutMasterIdLst>
  <p:sldIdLst>
    <p:sldId id="262" r:id="rId2"/>
    <p:sldId id="264" r:id="rId3"/>
    <p:sldId id="679" r:id="rId4"/>
    <p:sldId id="687" r:id="rId5"/>
    <p:sldId id="688" r:id="rId6"/>
    <p:sldId id="689" r:id="rId7"/>
    <p:sldId id="690" r:id="rId8"/>
    <p:sldId id="686" r:id="rId9"/>
    <p:sldId id="680" r:id="rId10"/>
    <p:sldId id="691" r:id="rId11"/>
    <p:sldId id="692" r:id="rId12"/>
    <p:sldId id="693" r:id="rId13"/>
    <p:sldId id="694" r:id="rId14"/>
    <p:sldId id="695" r:id="rId15"/>
    <p:sldId id="696" r:id="rId16"/>
    <p:sldId id="697" r:id="rId17"/>
    <p:sldId id="698" r:id="rId18"/>
    <p:sldId id="699" r:id="rId19"/>
    <p:sldId id="701" r:id="rId20"/>
    <p:sldId id="703" r:id="rId21"/>
    <p:sldId id="685" r:id="rId22"/>
    <p:sldId id="681" r:id="rId23"/>
    <p:sldId id="682" r:id="rId24"/>
    <p:sldId id="683" r:id="rId25"/>
    <p:sldId id="684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4583CB8-9120-4919-A964-792EA406810A}">
          <p14:sldIdLst>
            <p14:sldId id="262"/>
            <p14:sldId id="264"/>
            <p14:sldId id="679"/>
            <p14:sldId id="687"/>
            <p14:sldId id="688"/>
            <p14:sldId id="689"/>
            <p14:sldId id="690"/>
            <p14:sldId id="686"/>
            <p14:sldId id="680"/>
            <p14:sldId id="691"/>
            <p14:sldId id="692"/>
            <p14:sldId id="693"/>
            <p14:sldId id="694"/>
            <p14:sldId id="695"/>
            <p14:sldId id="696"/>
            <p14:sldId id="697"/>
            <p14:sldId id="698"/>
            <p14:sldId id="699"/>
            <p14:sldId id="701"/>
            <p14:sldId id="703"/>
            <p14:sldId id="685"/>
            <p14:sldId id="681"/>
            <p14:sldId id="682"/>
            <p14:sldId id="683"/>
            <p14:sldId id="68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CC"/>
    <a:srgbClr val="FFCCCC"/>
    <a:srgbClr val="FFFFCC"/>
    <a:srgbClr val="CCFFFF"/>
    <a:srgbClr val="99FFCC"/>
    <a:srgbClr val="FF9999"/>
    <a:srgbClr val="FF00FF"/>
    <a:srgbClr val="3F1749"/>
    <a:srgbClr val="660033"/>
    <a:srgbClr val="66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61" autoAdjust="0"/>
    <p:restoredTop sz="94660"/>
  </p:normalViewPr>
  <p:slideViewPr>
    <p:cSldViewPr snapToGrid="0">
      <p:cViewPr varScale="1">
        <p:scale>
          <a:sx n="67" d="100"/>
          <a:sy n="67" d="100"/>
        </p:scale>
        <p:origin x="72" y="212"/>
      </p:cViewPr>
      <p:guideLst>
        <p:guide orient="horz" pos="2184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3C6DF84-CD1F-4FA6-8BC8-E893B696DB9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EE00F5-A9A7-4164-9154-87868DA7B41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3835A1-0E46-4E70-BE50-D16D92BA4F06}" type="datetimeFigureOut">
              <a:rPr lang="en-US" smtClean="0"/>
              <a:t>1/10/2024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18731D-8B59-4095-B77A-4BC76754C1F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11D674-0CD9-4F38-9541-10F8D4CF120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8A66C0-A5B3-4976-B3B0-D5887CB70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34993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104257-2063-464D-8392-2DAA70F807F3}" type="datetimeFigureOut">
              <a:rPr lang="en-US" smtClean="0"/>
              <a:t>1/10/2024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2DBBA1-8DB8-4FE4-8A77-5307E3FF17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2542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EC820-F06A-4B86-BF0B-B3F6612CAC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Gill Sans MT" panose="020B05020201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854DBB-C47C-49E9-9D9C-CA5C80EA2C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Gill Sans MT" panose="020B050202010402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20DD88-B242-467D-BEB5-FB8F7EF95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r>
              <a:rPr lang="en-US"/>
              <a:t>CS-201: Data Structures II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B69A8C-3893-4697-8DCE-E8D296031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fld id="{69121A1F-7885-4E65-AB38-5CCB274F4EF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5924B38-6344-1101-CED8-B9C1500E80E7}"/>
              </a:ext>
            </a:extLst>
          </p:cNvPr>
          <p:cNvSpPr/>
          <p:nvPr userDrawn="1"/>
        </p:nvSpPr>
        <p:spPr>
          <a:xfrm>
            <a:off x="0" y="0"/>
            <a:ext cx="12192000" cy="410817"/>
          </a:xfrm>
          <a:prstGeom prst="rect">
            <a:avLst/>
          </a:prstGeom>
          <a:solidFill>
            <a:schemeClr val="accent1"/>
          </a:solidFill>
          <a:ln>
            <a:solidFill>
              <a:srgbClr val="3F174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8D29A5D-1308-E10C-202B-3DEF0CAECB9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1" t="4545" r="68780" b="3335"/>
          <a:stretch/>
        </p:blipFill>
        <p:spPr bwMode="auto">
          <a:xfrm>
            <a:off x="7937" y="4125"/>
            <a:ext cx="368300" cy="40116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9155660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A5013-5E51-49C0-BC22-8E93E632C4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2381" y="410368"/>
            <a:ext cx="12192000" cy="1325563"/>
          </a:xfrm>
          <a:solidFill>
            <a:srgbClr val="FFFFCC"/>
          </a:solidFill>
        </p:spPr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r>
              <a:rPr lang="en-US" dirty="0"/>
              <a:t>	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9E4D83-D539-4263-B106-C711256BE9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  <a:lvl2pPr>
              <a:defRPr>
                <a:latin typeface="Gill Sans MT" panose="020B0502020104020203" pitchFamily="34" charset="0"/>
              </a:defRPr>
            </a:lvl2pPr>
            <a:lvl3pPr>
              <a:defRPr>
                <a:latin typeface="Gill Sans MT" panose="020B0502020104020203" pitchFamily="34" charset="0"/>
              </a:defRPr>
            </a:lvl3pPr>
            <a:lvl4pPr>
              <a:defRPr>
                <a:latin typeface="Gill Sans MT" panose="020B0502020104020203" pitchFamily="34" charset="0"/>
              </a:defRPr>
            </a:lvl4pPr>
            <a:lvl5pPr>
              <a:defRPr>
                <a:latin typeface="Gill Sans MT" panose="020B05020201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8894F8B-ED69-49D9-B6CD-CC002E9B2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CS-201: Data Structures II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92B2E41-6AC9-4EA2-B3F7-D0541296F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9705D3-83C8-16A9-3AE4-F96B6A26C65F}"/>
              </a:ext>
            </a:extLst>
          </p:cNvPr>
          <p:cNvSpPr/>
          <p:nvPr userDrawn="1"/>
        </p:nvSpPr>
        <p:spPr>
          <a:xfrm>
            <a:off x="0" y="0"/>
            <a:ext cx="12192000" cy="410817"/>
          </a:xfrm>
          <a:prstGeom prst="rect">
            <a:avLst/>
          </a:prstGeom>
          <a:solidFill>
            <a:schemeClr val="accent1"/>
          </a:solidFill>
          <a:ln>
            <a:solidFill>
              <a:srgbClr val="3F174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8AF1FB-19E1-0DAE-FD18-DC60EDFAACB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1" t="4545" r="68780" b="3335"/>
          <a:stretch/>
        </p:blipFill>
        <p:spPr bwMode="auto">
          <a:xfrm>
            <a:off x="7937" y="4125"/>
            <a:ext cx="368300" cy="40116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40818456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20FEA-A9EE-4984-A777-E95860841F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latin typeface="Gill Sans MT" panose="020B05020201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15FA1F-94A1-45CE-84C6-23F77E0C32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Gill Sans MT" panose="020B05020201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D99CA-D285-4F1A-9EF3-9FF6A7537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r>
              <a:rPr lang="en-US"/>
              <a:t>CS-201: Data Structures II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DF42B6-DC9F-4E20-85F3-748AB2CFC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fld id="{69121A1F-7885-4E65-AB38-5CCB274F4EF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FB8D539-AF05-6879-DBE7-958561F71780}"/>
              </a:ext>
            </a:extLst>
          </p:cNvPr>
          <p:cNvSpPr/>
          <p:nvPr userDrawn="1"/>
        </p:nvSpPr>
        <p:spPr>
          <a:xfrm>
            <a:off x="0" y="0"/>
            <a:ext cx="12192000" cy="410817"/>
          </a:xfrm>
          <a:prstGeom prst="rect">
            <a:avLst/>
          </a:prstGeom>
          <a:solidFill>
            <a:schemeClr val="accent1"/>
          </a:solidFill>
          <a:ln>
            <a:solidFill>
              <a:srgbClr val="3F174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923BFEB-A61A-BC44-0BF0-D7A0547C8C3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1" t="4545" r="68780" b="3335"/>
          <a:stretch/>
        </p:blipFill>
        <p:spPr bwMode="auto">
          <a:xfrm>
            <a:off x="7937" y="4125"/>
            <a:ext cx="368300" cy="40116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8856221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A21E5E-0811-4F8F-B2BD-F0EA8FE0DD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  <a:lvl2pPr>
              <a:defRPr>
                <a:latin typeface="Gill Sans MT" panose="020B0502020104020203" pitchFamily="34" charset="0"/>
              </a:defRPr>
            </a:lvl2pPr>
            <a:lvl3pPr>
              <a:defRPr>
                <a:latin typeface="Gill Sans MT" panose="020B0502020104020203" pitchFamily="34" charset="0"/>
              </a:defRPr>
            </a:lvl3pPr>
            <a:lvl4pPr>
              <a:defRPr>
                <a:latin typeface="Gill Sans MT" panose="020B0502020104020203" pitchFamily="34" charset="0"/>
              </a:defRPr>
            </a:lvl4pPr>
            <a:lvl5pPr>
              <a:defRPr>
                <a:latin typeface="Gill Sans MT" panose="020B05020201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F19ED3-0C43-4509-8413-12035F8852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  <a:lvl2pPr>
              <a:defRPr>
                <a:latin typeface="Gill Sans MT" panose="020B0502020104020203" pitchFamily="34" charset="0"/>
              </a:defRPr>
            </a:lvl2pPr>
            <a:lvl3pPr>
              <a:defRPr>
                <a:latin typeface="Gill Sans MT" panose="020B0502020104020203" pitchFamily="34" charset="0"/>
              </a:defRPr>
            </a:lvl3pPr>
            <a:lvl4pPr>
              <a:defRPr>
                <a:latin typeface="Gill Sans MT" panose="020B0502020104020203" pitchFamily="34" charset="0"/>
              </a:defRPr>
            </a:lvl4pPr>
            <a:lvl5pPr>
              <a:defRPr>
                <a:latin typeface="Gill Sans MT" panose="020B05020201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211BA6-FC26-4989-AC9B-C61626147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r>
              <a:rPr lang="en-US"/>
              <a:t>CS-201: Data Structures II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6FBF8E-11D8-47C3-B42E-CB9685CAC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fld id="{69121A1F-7885-4E65-AB38-5CCB274F4EF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4F29262B-DCE4-453C-AC44-46A76531AD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3063" y="425378"/>
            <a:ext cx="12192000" cy="1205057"/>
          </a:xfrm>
          <a:solidFill>
            <a:srgbClr val="FFFFCC"/>
          </a:solidFill>
        </p:spPr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r>
              <a:rPr lang="en-US"/>
              <a:t>	Click to edit Master title style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7FFAA2E-80D3-7C42-DC59-98E39C2D21B7}"/>
              </a:ext>
            </a:extLst>
          </p:cNvPr>
          <p:cNvSpPr/>
          <p:nvPr userDrawn="1"/>
        </p:nvSpPr>
        <p:spPr>
          <a:xfrm>
            <a:off x="0" y="0"/>
            <a:ext cx="12192000" cy="410817"/>
          </a:xfrm>
          <a:prstGeom prst="rect">
            <a:avLst/>
          </a:prstGeom>
          <a:solidFill>
            <a:schemeClr val="accent1"/>
          </a:solidFill>
          <a:ln>
            <a:solidFill>
              <a:srgbClr val="3F174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2F00280-50F5-5F70-653E-910E8D8B6E4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1" t="4545" r="68780" b="3335"/>
          <a:stretch/>
        </p:blipFill>
        <p:spPr bwMode="auto">
          <a:xfrm>
            <a:off x="7937" y="4125"/>
            <a:ext cx="368300" cy="40116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0718803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71E841-4E40-4E94-9C41-48CA6FFFA4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Gill Sans MT" panose="020B05020201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C33963-8E17-4AED-BD0A-6C7EDF769F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  <a:lvl2pPr>
              <a:defRPr>
                <a:latin typeface="Gill Sans MT" panose="020B0502020104020203" pitchFamily="34" charset="0"/>
              </a:defRPr>
            </a:lvl2pPr>
            <a:lvl3pPr>
              <a:defRPr>
                <a:latin typeface="Gill Sans MT" panose="020B0502020104020203" pitchFamily="34" charset="0"/>
              </a:defRPr>
            </a:lvl3pPr>
            <a:lvl4pPr>
              <a:defRPr>
                <a:latin typeface="Gill Sans MT" panose="020B0502020104020203" pitchFamily="34" charset="0"/>
              </a:defRPr>
            </a:lvl4pPr>
            <a:lvl5pPr>
              <a:defRPr>
                <a:latin typeface="Gill Sans MT" panose="020B05020201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69669F-0CC8-486E-A29E-8F810DC054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Gill Sans MT" panose="020B05020201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D48C6F-C450-4648-9828-249C929130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  <a:lvl2pPr>
              <a:defRPr>
                <a:latin typeface="Gill Sans MT" panose="020B0502020104020203" pitchFamily="34" charset="0"/>
              </a:defRPr>
            </a:lvl2pPr>
            <a:lvl3pPr>
              <a:defRPr>
                <a:latin typeface="Gill Sans MT" panose="020B0502020104020203" pitchFamily="34" charset="0"/>
              </a:defRPr>
            </a:lvl3pPr>
            <a:lvl4pPr>
              <a:defRPr>
                <a:latin typeface="Gill Sans MT" panose="020B0502020104020203" pitchFamily="34" charset="0"/>
              </a:defRPr>
            </a:lvl4pPr>
            <a:lvl5pPr>
              <a:defRPr>
                <a:latin typeface="Gill Sans MT" panose="020B05020201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7D1B2B-27A1-4F00-A12E-45D62A00C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r>
              <a:rPr lang="en-US"/>
              <a:t>CS-201: Data Structures II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817AE76-9D91-4D7D-9245-EF3809963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fld id="{69121A1F-7885-4E65-AB38-5CCB274F4EF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25BDD155-2A18-4842-8FBF-76C05561C5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3063" y="425378"/>
            <a:ext cx="12192000" cy="1205057"/>
          </a:xfrm>
          <a:solidFill>
            <a:srgbClr val="FFFFCC"/>
          </a:solidFill>
        </p:spPr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r>
              <a:rPr lang="en-US"/>
              <a:t>	Click to edit Master title style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38EFABF-4B26-80A9-1902-8F1C022B8FBD}"/>
              </a:ext>
            </a:extLst>
          </p:cNvPr>
          <p:cNvSpPr/>
          <p:nvPr userDrawn="1"/>
        </p:nvSpPr>
        <p:spPr>
          <a:xfrm>
            <a:off x="0" y="0"/>
            <a:ext cx="12192000" cy="410817"/>
          </a:xfrm>
          <a:prstGeom prst="rect">
            <a:avLst/>
          </a:prstGeom>
          <a:solidFill>
            <a:schemeClr val="accent1"/>
          </a:solidFill>
          <a:ln>
            <a:solidFill>
              <a:srgbClr val="3F174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0DFECC7-AF09-1B48-F3CE-2C13C10202B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1" t="4545" r="68780" b="3335"/>
          <a:stretch/>
        </p:blipFill>
        <p:spPr bwMode="auto">
          <a:xfrm>
            <a:off x="7937" y="4125"/>
            <a:ext cx="368300" cy="40116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41566219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DE2322-36E5-40B2-B77C-3FEDCE71F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r>
              <a:rPr lang="en-US"/>
              <a:t>CS-201: Data Structures II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5CF9BB-D046-456C-9FE7-4EF522F8F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fld id="{69121A1F-7885-4E65-AB38-5CCB274F4EF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15D108B-C064-4DBF-88BA-3195AD6373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3063" y="425378"/>
            <a:ext cx="12192000" cy="1205057"/>
          </a:xfrm>
          <a:solidFill>
            <a:srgbClr val="FFFFCC"/>
          </a:solidFill>
        </p:spPr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r>
              <a:rPr lang="en-US"/>
              <a:t>	Click to edit Master title style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8C7005D-A76C-B48A-033D-BD4761CD5221}"/>
              </a:ext>
            </a:extLst>
          </p:cNvPr>
          <p:cNvSpPr/>
          <p:nvPr userDrawn="1"/>
        </p:nvSpPr>
        <p:spPr>
          <a:xfrm>
            <a:off x="0" y="0"/>
            <a:ext cx="12192000" cy="410817"/>
          </a:xfrm>
          <a:prstGeom prst="rect">
            <a:avLst/>
          </a:prstGeom>
          <a:solidFill>
            <a:schemeClr val="accent1"/>
          </a:solidFill>
          <a:ln>
            <a:solidFill>
              <a:srgbClr val="3F174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8B081A7-AD93-2EB6-E24F-3D292432696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1" t="4545" r="68780" b="3335"/>
          <a:stretch/>
        </p:blipFill>
        <p:spPr bwMode="auto">
          <a:xfrm>
            <a:off x="7937" y="4125"/>
            <a:ext cx="368300" cy="40116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7592559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AC6141-32E6-4033-A96E-2767E51ED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CS-201: Data Structures II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11312C-54FA-4E5C-A078-885B17401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CC24A72-8058-B3A9-85FC-3D15768C0226}"/>
              </a:ext>
            </a:extLst>
          </p:cNvPr>
          <p:cNvSpPr/>
          <p:nvPr userDrawn="1"/>
        </p:nvSpPr>
        <p:spPr>
          <a:xfrm>
            <a:off x="0" y="0"/>
            <a:ext cx="12192000" cy="410817"/>
          </a:xfrm>
          <a:prstGeom prst="rect">
            <a:avLst/>
          </a:prstGeom>
          <a:solidFill>
            <a:schemeClr val="accent1"/>
          </a:solidFill>
          <a:ln>
            <a:solidFill>
              <a:srgbClr val="3F174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6028F2-BBFF-021F-3D35-1EF63AF8081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1" t="4545" r="68780" b="3335"/>
          <a:stretch/>
        </p:blipFill>
        <p:spPr bwMode="auto">
          <a:xfrm>
            <a:off x="7937" y="4125"/>
            <a:ext cx="368300" cy="40116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6073754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2AF386-C2A1-4165-AA90-A143B880E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Gill Sans MT" panose="020B05020201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55B62E-7997-4D6A-894F-CBFA127EA6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latin typeface="Gill Sans MT" panose="020B0502020104020203" pitchFamily="34" charset="0"/>
              </a:defRPr>
            </a:lvl1pPr>
            <a:lvl2pPr>
              <a:defRPr sz="2800">
                <a:latin typeface="Gill Sans MT" panose="020B0502020104020203" pitchFamily="34" charset="0"/>
              </a:defRPr>
            </a:lvl2pPr>
            <a:lvl3pPr>
              <a:defRPr sz="2400">
                <a:latin typeface="Gill Sans MT" panose="020B0502020104020203" pitchFamily="34" charset="0"/>
              </a:defRPr>
            </a:lvl3pPr>
            <a:lvl4pPr>
              <a:defRPr sz="2000">
                <a:latin typeface="Gill Sans MT" panose="020B0502020104020203" pitchFamily="34" charset="0"/>
              </a:defRPr>
            </a:lvl4pPr>
            <a:lvl5pPr>
              <a:defRPr sz="2000">
                <a:latin typeface="Gill Sans MT" panose="020B0502020104020203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E69036-BD0D-405E-ABE5-3182D79483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Gill Sans MT" panose="020B0502020104020203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781FBA-E5AB-4AE8-AD85-5CEC95094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r>
              <a:rPr lang="en-US"/>
              <a:t>CS-201: Data Structures II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0195D8-F0EB-4DED-84FF-85995992F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fld id="{69121A1F-7885-4E65-AB38-5CCB274F4EF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9CB8084-E2C0-B052-D570-30CCC80650D2}"/>
              </a:ext>
            </a:extLst>
          </p:cNvPr>
          <p:cNvSpPr/>
          <p:nvPr userDrawn="1"/>
        </p:nvSpPr>
        <p:spPr>
          <a:xfrm>
            <a:off x="0" y="0"/>
            <a:ext cx="12192000" cy="410817"/>
          </a:xfrm>
          <a:prstGeom prst="rect">
            <a:avLst/>
          </a:prstGeom>
          <a:solidFill>
            <a:schemeClr val="accent1"/>
          </a:solidFill>
          <a:ln>
            <a:solidFill>
              <a:srgbClr val="3F174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D89BFB-2DDC-58C5-D56B-835ECD4851A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1" t="4545" r="68780" b="3335"/>
          <a:stretch/>
        </p:blipFill>
        <p:spPr bwMode="auto">
          <a:xfrm>
            <a:off x="7937" y="4125"/>
            <a:ext cx="368300" cy="40116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5239607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EEA1B-D3EA-4191-B9A2-C992A45E7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Gill Sans MT" panose="020B05020201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6E61EAE-65C4-4E5D-9671-81BC47EE3C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A9A2D6-4D6D-46D5-A4DA-2F27FD63A4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Gill Sans MT" panose="020B0502020104020203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ADD90B-51A9-4BB5-8E85-28B0FF6D0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r>
              <a:rPr lang="en-US"/>
              <a:t>CS-201: Data Structures II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E05A6B-C7C7-40DC-AD0A-81C8E82E1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fld id="{69121A1F-7885-4E65-AB38-5CCB274F4EF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99A52A7-B87F-6F5D-9D3D-0E043AC9BCEC}"/>
              </a:ext>
            </a:extLst>
          </p:cNvPr>
          <p:cNvSpPr/>
          <p:nvPr userDrawn="1"/>
        </p:nvSpPr>
        <p:spPr>
          <a:xfrm>
            <a:off x="0" y="0"/>
            <a:ext cx="12192000" cy="410817"/>
          </a:xfrm>
          <a:prstGeom prst="rect">
            <a:avLst/>
          </a:prstGeom>
          <a:solidFill>
            <a:schemeClr val="accent1"/>
          </a:solidFill>
          <a:ln>
            <a:solidFill>
              <a:srgbClr val="3F174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47219D-390B-2454-591A-C0C352CC48C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1" t="4545" r="68780" b="3335"/>
          <a:stretch/>
        </p:blipFill>
        <p:spPr bwMode="auto">
          <a:xfrm>
            <a:off x="7937" y="4125"/>
            <a:ext cx="368300" cy="40116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752493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54ED30-B69B-4F0A-B2A1-AEF6DCC0AC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Gill Sans MT" panose="020B0502020104020203" pitchFamily="34" charset="0"/>
              </a:defRPr>
            </a:lvl1pPr>
            <a:lvl2pPr>
              <a:defRPr>
                <a:latin typeface="Gill Sans MT" panose="020B0502020104020203" pitchFamily="34" charset="0"/>
              </a:defRPr>
            </a:lvl2pPr>
            <a:lvl3pPr>
              <a:defRPr>
                <a:latin typeface="Gill Sans MT" panose="020B0502020104020203" pitchFamily="34" charset="0"/>
              </a:defRPr>
            </a:lvl3pPr>
            <a:lvl4pPr>
              <a:defRPr>
                <a:latin typeface="Gill Sans MT" panose="020B0502020104020203" pitchFamily="34" charset="0"/>
              </a:defRPr>
            </a:lvl4pPr>
            <a:lvl5pPr>
              <a:defRPr>
                <a:latin typeface="Gill Sans MT" panose="020B05020201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5A1C9C-5BCD-4DA9-AEAC-A9DF46619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CS-201: Data Structures II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765505-CACA-43A9-9065-9CB6A657A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76A8C93-9DFB-40D7-BBC9-8ABC8B9063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3063" y="425378"/>
            <a:ext cx="12192000" cy="1205057"/>
          </a:xfrm>
          <a:solidFill>
            <a:srgbClr val="FFFFCC"/>
          </a:solidFill>
        </p:spPr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r>
              <a:rPr lang="en-US"/>
              <a:t>	Click to edit Master title style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609C756-9073-F325-5EB0-5206EFDFD988}"/>
              </a:ext>
            </a:extLst>
          </p:cNvPr>
          <p:cNvSpPr/>
          <p:nvPr userDrawn="1"/>
        </p:nvSpPr>
        <p:spPr>
          <a:xfrm>
            <a:off x="0" y="0"/>
            <a:ext cx="12192000" cy="410817"/>
          </a:xfrm>
          <a:prstGeom prst="rect">
            <a:avLst/>
          </a:prstGeom>
          <a:solidFill>
            <a:schemeClr val="accent1"/>
          </a:solidFill>
          <a:ln>
            <a:solidFill>
              <a:srgbClr val="3F174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E80842B-CD63-C3F6-F359-880E7D73A9D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1" t="4545" r="68780" b="3335"/>
          <a:stretch/>
        </p:blipFill>
        <p:spPr bwMode="auto">
          <a:xfrm>
            <a:off x="7937" y="4125"/>
            <a:ext cx="368300" cy="40116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802316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BE4F7F-D510-4E3E-ADF8-0BBCAFBEF0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616348-6040-4EC7-84FA-ACD6AE03CB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>
            <a:lvl1pPr>
              <a:defRPr>
                <a:latin typeface="Gill Sans MT" panose="020B0502020104020203" pitchFamily="34" charset="0"/>
              </a:defRPr>
            </a:lvl1pPr>
            <a:lvl2pPr>
              <a:defRPr>
                <a:latin typeface="Gill Sans MT" panose="020B0502020104020203" pitchFamily="34" charset="0"/>
              </a:defRPr>
            </a:lvl2pPr>
            <a:lvl3pPr>
              <a:defRPr>
                <a:latin typeface="Gill Sans MT" panose="020B0502020104020203" pitchFamily="34" charset="0"/>
              </a:defRPr>
            </a:lvl3pPr>
            <a:lvl4pPr>
              <a:defRPr>
                <a:latin typeface="Gill Sans MT" panose="020B0502020104020203" pitchFamily="34" charset="0"/>
              </a:defRPr>
            </a:lvl4pPr>
            <a:lvl5pPr>
              <a:defRPr>
                <a:latin typeface="Gill Sans MT" panose="020B05020201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69F16-A748-4C8D-A3E5-A464C5269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r>
              <a:rPr lang="en-US"/>
              <a:t>CS-201: Data Structures II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B61486-9E05-4F23-A92B-A1B7ABF54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fld id="{69121A1F-7885-4E65-AB38-5CCB274F4EF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C69A90D-1D2D-54EC-460B-80A244499CF5}"/>
              </a:ext>
            </a:extLst>
          </p:cNvPr>
          <p:cNvSpPr/>
          <p:nvPr userDrawn="1"/>
        </p:nvSpPr>
        <p:spPr>
          <a:xfrm>
            <a:off x="0" y="0"/>
            <a:ext cx="12192000" cy="410817"/>
          </a:xfrm>
          <a:prstGeom prst="rect">
            <a:avLst/>
          </a:prstGeom>
          <a:solidFill>
            <a:schemeClr val="accent1"/>
          </a:solidFill>
          <a:ln>
            <a:solidFill>
              <a:srgbClr val="3F174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377A213-4704-FD9B-256C-40AB15D0AD3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1" t="4545" r="68780" b="3335"/>
          <a:stretch/>
        </p:blipFill>
        <p:spPr bwMode="auto">
          <a:xfrm>
            <a:off x="7937" y="4125"/>
            <a:ext cx="368300" cy="40116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292415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78F7C8-354E-4F2A-8234-DE180760CD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0D10E1-2BF3-41D1-8698-8FAD6110C2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198958-B1D7-4842-BAFF-2191942688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CS-201: Data Structures II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FBA6A7-670D-4A8E-A302-1B47C3B952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121A1F-7885-4E65-AB38-5CCB274F4E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0822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faisal.alvi@sse.habib.edu.pk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AF689-049A-5781-A66E-033ED88C0F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0551" y="1122363"/>
            <a:ext cx="11714922" cy="2387600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en-US" sz="2700" dirty="0"/>
              <a:t>CS 201: Data Structures II</a:t>
            </a:r>
            <a:br>
              <a:rPr lang="en-US" sz="2700" dirty="0"/>
            </a:br>
            <a:br>
              <a:rPr lang="en-US" sz="4900" dirty="0"/>
            </a:br>
            <a:r>
              <a:rPr lang="en-US" sz="4900" dirty="0"/>
              <a:t>Unit 01: </a:t>
            </a:r>
            <a:br>
              <a:rPr lang="en-US" sz="4900" dirty="0"/>
            </a:br>
            <a:r>
              <a:rPr lang="en-US" sz="4900" dirty="0"/>
              <a:t>Abstract Data Types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AD20C7-F1FC-0FDE-ABA7-47DA4A7A9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CS-201: Data Structures II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DC26B2-ABC0-0DDD-0A2C-573D9B13F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44E332-59FA-A702-3302-E9C13C7D4461}"/>
              </a:ext>
            </a:extLst>
          </p:cNvPr>
          <p:cNvSpPr txBox="1"/>
          <p:nvPr/>
        </p:nvSpPr>
        <p:spPr>
          <a:xfrm>
            <a:off x="477078" y="26504"/>
            <a:ext cx="117149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Habib University – Shaping Futures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829C37EA-5D66-A27C-EB91-FF555785C6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60355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latin typeface="Gill Sans MT"/>
              </a:rPr>
              <a:t>Faisal Alvi</a:t>
            </a:r>
          </a:p>
          <a:p>
            <a:endParaRPr lang="en-US" sz="2000" dirty="0">
              <a:latin typeface="Gill Sans MT"/>
            </a:endParaRPr>
          </a:p>
          <a:p>
            <a:endParaRPr lang="en-US" sz="2000" dirty="0">
              <a:latin typeface="Gill Sans MT"/>
            </a:endParaRPr>
          </a:p>
          <a:p>
            <a:endParaRPr lang="en-US" sz="2000" dirty="0">
              <a:latin typeface="Gill Sans MT"/>
            </a:endParaRPr>
          </a:p>
          <a:p>
            <a:endParaRPr lang="en-US" sz="2000" dirty="0">
              <a:latin typeface="Gill Sans MT"/>
            </a:endParaRPr>
          </a:p>
          <a:p>
            <a:r>
              <a:rPr lang="en-US" sz="1800" dirty="0">
                <a:latin typeface="Gill Sans MT"/>
              </a:rPr>
              <a:t>(For any suggested modifications please email: </a:t>
            </a:r>
            <a:r>
              <a:rPr lang="en-US" sz="1800" dirty="0">
                <a:latin typeface="Consolas" panose="020B0609020204030204" pitchFamily="49" charset="0"/>
                <a:hlinkClick r:id="rId2"/>
              </a:rPr>
              <a:t>faisal.alvi@sse.habib.edu.pk</a:t>
            </a:r>
            <a:r>
              <a:rPr lang="en-US" sz="1800" dirty="0">
                <a:latin typeface="Gill Sans MT"/>
              </a:rPr>
              <a:t>)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3393136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F3E23-B2FF-967B-635C-715BE842B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Unit 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088074-EB1B-1FEF-394D-487B31B954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6008" y="1825625"/>
            <a:ext cx="10597792" cy="4351338"/>
          </a:xfrm>
        </p:spPr>
        <p:txBody>
          <a:bodyPr>
            <a:noAutofit/>
          </a:bodyPr>
          <a:lstStyle/>
          <a:p>
            <a:pPr marL="514350" indent="-514350">
              <a:lnSpc>
                <a:spcPct val="100000"/>
              </a:lnSpc>
              <a:spcAft>
                <a:spcPts val="1200"/>
              </a:spcAft>
              <a:buAutoNum type="arabicPeriod"/>
            </a:pPr>
            <a:r>
              <a:rPr lang="en-US" sz="2400" dirty="0"/>
              <a:t>Introduction</a:t>
            </a:r>
          </a:p>
          <a:p>
            <a:pPr marL="514350" indent="-514350">
              <a:lnSpc>
                <a:spcPct val="100000"/>
              </a:lnSpc>
              <a:spcAft>
                <a:spcPts val="1200"/>
              </a:spcAft>
              <a:buAutoNum type="arabicPeriod"/>
            </a:pPr>
            <a:r>
              <a:rPr lang="en-US" sz="2400" dirty="0"/>
              <a:t>Abstract Data Types </a:t>
            </a:r>
          </a:p>
          <a:p>
            <a:pPr marL="514350" indent="-514350">
              <a:lnSpc>
                <a:spcPct val="100000"/>
              </a:lnSpc>
              <a:spcAft>
                <a:spcPts val="1200"/>
              </a:spcAft>
              <a:buAutoNum type="arabicPeriod"/>
            </a:pPr>
            <a:r>
              <a:rPr lang="en-US" sz="2400" dirty="0"/>
              <a:t>Mathematical Background (Results)</a:t>
            </a:r>
          </a:p>
          <a:p>
            <a:pPr marL="514350" indent="-514350">
              <a:lnSpc>
                <a:spcPct val="100000"/>
              </a:lnSpc>
              <a:spcAft>
                <a:spcPts val="1200"/>
              </a:spcAft>
              <a:buAutoNum type="arabicPeriod"/>
            </a:pPr>
            <a:r>
              <a:rPr lang="en-US" sz="2400" dirty="0"/>
              <a:t>Model of Computation</a:t>
            </a:r>
          </a:p>
          <a:p>
            <a:pPr marL="514350" indent="-514350">
              <a:lnSpc>
                <a:spcPct val="100000"/>
              </a:lnSpc>
              <a:spcAft>
                <a:spcPts val="1200"/>
              </a:spcAft>
              <a:buAutoNum type="arabicPeriod"/>
            </a:pPr>
            <a:r>
              <a:rPr lang="en-US" sz="2400" dirty="0"/>
              <a:t>Correctness, Time and Space Complexity</a:t>
            </a:r>
          </a:p>
          <a:p>
            <a:pPr marL="514350" indent="-514350">
              <a:lnSpc>
                <a:spcPct val="100000"/>
              </a:lnSpc>
              <a:spcAft>
                <a:spcPts val="1200"/>
              </a:spcAft>
              <a:buAutoNum type="arabicPeriod"/>
            </a:pPr>
            <a:r>
              <a:rPr lang="en-US" sz="2400" dirty="0"/>
              <a:t>Summary</a:t>
            </a:r>
          </a:p>
          <a:p>
            <a:pPr marL="514350" indent="-514350">
              <a:lnSpc>
                <a:spcPct val="100000"/>
              </a:lnSpc>
              <a:spcAft>
                <a:spcPts val="1200"/>
              </a:spcAft>
              <a:buAutoNum type="arabicPeriod"/>
            </a:pPr>
            <a:r>
              <a:rPr lang="en-US" sz="2400" dirty="0"/>
              <a:t>Exercises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79D961-DA95-BD15-156F-922172148E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CS-201: Data Structures II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41D456-772D-AD8C-9483-FAA0876AC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2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A4DB91-05F6-0FE7-1864-0C425E3898DF}"/>
              </a:ext>
            </a:extLst>
          </p:cNvPr>
          <p:cNvSpPr txBox="1"/>
          <p:nvPr/>
        </p:nvSpPr>
        <p:spPr>
          <a:xfrm>
            <a:off x="517585" y="0"/>
            <a:ext cx="11672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Introduction        ADTs        Math Background        Model of Computation        Correctness        Summary        Exercises</a:t>
            </a:r>
          </a:p>
        </p:txBody>
      </p:sp>
    </p:spTree>
    <p:extLst>
      <p:ext uri="{BB962C8B-B14F-4D97-AF65-F5344CB8AC3E}">
        <p14:creationId xmlns:p14="http://schemas.microsoft.com/office/powerpoint/2010/main" val="3043850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2D4EB-0393-AD3F-8930-A0F122A38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30D1E9-C770-26F9-CF23-2D6CFAA73D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400" dirty="0"/>
              <a:t>A data structure is a data </a:t>
            </a:r>
            <a:r>
              <a:rPr lang="en-US" sz="2400" dirty="0">
                <a:solidFill>
                  <a:srgbClr val="0070C0"/>
                </a:solidFill>
              </a:rPr>
              <a:t>organization</a:t>
            </a:r>
            <a:r>
              <a:rPr lang="en-US" sz="2400" dirty="0"/>
              <a:t>, </a:t>
            </a:r>
            <a:r>
              <a:rPr lang="en-US" sz="2400" dirty="0">
                <a:solidFill>
                  <a:srgbClr val="FF0000"/>
                </a:solidFill>
              </a:rPr>
              <a:t>management</a:t>
            </a:r>
            <a:r>
              <a:rPr lang="en-US" sz="2400" dirty="0"/>
              <a:t>, and </a:t>
            </a:r>
            <a:r>
              <a:rPr lang="en-US" sz="2400" dirty="0">
                <a:solidFill>
                  <a:srgbClr val="00B050"/>
                </a:solidFill>
              </a:rPr>
              <a:t>storage</a:t>
            </a:r>
            <a:r>
              <a:rPr lang="en-US" sz="2400" dirty="0"/>
              <a:t> format that is usually chosen for efficient access to data. </a:t>
            </a:r>
            <a:r>
              <a:rPr lang="en-US" sz="2000" dirty="0"/>
              <a:t>(CLRS Book: Introduction to Algorithms)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400" dirty="0"/>
          </a:p>
          <a:p>
            <a:pPr>
              <a:lnSpc>
                <a:spcPct val="100000"/>
              </a:lnSpc>
            </a:pPr>
            <a:r>
              <a:rPr lang="en-US" sz="2400" dirty="0"/>
              <a:t>Several important properties here: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Data Organization (Possible Example: A tree structure?)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Data Management (Possible Example: Operations on a data structure?)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Data Storage (Possible Example: A </a:t>
            </a:r>
            <a:r>
              <a:rPr lang="en-US" dirty="0" err="1"/>
              <a:t>hashtable</a:t>
            </a:r>
            <a:r>
              <a:rPr lang="en-US" dirty="0"/>
              <a:t>)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Efficient Access (Time Complexity, maybe?)</a:t>
            </a:r>
          </a:p>
          <a:p>
            <a:pPr lvl="1">
              <a:lnSpc>
                <a:spcPct val="100000"/>
              </a:lnSpc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D86965-27F6-9E8A-9BB0-250AE652B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CS-201: Data Structures II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E2B1BD-6324-79A2-7B9B-7D842D85C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3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3225C3-2FE0-0496-98BA-DC8E8D73C63A}"/>
              </a:ext>
            </a:extLst>
          </p:cNvPr>
          <p:cNvSpPr txBox="1"/>
          <p:nvPr/>
        </p:nvSpPr>
        <p:spPr>
          <a:xfrm>
            <a:off x="517585" y="0"/>
            <a:ext cx="11672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Introduction</a:t>
            </a:r>
            <a:r>
              <a:rPr lang="en-US" dirty="0"/>
              <a:t>        ADTs        Math Background        Model of Computation        Correctness        Summary        Exercises</a:t>
            </a:r>
          </a:p>
        </p:txBody>
      </p:sp>
    </p:spTree>
    <p:extLst>
      <p:ext uri="{BB962C8B-B14F-4D97-AF65-F5344CB8AC3E}">
        <p14:creationId xmlns:p14="http://schemas.microsoft.com/office/powerpoint/2010/main" val="3499739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2D4EB-0393-AD3F-8930-A0F122A38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Data Structures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30D1E9-C770-26F9-CF23-2D6CFAA73D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400" dirty="0"/>
              <a:t>We interact with data structures constantly. Some examples: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Open a file on your PC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Look up a contact on your phone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Login to your favorite social network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Do a web search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Emergency Services</a:t>
            </a:r>
          </a:p>
          <a:p>
            <a:pPr marL="457200" lvl="1" indent="0">
              <a:lnSpc>
                <a:spcPct val="100000"/>
              </a:lnSpc>
              <a:buNone/>
            </a:pPr>
            <a:endParaRPr lang="en-US" dirty="0"/>
          </a:p>
          <a:p>
            <a:pPr>
              <a:lnSpc>
                <a:spcPct val="100000"/>
              </a:lnSpc>
            </a:pPr>
            <a:r>
              <a:rPr lang="en-US" sz="2400" dirty="0"/>
              <a:t>In several of these applications, efficiency is important – accessing a contact in your phone. In some others, it is </a:t>
            </a:r>
            <a:r>
              <a:rPr lang="en-US" sz="2400" i="1" dirty="0"/>
              <a:t>critical </a:t>
            </a:r>
            <a:r>
              <a:rPr lang="en-US" sz="2400" dirty="0"/>
              <a:t>such as an emergency.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D86965-27F6-9E8A-9BB0-250AE652B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CS-201: Data Structures II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E2B1BD-6324-79A2-7B9B-7D842D85C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4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3225C3-2FE0-0496-98BA-DC8E8D73C63A}"/>
              </a:ext>
            </a:extLst>
          </p:cNvPr>
          <p:cNvSpPr txBox="1"/>
          <p:nvPr/>
        </p:nvSpPr>
        <p:spPr>
          <a:xfrm>
            <a:off x="517585" y="0"/>
            <a:ext cx="11672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Introduction</a:t>
            </a:r>
            <a:r>
              <a:rPr lang="en-US" dirty="0"/>
              <a:t>        ADTs        Math Background        Model of Computation        Correctness        Summary        Exercises</a:t>
            </a:r>
          </a:p>
        </p:txBody>
      </p:sp>
    </p:spTree>
    <p:extLst>
      <p:ext uri="{BB962C8B-B14F-4D97-AF65-F5344CB8AC3E}">
        <p14:creationId xmlns:p14="http://schemas.microsoft.com/office/powerpoint/2010/main" val="214677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F058D-4941-79C2-B036-F70DCAC90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Efficiency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D1EE61-4BE5-3B83-EB42-FFE5AC95FD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2400" dirty="0"/>
              <a:t>Consider a linear implementation of data (i.e. a list). Suppose that we have a list of one million (10</a:t>
            </a:r>
            <a:r>
              <a:rPr lang="en-US" sz="2400" baseline="30000" dirty="0"/>
              <a:t>6</a:t>
            </a:r>
            <a:r>
              <a:rPr lang="en-US" sz="2400" dirty="0"/>
              <a:t>) items. </a:t>
            </a:r>
          </a:p>
          <a:p>
            <a:pPr>
              <a:lnSpc>
                <a:spcPct val="110000"/>
              </a:lnSpc>
            </a:pPr>
            <a:r>
              <a:rPr lang="en-US" sz="2400" dirty="0"/>
              <a:t>Consider an application which has to access each of these 10</a:t>
            </a:r>
            <a:r>
              <a:rPr lang="en-US" sz="2400" baseline="30000" dirty="0"/>
              <a:t>6</a:t>
            </a:r>
            <a:r>
              <a:rPr lang="en-US" sz="2400" baseline="-25000" dirty="0"/>
              <a:t> </a:t>
            </a:r>
            <a:r>
              <a:rPr lang="en-US" sz="2400" dirty="0"/>
              <a:t>items at least once. </a:t>
            </a:r>
          </a:p>
          <a:p>
            <a:pPr>
              <a:lnSpc>
                <a:spcPct val="110000"/>
              </a:lnSpc>
            </a:pPr>
            <a:r>
              <a:rPr lang="en-US" sz="2400" dirty="0"/>
              <a:t>If we have to scan the entire list to find each data item, then the total number of accesses will be 10</a:t>
            </a:r>
            <a:r>
              <a:rPr lang="en-US" sz="2400" baseline="30000" dirty="0"/>
              <a:t>6</a:t>
            </a:r>
            <a:r>
              <a:rPr lang="en-US" sz="2400" dirty="0"/>
              <a:t> x 10</a:t>
            </a:r>
            <a:r>
              <a:rPr lang="en-US" sz="2400" baseline="30000" dirty="0"/>
              <a:t>6</a:t>
            </a:r>
            <a:r>
              <a:rPr lang="en-US" sz="2400" dirty="0"/>
              <a:t> = 10</a:t>
            </a:r>
            <a:r>
              <a:rPr lang="en-US" sz="2400" baseline="30000" dirty="0"/>
              <a:t>12</a:t>
            </a:r>
            <a:r>
              <a:rPr lang="en-US" sz="2400" dirty="0"/>
              <a:t> </a:t>
            </a:r>
          </a:p>
          <a:p>
            <a:pPr>
              <a:lnSpc>
                <a:spcPct val="110000"/>
              </a:lnSpc>
            </a:pPr>
            <a:r>
              <a:rPr lang="en-US" sz="2400" dirty="0"/>
              <a:t>With today’s computers performing </a:t>
            </a:r>
            <a:r>
              <a:rPr lang="en-US" sz="2400" dirty="0">
                <a:sym typeface="Symbol" panose="05050102010706020507" pitchFamily="18" charset="2"/>
              </a:rPr>
              <a:t>~ 10</a:t>
            </a:r>
            <a:r>
              <a:rPr lang="en-US" sz="2400" baseline="30000" dirty="0">
                <a:sym typeface="Symbol" panose="05050102010706020507" pitchFamily="18" charset="2"/>
              </a:rPr>
              <a:t>9</a:t>
            </a:r>
            <a:r>
              <a:rPr lang="en-US" sz="2400" dirty="0">
                <a:sym typeface="Symbol" panose="05050102010706020507" pitchFamily="18" charset="2"/>
              </a:rPr>
              <a:t> operations per second, it will take approximately 10</a:t>
            </a:r>
            <a:r>
              <a:rPr lang="en-US" sz="2400" baseline="30000" dirty="0">
                <a:sym typeface="Symbol" panose="05050102010706020507" pitchFamily="18" charset="2"/>
              </a:rPr>
              <a:t>12</a:t>
            </a:r>
            <a:r>
              <a:rPr lang="en-US" sz="2400" dirty="0">
                <a:sym typeface="Symbol" panose="05050102010706020507" pitchFamily="18" charset="2"/>
              </a:rPr>
              <a:t> / 10</a:t>
            </a:r>
            <a:r>
              <a:rPr lang="en-US" sz="2400" baseline="30000" dirty="0">
                <a:sym typeface="Symbol" panose="05050102010706020507" pitchFamily="18" charset="2"/>
              </a:rPr>
              <a:t>9</a:t>
            </a:r>
            <a:r>
              <a:rPr lang="en-US" sz="2400" dirty="0">
                <a:sym typeface="Symbol" panose="05050102010706020507" pitchFamily="18" charset="2"/>
              </a:rPr>
              <a:t> = 10</a:t>
            </a:r>
            <a:r>
              <a:rPr lang="en-US" sz="2400" baseline="30000" dirty="0">
                <a:sym typeface="Symbol" panose="05050102010706020507" pitchFamily="18" charset="2"/>
              </a:rPr>
              <a:t>3</a:t>
            </a:r>
            <a:r>
              <a:rPr lang="en-US" sz="2400" dirty="0">
                <a:sym typeface="Symbol" panose="05050102010706020507" pitchFamily="18" charset="2"/>
              </a:rPr>
              <a:t> = 1000 seconds = 16 min 40 seconds to complete the entire operation. </a:t>
            </a:r>
          </a:p>
          <a:p>
            <a:pPr>
              <a:lnSpc>
                <a:spcPct val="110000"/>
              </a:lnSpc>
            </a:pPr>
            <a:r>
              <a:rPr lang="en-US" sz="2400" dirty="0">
                <a:sym typeface="Symbol" panose="05050102010706020507" pitchFamily="18" charset="2"/>
              </a:rPr>
              <a:t>Clearly, there is a need for an efficient data structure for this application.</a:t>
            </a:r>
            <a:endParaRPr lang="en-US" sz="2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3D3E2D-ECD0-809A-0C97-3980AA5C7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CS-201: Data Structures II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AC2489-5E9D-374D-5B36-89107EA93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5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2514D35-3A66-578F-ADD0-219E66C17B8B}"/>
              </a:ext>
            </a:extLst>
          </p:cNvPr>
          <p:cNvSpPr txBox="1"/>
          <p:nvPr/>
        </p:nvSpPr>
        <p:spPr>
          <a:xfrm>
            <a:off x="517585" y="0"/>
            <a:ext cx="11672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Introduction</a:t>
            </a:r>
            <a:r>
              <a:rPr lang="en-US" dirty="0"/>
              <a:t>        ADTs        Math Background        Model of Computation        Correctness        Summary        Exercises</a:t>
            </a:r>
          </a:p>
        </p:txBody>
      </p:sp>
    </p:spTree>
    <p:extLst>
      <p:ext uri="{BB962C8B-B14F-4D97-AF65-F5344CB8AC3E}">
        <p14:creationId xmlns:p14="http://schemas.microsoft.com/office/powerpoint/2010/main" val="2377273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F058D-4941-79C2-B036-F70DCAC90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Efficiency: Case Study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D1EE61-4BE5-3B83-EB42-FFE5AC95FD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400" dirty="0"/>
              <a:t>With billions of webpages, Google Search works within fractions of a second.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Furthermore, Google’s (and Bing’s) autocomplete feature gives predictions.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How does this autocomplete work, more specifically at the level of data structures?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The class can work in groups, with each group discussing their findings.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3D3E2D-ECD0-809A-0C97-3980AA5C7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CS-201: Data Structures II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AC2489-5E9D-374D-5B36-89107EA93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6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2514D35-3A66-578F-ADD0-219E66C17B8B}"/>
              </a:ext>
            </a:extLst>
          </p:cNvPr>
          <p:cNvSpPr txBox="1"/>
          <p:nvPr/>
        </p:nvSpPr>
        <p:spPr>
          <a:xfrm>
            <a:off x="517585" y="0"/>
            <a:ext cx="11672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Introduction</a:t>
            </a:r>
            <a:r>
              <a:rPr lang="en-US" dirty="0"/>
              <a:t>        ADTs        Math Background        Model of Computation        Correctness        Summary        Exercises</a:t>
            </a:r>
          </a:p>
        </p:txBody>
      </p:sp>
    </p:spTree>
    <p:extLst>
      <p:ext uri="{BB962C8B-B14F-4D97-AF65-F5344CB8AC3E}">
        <p14:creationId xmlns:p14="http://schemas.microsoft.com/office/powerpoint/2010/main" val="3737702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77365-6A93-BE3F-F7B4-617AFBF6C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Abstract Data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9E83B8-75BD-A1C4-ED44-85579B6516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In Object Oriented Programming, a typical class consists of both the data and </a:t>
            </a:r>
            <a:r>
              <a:rPr lang="en-US" sz="2400"/>
              <a:t>the operations </a:t>
            </a:r>
            <a:r>
              <a:rPr lang="en-US" sz="2400" dirty="0"/>
              <a:t>that can be performed on that data.</a:t>
            </a:r>
          </a:p>
          <a:p>
            <a:r>
              <a:rPr lang="en-US" sz="2400" dirty="0"/>
              <a:t>Objects from the class are instantiated which are actual instances of the class.</a:t>
            </a: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EE42BE-6E12-AF63-0A32-BE2BD4BCE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CS-201: Data Structures II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35AABD-B535-8FF2-AF02-53467E969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7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D2B6C3-A1FE-EF45-07E2-0A96B859183B}"/>
              </a:ext>
            </a:extLst>
          </p:cNvPr>
          <p:cNvSpPr txBox="1"/>
          <p:nvPr/>
        </p:nvSpPr>
        <p:spPr>
          <a:xfrm>
            <a:off x="517585" y="0"/>
            <a:ext cx="11672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Introduction</a:t>
            </a:r>
            <a:r>
              <a:rPr lang="en-US" dirty="0"/>
              <a:t>        </a:t>
            </a:r>
            <a:r>
              <a:rPr lang="en-US" b="1" dirty="0">
                <a:solidFill>
                  <a:schemeClr val="bg1"/>
                </a:solidFill>
              </a:rPr>
              <a:t>ADTs</a:t>
            </a:r>
            <a:r>
              <a:rPr lang="en-US" dirty="0"/>
              <a:t>        Math Background        Model of Computation        Correctness        Summary        Exercises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C6750A6-0B18-5F03-0761-D39972D04D2B}"/>
              </a:ext>
            </a:extLst>
          </p:cNvPr>
          <p:cNvGrpSpPr/>
          <p:nvPr/>
        </p:nvGrpSpPr>
        <p:grpSpPr>
          <a:xfrm>
            <a:off x="3584578" y="3288566"/>
            <a:ext cx="5730211" cy="2991031"/>
            <a:chOff x="1066800" y="2752188"/>
            <a:chExt cx="6959600" cy="38862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B485351-2134-4AF6-C82A-AF7271CDD9F3}"/>
                </a:ext>
              </a:extLst>
            </p:cNvPr>
            <p:cNvSpPr/>
            <p:nvPr/>
          </p:nvSpPr>
          <p:spPr>
            <a:xfrm>
              <a:off x="1143000" y="3056988"/>
              <a:ext cx="2787822" cy="2362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dirty="0"/>
                <a:t>Functions/Methods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D005B8E-902A-265B-5370-3871C1755B95}"/>
                </a:ext>
              </a:extLst>
            </p:cNvPr>
            <p:cNvSpPr/>
            <p:nvPr/>
          </p:nvSpPr>
          <p:spPr>
            <a:xfrm>
              <a:off x="1143002" y="5495388"/>
              <a:ext cx="2787822" cy="60960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dirty="0"/>
                <a:t>Data/Fields/Attributes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46CE94E-0E8B-CB03-D264-5D1C2703338D}"/>
                </a:ext>
              </a:extLst>
            </p:cNvPr>
            <p:cNvSpPr/>
            <p:nvPr/>
          </p:nvSpPr>
          <p:spPr>
            <a:xfrm>
              <a:off x="1066800" y="2867978"/>
              <a:ext cx="2997200" cy="331321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B8CE2F25-E360-3BCD-6269-0C545EF00FD4}"/>
                </a:ext>
              </a:extLst>
            </p:cNvPr>
            <p:cNvGrpSpPr/>
            <p:nvPr/>
          </p:nvGrpSpPr>
          <p:grpSpPr>
            <a:xfrm>
              <a:off x="5029200" y="2752188"/>
              <a:ext cx="1016000" cy="1219200"/>
              <a:chOff x="4419600" y="1600200"/>
              <a:chExt cx="1016000" cy="1219200"/>
            </a:xfrm>
          </p:grpSpPr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97579E66-FFCE-E613-46F1-CCF1F1B018AE}"/>
                  </a:ext>
                </a:extLst>
              </p:cNvPr>
              <p:cNvGrpSpPr/>
              <p:nvPr/>
            </p:nvGrpSpPr>
            <p:grpSpPr>
              <a:xfrm>
                <a:off x="4419600" y="1600200"/>
                <a:ext cx="1016000" cy="1219200"/>
                <a:chOff x="4419600" y="1600200"/>
                <a:chExt cx="2667000" cy="3200400"/>
              </a:xfrm>
            </p:grpSpPr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0012C8BA-AAEC-D941-3526-F6247C70C9A1}"/>
                    </a:ext>
                  </a:extLst>
                </p:cNvPr>
                <p:cNvSpPr/>
                <p:nvPr/>
              </p:nvSpPr>
              <p:spPr>
                <a:xfrm>
                  <a:off x="4495801" y="4114800"/>
                  <a:ext cx="2514600" cy="609601"/>
                </a:xfrm>
                <a:prstGeom prst="rect">
                  <a:avLst/>
                </a:prstGeom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/>
                </a:p>
              </p:txBody>
            </p:sp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5A9EA6DA-70C1-21AC-A8C8-D31F09270177}"/>
                    </a:ext>
                  </a:extLst>
                </p:cNvPr>
                <p:cNvSpPr/>
                <p:nvPr/>
              </p:nvSpPr>
              <p:spPr>
                <a:xfrm>
                  <a:off x="4419600" y="1600200"/>
                  <a:ext cx="2667000" cy="3200400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/>
                </a:p>
              </p:txBody>
            </p:sp>
          </p:grp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1E90E096-08AA-9389-37A6-49961C4D7F11}"/>
                  </a:ext>
                </a:extLst>
              </p:cNvPr>
              <p:cNvSpPr/>
              <p:nvPr/>
            </p:nvSpPr>
            <p:spPr>
              <a:xfrm>
                <a:off x="4495800" y="1663700"/>
                <a:ext cx="854075" cy="8382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2F1595D9-E05C-9A3F-039C-68BBDBB2E8EE}"/>
                </a:ext>
              </a:extLst>
            </p:cNvPr>
            <p:cNvGrpSpPr/>
            <p:nvPr/>
          </p:nvGrpSpPr>
          <p:grpSpPr>
            <a:xfrm>
              <a:off x="7010400" y="3666588"/>
              <a:ext cx="1016000" cy="1219200"/>
              <a:chOff x="4419600" y="1600200"/>
              <a:chExt cx="1016000" cy="1219200"/>
            </a:xfrm>
          </p:grpSpPr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361669A3-C563-0B9A-E249-E60BB59C85A5}"/>
                  </a:ext>
                </a:extLst>
              </p:cNvPr>
              <p:cNvGrpSpPr/>
              <p:nvPr/>
            </p:nvGrpSpPr>
            <p:grpSpPr>
              <a:xfrm>
                <a:off x="4419600" y="1600200"/>
                <a:ext cx="1016000" cy="1219200"/>
                <a:chOff x="4419600" y="1600200"/>
                <a:chExt cx="2667000" cy="3200400"/>
              </a:xfrm>
            </p:grpSpPr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6C86FB97-53A1-63E6-046A-FF797EFA16C1}"/>
                    </a:ext>
                  </a:extLst>
                </p:cNvPr>
                <p:cNvSpPr/>
                <p:nvPr/>
              </p:nvSpPr>
              <p:spPr>
                <a:xfrm>
                  <a:off x="4495801" y="4114800"/>
                  <a:ext cx="2514600" cy="609601"/>
                </a:xfrm>
                <a:prstGeom prst="rect">
                  <a:avLst/>
                </a:prstGeom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/>
                </a:p>
              </p:txBody>
            </p:sp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F324DD4F-978C-2B7D-B36D-743BF1DE97FF}"/>
                    </a:ext>
                  </a:extLst>
                </p:cNvPr>
                <p:cNvSpPr/>
                <p:nvPr/>
              </p:nvSpPr>
              <p:spPr>
                <a:xfrm>
                  <a:off x="4419600" y="1600200"/>
                  <a:ext cx="2667000" cy="3200400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/>
                </a:p>
              </p:txBody>
            </p:sp>
          </p:grp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C1F9DDE7-FB66-B464-8EF9-AB0F40EA5C7F}"/>
                  </a:ext>
                </a:extLst>
              </p:cNvPr>
              <p:cNvSpPr/>
              <p:nvPr/>
            </p:nvSpPr>
            <p:spPr>
              <a:xfrm>
                <a:off x="4495800" y="1663700"/>
                <a:ext cx="854075" cy="8382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A1F71D76-CBEF-D1EA-5D34-61CE4C8AD8C8}"/>
                </a:ext>
              </a:extLst>
            </p:cNvPr>
            <p:cNvGrpSpPr/>
            <p:nvPr/>
          </p:nvGrpSpPr>
          <p:grpSpPr>
            <a:xfrm>
              <a:off x="5181600" y="4580988"/>
              <a:ext cx="1016000" cy="1219200"/>
              <a:chOff x="4419600" y="1600200"/>
              <a:chExt cx="1016000" cy="1219200"/>
            </a:xfrm>
          </p:grpSpPr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5219E50F-58F7-AF90-4735-40960314270B}"/>
                  </a:ext>
                </a:extLst>
              </p:cNvPr>
              <p:cNvGrpSpPr/>
              <p:nvPr/>
            </p:nvGrpSpPr>
            <p:grpSpPr>
              <a:xfrm>
                <a:off x="4419600" y="1600200"/>
                <a:ext cx="1016000" cy="1219200"/>
                <a:chOff x="4419600" y="1600200"/>
                <a:chExt cx="2667000" cy="3200400"/>
              </a:xfrm>
            </p:grpSpPr>
            <p:sp>
              <p:nvSpPr>
                <p:cNvPr id="21" name="Rectangle 20">
                  <a:extLst>
                    <a:ext uri="{FF2B5EF4-FFF2-40B4-BE49-F238E27FC236}">
                      <a16:creationId xmlns:a16="http://schemas.microsoft.com/office/drawing/2014/main" id="{6AD067F5-6AC0-532B-C25D-03AEC1C1A149}"/>
                    </a:ext>
                  </a:extLst>
                </p:cNvPr>
                <p:cNvSpPr/>
                <p:nvPr/>
              </p:nvSpPr>
              <p:spPr>
                <a:xfrm>
                  <a:off x="4495801" y="4114800"/>
                  <a:ext cx="2514600" cy="609601"/>
                </a:xfrm>
                <a:prstGeom prst="rect">
                  <a:avLst/>
                </a:prstGeom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/>
                </a:p>
              </p:txBody>
            </p:sp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4D6EC780-F8CB-9056-3B03-13E64D3D613F}"/>
                    </a:ext>
                  </a:extLst>
                </p:cNvPr>
                <p:cNvSpPr/>
                <p:nvPr/>
              </p:nvSpPr>
              <p:spPr>
                <a:xfrm>
                  <a:off x="4419600" y="1600200"/>
                  <a:ext cx="2667000" cy="3200400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/>
                </a:p>
              </p:txBody>
            </p:sp>
          </p:grp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3761047C-0A87-0A20-CCD1-309A05AA8E71}"/>
                  </a:ext>
                </a:extLst>
              </p:cNvPr>
              <p:cNvSpPr/>
              <p:nvPr/>
            </p:nvSpPr>
            <p:spPr>
              <a:xfrm>
                <a:off x="4495800" y="1663700"/>
                <a:ext cx="854075" cy="8382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/>
              </a:p>
            </p:txBody>
          </p:sp>
        </p:grp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76457DFB-5371-D642-B2C5-00CF15660063}"/>
                </a:ext>
              </a:extLst>
            </p:cNvPr>
            <p:cNvCxnSpPr/>
            <p:nvPr/>
          </p:nvCxnSpPr>
          <p:spPr>
            <a:xfrm flipH="1">
              <a:off x="3959851" y="3285588"/>
              <a:ext cx="1602751" cy="656771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529DC6F6-4361-B7C3-45D7-560F814DFBA1}"/>
                </a:ext>
              </a:extLst>
            </p:cNvPr>
            <p:cNvCxnSpPr/>
            <p:nvPr/>
          </p:nvCxnSpPr>
          <p:spPr>
            <a:xfrm rot="10800000" flipV="1">
              <a:off x="3930823" y="4189129"/>
              <a:ext cx="3886200" cy="381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640965EC-550F-6AE3-D9CB-2AD6C3406246}"/>
                </a:ext>
              </a:extLst>
            </p:cNvPr>
            <p:cNvCxnSpPr/>
            <p:nvPr/>
          </p:nvCxnSpPr>
          <p:spPr>
            <a:xfrm flipH="1" flipV="1">
              <a:off x="3930822" y="4624531"/>
              <a:ext cx="1784181" cy="48985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1">
              <a:extLst>
                <a:ext uri="{FF2B5EF4-FFF2-40B4-BE49-F238E27FC236}">
                  <a16:creationId xmlns:a16="http://schemas.microsoft.com/office/drawing/2014/main" id="{42B9117C-50B7-E86E-267D-6AE744FE42DD}"/>
                </a:ext>
              </a:extLst>
            </p:cNvPr>
            <p:cNvSpPr txBox="1"/>
            <p:nvPr/>
          </p:nvSpPr>
          <p:spPr>
            <a:xfrm>
              <a:off x="1143000" y="6257388"/>
              <a:ext cx="2514600" cy="381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dirty="0"/>
                <a:t>Class</a:t>
              </a:r>
            </a:p>
          </p:txBody>
        </p:sp>
        <p:sp>
          <p:nvSpPr>
            <p:cNvPr id="18" name="TextBox 12">
              <a:extLst>
                <a:ext uri="{FF2B5EF4-FFF2-40B4-BE49-F238E27FC236}">
                  <a16:creationId xmlns:a16="http://schemas.microsoft.com/office/drawing/2014/main" id="{EEB5B2D4-2142-B0B8-6734-292C442AD9AE}"/>
                </a:ext>
              </a:extLst>
            </p:cNvPr>
            <p:cNvSpPr txBox="1"/>
            <p:nvPr/>
          </p:nvSpPr>
          <p:spPr>
            <a:xfrm>
              <a:off x="4953000" y="6181188"/>
              <a:ext cx="2514600" cy="381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dirty="0"/>
                <a:t>Objects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4867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CCCAEC-09F6-3F3B-291A-CA2D157BF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Abstract Data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63D42B-C1EB-F1A5-29E6-C6808007EE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854570" cy="435133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400" dirty="0"/>
              <a:t>An abstract data type (ADT) represents a data type along with the operations associated with that data type.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The implementation details are hidden from the users.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Users can interact with the data using the specified operations only.</a:t>
            </a:r>
          </a:p>
          <a:p>
            <a:pPr>
              <a:lnSpc>
                <a:spcPct val="100000"/>
              </a:lnSpc>
            </a:pPr>
            <a:endParaRPr lang="en-US" sz="2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E75653-8DF4-A133-DC29-9D128CFFBA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CS-201: Data Structures II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83FCD9-4926-A8FC-0622-A2C0AA2EA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8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4C0E77-DB1A-F728-42EC-09D8671F3B9D}"/>
              </a:ext>
            </a:extLst>
          </p:cNvPr>
          <p:cNvSpPr txBox="1"/>
          <p:nvPr/>
        </p:nvSpPr>
        <p:spPr>
          <a:xfrm>
            <a:off x="517585" y="0"/>
            <a:ext cx="11672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Introduction</a:t>
            </a:r>
            <a:r>
              <a:rPr lang="en-US" dirty="0"/>
              <a:t>        </a:t>
            </a:r>
            <a:r>
              <a:rPr lang="en-US" b="1" dirty="0">
                <a:solidFill>
                  <a:schemeClr val="bg1"/>
                </a:solidFill>
              </a:rPr>
              <a:t>ADTs</a:t>
            </a:r>
            <a:r>
              <a:rPr lang="en-US" dirty="0"/>
              <a:t>        Math Background        Model of Computation        Correctness        Summary        Exercises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64836ED-8CBA-9033-957C-CCBDBCAC34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9931" y="1825625"/>
            <a:ext cx="6448425" cy="4457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41138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35E0D-6EF8-94EB-02B6-656D593A2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Abstract Data Types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C5C584-F039-FEE6-2B11-EB205DD926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5257800" cy="4622007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10000"/>
              </a:lnSpc>
            </a:pPr>
            <a:r>
              <a:rPr lang="en-US" sz="2400" dirty="0"/>
              <a:t>ADT represents the interface to the data structure or type.</a:t>
            </a:r>
          </a:p>
          <a:p>
            <a:pPr>
              <a:lnSpc>
                <a:spcPct val="110000"/>
              </a:lnSpc>
            </a:pPr>
            <a:r>
              <a:rPr lang="en-US" sz="2400" dirty="0"/>
              <a:t>Interface tells </a:t>
            </a:r>
            <a:r>
              <a:rPr lang="en-US" sz="2400" b="1" dirty="0"/>
              <a:t>what</a:t>
            </a:r>
            <a:r>
              <a:rPr lang="en-US" sz="2400" dirty="0"/>
              <a:t> needs to be done.</a:t>
            </a:r>
          </a:p>
          <a:p>
            <a:pPr>
              <a:lnSpc>
                <a:spcPct val="110000"/>
              </a:lnSpc>
            </a:pPr>
            <a:r>
              <a:rPr lang="en-US" sz="2400" dirty="0"/>
              <a:t>Mechanism tells </a:t>
            </a:r>
            <a:r>
              <a:rPr lang="en-US" sz="2400" b="1" dirty="0"/>
              <a:t>how</a:t>
            </a:r>
            <a:r>
              <a:rPr lang="en-US" sz="2400" dirty="0"/>
              <a:t> it will be done.</a:t>
            </a:r>
          </a:p>
          <a:p>
            <a:pPr>
              <a:lnSpc>
                <a:spcPct val="110000"/>
              </a:lnSpc>
            </a:pPr>
            <a:r>
              <a:rPr lang="en-US" sz="2400" dirty="0"/>
              <a:t>Its important to separate the interface from the mechanism/implementation</a:t>
            </a:r>
          </a:p>
          <a:p>
            <a:pPr>
              <a:lnSpc>
                <a:spcPct val="110000"/>
              </a:lnSpc>
            </a:pPr>
            <a:r>
              <a:rPr lang="en-US" sz="2400" dirty="0"/>
              <a:t>It helps update the definition while keeping the same interface.</a:t>
            </a:r>
          </a:p>
          <a:p>
            <a:pPr>
              <a:lnSpc>
                <a:spcPct val="110000"/>
              </a:lnSpc>
            </a:pPr>
            <a:r>
              <a:rPr lang="en-US" sz="2400" dirty="0"/>
              <a:t>Users of the ADT can get a new (improved) implementation but use the same interface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A93EE8-3AE0-761D-9B9D-A5D546337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CS-201: Data Structures II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1AC9FE-FEFF-ECF2-969B-687E3E8FC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9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F6F790-F4E3-7151-B559-E07A2A967EDA}"/>
              </a:ext>
            </a:extLst>
          </p:cNvPr>
          <p:cNvSpPr txBox="1"/>
          <p:nvPr/>
        </p:nvSpPr>
        <p:spPr>
          <a:xfrm>
            <a:off x="517585" y="0"/>
            <a:ext cx="11672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Introduction        </a:t>
            </a:r>
            <a:r>
              <a:rPr lang="en-US" b="1" dirty="0">
                <a:solidFill>
                  <a:schemeClr val="bg1"/>
                </a:solidFill>
              </a:rPr>
              <a:t>ADTs</a:t>
            </a:r>
            <a:r>
              <a:rPr lang="en-US" dirty="0"/>
              <a:t>        Math Background        Model of Computation        Correctness        Summary        Exercises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CFF9A5AA-B8FA-FCA8-108F-BE4411C89E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3428" y="2024033"/>
            <a:ext cx="5647276" cy="3833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6153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35E0D-6EF8-94EB-02B6-656D593A2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Abstract Data Types – Queue, Stack, Deque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C5C584-F039-FEE6-2B11-EB205DD926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622007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2400" dirty="0"/>
              <a:t>Here we present three abstract data types: queue, stack and deque.</a:t>
            </a:r>
          </a:p>
          <a:p>
            <a:pPr>
              <a:lnSpc>
                <a:spcPct val="110000"/>
              </a:lnSpc>
            </a:pPr>
            <a:r>
              <a:rPr lang="en-US" sz="2400" dirty="0"/>
              <a:t>In terms of ADTs we list their operations only.</a:t>
            </a:r>
          </a:p>
          <a:p>
            <a:pPr>
              <a:lnSpc>
                <a:spcPct val="110000"/>
              </a:lnSpc>
            </a:pPr>
            <a:r>
              <a:rPr lang="en-US" sz="2400" dirty="0"/>
              <a:t>These ADTs can be defined in terms of the </a:t>
            </a:r>
            <a:r>
              <a:rPr lang="en-US" sz="2400" i="1" dirty="0"/>
              <a:t>List</a:t>
            </a:r>
            <a:r>
              <a:rPr lang="en-US" sz="2400" dirty="0"/>
              <a:t> interface (or ADT) which represents a more generic linear data structure.</a:t>
            </a:r>
          </a:p>
          <a:p>
            <a:pPr>
              <a:lnSpc>
                <a:spcPct val="110000"/>
              </a:lnSpc>
            </a:pPr>
            <a:r>
              <a:rPr lang="en-US" sz="2400" dirty="0"/>
              <a:t>A Queue can be considered as a FIFO (first-in first-out) data structure.</a:t>
            </a:r>
          </a:p>
          <a:p>
            <a:pPr>
              <a:lnSpc>
                <a:spcPct val="110000"/>
              </a:lnSpc>
            </a:pPr>
            <a:r>
              <a:rPr lang="en-US" sz="2400" dirty="0"/>
              <a:t>A Stack can be considered as a LIFO (last-in first-out) data structure.</a:t>
            </a:r>
          </a:p>
          <a:p>
            <a:pPr>
              <a:lnSpc>
                <a:spcPct val="110000"/>
              </a:lnSpc>
            </a:pPr>
            <a:r>
              <a:rPr lang="en-US" sz="2400" dirty="0"/>
              <a:t>A Deque is a generalization of both Stacks and Queues.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A93EE8-3AE0-761D-9B9D-A5D546337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CS-201: Data Structures II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1AC9FE-FEFF-ECF2-969B-687E3E8FC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10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F6F790-F4E3-7151-B559-E07A2A967EDA}"/>
              </a:ext>
            </a:extLst>
          </p:cNvPr>
          <p:cNvSpPr txBox="1"/>
          <p:nvPr/>
        </p:nvSpPr>
        <p:spPr>
          <a:xfrm>
            <a:off x="517585" y="0"/>
            <a:ext cx="11672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Introduction        </a:t>
            </a:r>
            <a:r>
              <a:rPr lang="en-US" b="1" dirty="0">
                <a:solidFill>
                  <a:schemeClr val="bg1"/>
                </a:solidFill>
              </a:rPr>
              <a:t>ADTs</a:t>
            </a:r>
            <a:r>
              <a:rPr lang="en-US" dirty="0"/>
              <a:t>        Math Background        Model of Computation        Correctness        Summary        Exercises</a:t>
            </a:r>
          </a:p>
        </p:txBody>
      </p:sp>
    </p:spTree>
    <p:extLst>
      <p:ext uri="{BB962C8B-B14F-4D97-AF65-F5344CB8AC3E}">
        <p14:creationId xmlns:p14="http://schemas.microsoft.com/office/powerpoint/2010/main" val="2829283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35E0D-6EF8-94EB-02B6-656D593A2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 ADTs – Queue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C5C584-F039-FEE6-2B11-EB205DD926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622007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2400" dirty="0"/>
              <a:t>A queue is similar to a queue (or line-up) at a cash register in a grocery store. </a:t>
            </a:r>
          </a:p>
          <a:p>
            <a:pPr>
              <a:lnSpc>
                <a:spcPct val="110000"/>
              </a:lnSpc>
            </a:pPr>
            <a:r>
              <a:rPr lang="en-US" sz="2400" dirty="0"/>
              <a:t>This is the most common kind of Queue so the qualifier FIFO is used.</a:t>
            </a:r>
          </a:p>
          <a:p>
            <a:pPr>
              <a:lnSpc>
                <a:spcPct val="110000"/>
              </a:lnSpc>
            </a:pPr>
            <a:r>
              <a:rPr lang="en-US" sz="2400" dirty="0"/>
              <a:t>Operations supported by a queue are </a:t>
            </a:r>
          </a:p>
          <a:p>
            <a:pPr lvl="1">
              <a:lnSpc>
                <a:spcPct val="110000"/>
              </a:lnSpc>
            </a:pPr>
            <a:r>
              <a:rPr lang="en-US" sz="2000" dirty="0">
                <a:latin typeface="Consolas" panose="020B0609020204030204" pitchFamily="49" charset="0"/>
              </a:rPr>
              <a:t>add(item)</a:t>
            </a:r>
          </a:p>
          <a:p>
            <a:pPr lvl="1">
              <a:lnSpc>
                <a:spcPct val="110000"/>
              </a:lnSpc>
            </a:pPr>
            <a:r>
              <a:rPr lang="en-US" sz="2000" dirty="0">
                <a:latin typeface="Consolas" panose="020B0609020204030204" pitchFamily="49" charset="0"/>
              </a:rPr>
              <a:t>remove()</a:t>
            </a:r>
          </a:p>
          <a:p>
            <a:pPr>
              <a:lnSpc>
                <a:spcPct val="110000"/>
              </a:lnSpc>
            </a:pPr>
            <a:r>
              <a:rPr lang="en-US" sz="2400" dirty="0"/>
              <a:t>Items are removed in the same order they were added.</a:t>
            </a:r>
          </a:p>
          <a:p>
            <a:pPr>
              <a:lnSpc>
                <a:spcPct val="110000"/>
              </a:lnSpc>
            </a:pPr>
            <a:r>
              <a:rPr lang="en-US" sz="2400" dirty="0"/>
              <a:t>In other texts, the add(item) and remove() operations on a FIFO Queue are often called enqueue(x) and dequeue(), respectively.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A93EE8-3AE0-761D-9B9D-A5D546337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CS-201: Data Structures II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1AC9FE-FEFF-ECF2-969B-687E3E8FC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11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F6F790-F4E3-7151-B559-E07A2A967EDA}"/>
              </a:ext>
            </a:extLst>
          </p:cNvPr>
          <p:cNvSpPr txBox="1"/>
          <p:nvPr/>
        </p:nvSpPr>
        <p:spPr>
          <a:xfrm>
            <a:off x="517585" y="0"/>
            <a:ext cx="11672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Introduction        </a:t>
            </a:r>
            <a:r>
              <a:rPr lang="en-US" b="1" dirty="0">
                <a:solidFill>
                  <a:schemeClr val="bg1"/>
                </a:solidFill>
              </a:rPr>
              <a:t>ADTs</a:t>
            </a:r>
            <a:r>
              <a:rPr lang="en-US" dirty="0"/>
              <a:t>        Math Background        Model of Computation        Correctness        Summary        Exercises</a:t>
            </a:r>
          </a:p>
        </p:txBody>
      </p:sp>
    </p:spTree>
    <p:extLst>
      <p:ext uri="{BB962C8B-B14F-4D97-AF65-F5344CB8AC3E}">
        <p14:creationId xmlns:p14="http://schemas.microsoft.com/office/powerpoint/2010/main" val="3135879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E6759-A10A-9999-54EA-74AD4A3BE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ADTs – Priority Queues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F254F8-E82A-10B2-63E1-EB91D25FBD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346275" cy="435133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400" dirty="0"/>
              <a:t>A priority Queue always removes the element with the highest priority from the queue. 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Typically, this is the item with the minimum value – however priorities can be assigned based on some other criteria. 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The remove() operation on a priority Queue is usually called </a:t>
            </a:r>
            <a:r>
              <a:rPr lang="en-US" sz="2400" dirty="0" err="1"/>
              <a:t>deleteMin</a:t>
            </a:r>
            <a:r>
              <a:rPr lang="en-US" sz="2400" dirty="0"/>
              <a:t>() in other texts.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CBE894-E0C0-C14D-C9BA-DA47F2CAD1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CS-201: Data Structures II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9DE545-0B4C-BF9A-8AA0-545863437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12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D93B54-518A-1C69-9966-3F73D0C1072D}"/>
              </a:ext>
            </a:extLst>
          </p:cNvPr>
          <p:cNvSpPr txBox="1"/>
          <p:nvPr/>
        </p:nvSpPr>
        <p:spPr>
          <a:xfrm>
            <a:off x="517585" y="0"/>
            <a:ext cx="11672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Introduction        </a:t>
            </a:r>
            <a:r>
              <a:rPr lang="en-US" b="1" dirty="0">
                <a:solidFill>
                  <a:schemeClr val="bg1"/>
                </a:solidFill>
              </a:rPr>
              <a:t>ADTs</a:t>
            </a:r>
            <a:r>
              <a:rPr lang="en-US" dirty="0"/>
              <a:t>        Math Background        Model of Computation        Correctness        Summary        Exercises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C271475-425F-A9D0-427A-E5F5314D71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3654" y="2355738"/>
            <a:ext cx="6000772" cy="3053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2098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3F7BE-E0B4-23BE-B458-131957F09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ADTs – Stacks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0EA848-CA90-374B-EDF8-C66D3168ED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400" dirty="0"/>
              <a:t>A Stack can be considered as a LIFO (last-in first-out) queue.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Operations supported by a stack are add(item) and remove(), typically called:</a:t>
            </a:r>
          </a:p>
          <a:p>
            <a:pPr lvl="1">
              <a:lnSpc>
                <a:spcPct val="100000"/>
              </a:lnSpc>
            </a:pPr>
            <a:r>
              <a:rPr lang="en-US" dirty="0">
                <a:latin typeface="Consolas" panose="020B0609020204030204" pitchFamily="49" charset="0"/>
              </a:rPr>
              <a:t>push(item)</a:t>
            </a:r>
          </a:p>
          <a:p>
            <a:pPr lvl="1">
              <a:lnSpc>
                <a:spcPct val="100000"/>
              </a:lnSpc>
            </a:pPr>
            <a:r>
              <a:rPr lang="en-US" dirty="0">
                <a:latin typeface="Consolas" panose="020B0609020204030204" pitchFamily="49" charset="0"/>
              </a:rPr>
              <a:t>pop()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Stacks are used in a wide variety of applications in Computer Science.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4B1BB7-4416-13E5-1F84-261616FFA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CS-201: Data Structures II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0180B3-8D25-6456-FA3B-FC37205D9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13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E963B8-47E5-F547-7E89-80B0CFA7545D}"/>
              </a:ext>
            </a:extLst>
          </p:cNvPr>
          <p:cNvSpPr txBox="1"/>
          <p:nvPr/>
        </p:nvSpPr>
        <p:spPr>
          <a:xfrm>
            <a:off x="517585" y="0"/>
            <a:ext cx="11672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Introduction        </a:t>
            </a:r>
            <a:r>
              <a:rPr lang="en-US" b="1" dirty="0">
                <a:solidFill>
                  <a:schemeClr val="bg1"/>
                </a:solidFill>
              </a:rPr>
              <a:t>ADTs</a:t>
            </a:r>
            <a:r>
              <a:rPr lang="en-US" dirty="0"/>
              <a:t>        Math Background        Model of Computation        Correctness        Summary        Exercises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5F21F3A-AE18-50A5-8EC9-FA15C2E411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3933" y="4278360"/>
            <a:ext cx="5857154" cy="2158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7692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55B99-4FCF-16D3-570B-B9365EB8F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ADTs - Deque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354277-BD16-6289-93F9-42D3C3372F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400" dirty="0"/>
              <a:t>A Deque is a generalization of both the FIFO Queue and LIFO Queue (Stack). 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A Deque represents a sequence of elements, with a front and a back. 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Elements can be added at the front of the sequence or the back of the sequence. 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The names of the Deque operations are self-explanatory: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400" dirty="0">
                <a:latin typeface="Consolas" panose="020B0609020204030204" pitchFamily="49" charset="0"/>
              </a:rPr>
              <a:t>  </a:t>
            </a:r>
            <a:r>
              <a:rPr lang="en-US" sz="2400" dirty="0" err="1">
                <a:latin typeface="Consolas" panose="020B0609020204030204" pitchFamily="49" charset="0"/>
              </a:rPr>
              <a:t>addFirst</a:t>
            </a:r>
            <a:r>
              <a:rPr lang="en-US" sz="2400" dirty="0">
                <a:latin typeface="Consolas" panose="020B0609020204030204" pitchFamily="49" charset="0"/>
              </a:rPr>
              <a:t>(item), </a:t>
            </a:r>
            <a:r>
              <a:rPr lang="en-US" sz="2400" dirty="0" err="1">
                <a:latin typeface="Consolas" panose="020B0609020204030204" pitchFamily="49" charset="0"/>
              </a:rPr>
              <a:t>removeFirst</a:t>
            </a:r>
            <a:r>
              <a:rPr lang="en-US" sz="2400" dirty="0">
                <a:latin typeface="Consolas" panose="020B0609020204030204" pitchFamily="49" charset="0"/>
              </a:rPr>
              <a:t>(), </a:t>
            </a:r>
            <a:r>
              <a:rPr lang="en-US" sz="2400" dirty="0" err="1">
                <a:latin typeface="Consolas" panose="020B0609020204030204" pitchFamily="49" charset="0"/>
              </a:rPr>
              <a:t>addLast</a:t>
            </a:r>
            <a:r>
              <a:rPr lang="en-US" sz="2400" dirty="0">
                <a:latin typeface="Consolas" panose="020B0609020204030204" pitchFamily="49" charset="0"/>
              </a:rPr>
              <a:t>(item), </a:t>
            </a:r>
            <a:r>
              <a:rPr lang="en-US" sz="2400" dirty="0" err="1">
                <a:latin typeface="Consolas" panose="020B0609020204030204" pitchFamily="49" charset="0"/>
              </a:rPr>
              <a:t>removeLast</a:t>
            </a:r>
            <a:r>
              <a:rPr lang="en-US" sz="2400" dirty="0">
                <a:latin typeface="Consolas" panose="020B0609020204030204" pitchFamily="49" charset="0"/>
              </a:rPr>
              <a:t>()</a:t>
            </a:r>
            <a:r>
              <a:rPr lang="en-US" sz="2400" dirty="0"/>
              <a:t>. 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It is worth noting that a Stack can be implemented using only </a:t>
            </a:r>
            <a:r>
              <a:rPr lang="en-US" sz="2400" dirty="0" err="1">
                <a:latin typeface="Consolas" panose="020B0609020204030204" pitchFamily="49" charset="0"/>
              </a:rPr>
              <a:t>addFirst</a:t>
            </a:r>
            <a:r>
              <a:rPr lang="en-US" sz="2400" dirty="0">
                <a:latin typeface="Consolas" panose="020B0609020204030204" pitchFamily="49" charset="0"/>
              </a:rPr>
              <a:t>(item) </a:t>
            </a:r>
            <a:r>
              <a:rPr lang="en-US" sz="2400" dirty="0"/>
              <a:t>and </a:t>
            </a:r>
            <a:r>
              <a:rPr lang="en-US" sz="2400" dirty="0" err="1">
                <a:latin typeface="Consolas" panose="020B0609020204030204" pitchFamily="49" charset="0"/>
              </a:rPr>
              <a:t>removeFirst</a:t>
            </a:r>
            <a:r>
              <a:rPr lang="en-US" sz="2400" dirty="0">
                <a:latin typeface="Consolas" panose="020B0609020204030204" pitchFamily="49" charset="0"/>
              </a:rPr>
              <a:t>() 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A FIFO Queue can be implemented using </a:t>
            </a:r>
            <a:r>
              <a:rPr lang="en-US" sz="2400" dirty="0" err="1">
                <a:latin typeface="Consolas" panose="020B0609020204030204" pitchFamily="49" charset="0"/>
              </a:rPr>
              <a:t>addLast</a:t>
            </a:r>
            <a:r>
              <a:rPr lang="en-US" sz="2400" dirty="0">
                <a:latin typeface="Consolas" panose="020B0609020204030204" pitchFamily="49" charset="0"/>
              </a:rPr>
              <a:t>(x)</a:t>
            </a:r>
            <a:r>
              <a:rPr lang="en-US" sz="2400" dirty="0"/>
              <a:t> and </a:t>
            </a:r>
            <a:r>
              <a:rPr lang="en-US" sz="2400" dirty="0" err="1">
                <a:latin typeface="Consolas" panose="020B0609020204030204" pitchFamily="49" charset="0"/>
              </a:rPr>
              <a:t>removeFirst</a:t>
            </a:r>
            <a:r>
              <a:rPr lang="en-US" sz="2400" dirty="0">
                <a:latin typeface="Consolas" panose="020B0609020204030204" pitchFamily="49" charset="0"/>
              </a:rPr>
              <a:t>()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E31140-A8C1-DE22-EC20-9852995F1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CS-201: Data Structures II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B4E619-A5D8-7941-D29B-8F1B0A7EE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14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A79C17-DA8A-2089-FBF1-F5DB41BF1B8B}"/>
              </a:ext>
            </a:extLst>
          </p:cNvPr>
          <p:cNvSpPr txBox="1"/>
          <p:nvPr/>
        </p:nvSpPr>
        <p:spPr>
          <a:xfrm>
            <a:off x="517585" y="0"/>
            <a:ext cx="11672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Introduction        </a:t>
            </a:r>
            <a:r>
              <a:rPr lang="en-US" b="1" dirty="0">
                <a:solidFill>
                  <a:schemeClr val="bg1"/>
                </a:solidFill>
              </a:rPr>
              <a:t>ADTs</a:t>
            </a:r>
            <a:r>
              <a:rPr lang="en-US" dirty="0"/>
              <a:t>        Math Background        Model of Computation        Correctness        Summary        Exercises</a:t>
            </a:r>
          </a:p>
        </p:txBody>
      </p:sp>
    </p:spTree>
    <p:extLst>
      <p:ext uri="{BB962C8B-B14F-4D97-AF65-F5344CB8AC3E}">
        <p14:creationId xmlns:p14="http://schemas.microsoft.com/office/powerpoint/2010/main" val="3954955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7BC45-1160-B28B-875B-677DB0D8F3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Class Exercise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AC5017A-4279-D88D-03DB-F557579BB2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13887" y="1944953"/>
            <a:ext cx="10234958" cy="1555614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77CBD5-C11B-74BF-B0F1-49CD943D35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CS-201: Data Structures II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3844D0-C946-86BB-8AE4-663BF08E4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15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E250BC-03CB-796D-5FDF-5CFA33B72632}"/>
              </a:ext>
            </a:extLst>
          </p:cNvPr>
          <p:cNvSpPr txBox="1"/>
          <p:nvPr/>
        </p:nvSpPr>
        <p:spPr>
          <a:xfrm>
            <a:off x="517585" y="0"/>
            <a:ext cx="11672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Introduction        ADTs        Math Background        Model of Computation        Correctness        Summary        </a:t>
            </a:r>
            <a:r>
              <a:rPr lang="en-US" b="1" dirty="0">
                <a:solidFill>
                  <a:schemeClr val="bg1"/>
                </a:solidFill>
              </a:rPr>
              <a:t>Exercises</a:t>
            </a:r>
          </a:p>
        </p:txBody>
      </p:sp>
    </p:spTree>
    <p:extLst>
      <p:ext uri="{BB962C8B-B14F-4D97-AF65-F5344CB8AC3E}">
        <p14:creationId xmlns:p14="http://schemas.microsoft.com/office/powerpoint/2010/main" val="643322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55B99-4FCF-16D3-570B-B9365EB8F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ADTs – The List Interface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354277-BD16-6289-93F9-42D3C3372F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400" dirty="0"/>
              <a:t>The List interface is a sequence of </a:t>
            </a:r>
            <a:r>
              <a:rPr lang="en-US" sz="2400" i="1" dirty="0"/>
              <a:t>n</a:t>
            </a:r>
            <a:r>
              <a:rPr lang="en-US" sz="2400" dirty="0"/>
              <a:t> data items: </a:t>
            </a:r>
            <a:r>
              <a:rPr lang="en-US" sz="2400" i="1" dirty="0"/>
              <a:t>x</a:t>
            </a:r>
            <a:r>
              <a:rPr lang="en-US" sz="2400" baseline="-25000" dirty="0"/>
              <a:t>0</a:t>
            </a:r>
            <a:r>
              <a:rPr lang="en-US" sz="2400" dirty="0"/>
              <a:t>, </a:t>
            </a:r>
            <a:r>
              <a:rPr lang="en-US" sz="2400" i="1" dirty="0"/>
              <a:t>x</a:t>
            </a:r>
            <a:r>
              <a:rPr lang="en-US" sz="2400" baseline="-25000" dirty="0"/>
              <a:t>1</a:t>
            </a:r>
            <a:r>
              <a:rPr lang="en-US" sz="2400" dirty="0"/>
              <a:t>, …, </a:t>
            </a:r>
            <a:r>
              <a:rPr lang="en-US" sz="2400" i="1" dirty="0" err="1"/>
              <a:t>x</a:t>
            </a:r>
            <a:r>
              <a:rPr lang="en-US" sz="2400" i="1" baseline="-25000" dirty="0" err="1"/>
              <a:t>n</a:t>
            </a:r>
            <a:r>
              <a:rPr lang="en-US" sz="2400" baseline="-25000" dirty="0"/>
              <a:t> – 1</a:t>
            </a:r>
            <a:r>
              <a:rPr lang="en-US" sz="2400" dirty="0"/>
              <a:t>.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A List allows indexed access to data items – effectively providing random access.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The List interface supports the following operations. </a:t>
            </a:r>
          </a:p>
          <a:p>
            <a:pPr lvl="1">
              <a:lnSpc>
                <a:spcPct val="100000"/>
              </a:lnSpc>
            </a:pPr>
            <a:r>
              <a:rPr lang="en-US" dirty="0">
                <a:latin typeface="Consolas" panose="020B0609020204030204" pitchFamily="49" charset="0"/>
              </a:rPr>
              <a:t>size()</a:t>
            </a:r>
            <a:r>
              <a:rPr lang="en-US" dirty="0"/>
              <a:t>: return </a:t>
            </a:r>
            <a:r>
              <a:rPr lang="en-US" i="1" dirty="0"/>
              <a:t>n</a:t>
            </a:r>
            <a:r>
              <a:rPr lang="en-US" dirty="0"/>
              <a:t>, the length of the list,</a:t>
            </a:r>
          </a:p>
          <a:p>
            <a:pPr lvl="1">
              <a:lnSpc>
                <a:spcPct val="100000"/>
              </a:lnSpc>
            </a:pPr>
            <a:r>
              <a:rPr lang="en-US" dirty="0">
                <a:latin typeface="Consolas" panose="020B0609020204030204" pitchFamily="49" charset="0"/>
              </a:rPr>
              <a:t>get(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)</a:t>
            </a:r>
            <a:r>
              <a:rPr lang="en-US" dirty="0"/>
              <a:t>: return the value </a:t>
            </a:r>
            <a:r>
              <a:rPr lang="en-US" i="1" dirty="0"/>
              <a:t>x</a:t>
            </a:r>
            <a:r>
              <a:rPr lang="en-US" i="1" baseline="-25000" dirty="0"/>
              <a:t>i</a:t>
            </a:r>
            <a:r>
              <a:rPr lang="en-US" dirty="0"/>
              <a:t>,</a:t>
            </a:r>
          </a:p>
          <a:p>
            <a:pPr lvl="1">
              <a:lnSpc>
                <a:spcPct val="100000"/>
              </a:lnSpc>
            </a:pPr>
            <a:r>
              <a:rPr lang="en-US" dirty="0">
                <a:latin typeface="Consolas" panose="020B0609020204030204" pitchFamily="49" charset="0"/>
              </a:rPr>
              <a:t>add(</a:t>
            </a:r>
            <a:r>
              <a:rPr lang="en-US" dirty="0" err="1">
                <a:latin typeface="Consolas" panose="020B0609020204030204" pitchFamily="49" charset="0"/>
              </a:rPr>
              <a:t>i,x</a:t>
            </a:r>
            <a:r>
              <a:rPr lang="en-US" dirty="0">
                <a:latin typeface="Consolas" panose="020B0609020204030204" pitchFamily="49" charset="0"/>
              </a:rPr>
              <a:t>)</a:t>
            </a:r>
            <a:r>
              <a:rPr lang="en-US" dirty="0"/>
              <a:t>: add </a:t>
            </a:r>
            <a:r>
              <a:rPr lang="en-US" i="1" dirty="0"/>
              <a:t>x</a:t>
            </a:r>
            <a:r>
              <a:rPr lang="en-US" dirty="0"/>
              <a:t> at index </a:t>
            </a:r>
            <a:r>
              <a:rPr lang="en-US" i="1" dirty="0" err="1"/>
              <a:t>i</a:t>
            </a:r>
            <a:r>
              <a:rPr lang="en-US" dirty="0"/>
              <a:t>, displacing </a:t>
            </a:r>
            <a:r>
              <a:rPr lang="en-US" i="1" dirty="0"/>
              <a:t>x</a:t>
            </a:r>
            <a:r>
              <a:rPr lang="en-US" i="1" baseline="-25000" dirty="0"/>
              <a:t>i</a:t>
            </a:r>
            <a:r>
              <a:rPr lang="en-US" dirty="0"/>
              <a:t>, …, </a:t>
            </a:r>
            <a:r>
              <a:rPr lang="en-US" i="1" dirty="0" err="1"/>
              <a:t>x</a:t>
            </a:r>
            <a:r>
              <a:rPr lang="en-US" i="1" baseline="-25000" dirty="0" err="1"/>
              <a:t>n</a:t>
            </a:r>
            <a:r>
              <a:rPr lang="en-US" i="1" baseline="-25000" dirty="0"/>
              <a:t> </a:t>
            </a:r>
            <a:r>
              <a:rPr lang="en-US" baseline="-25000" dirty="0"/>
              <a:t>− 1</a:t>
            </a:r>
            <a:r>
              <a:rPr lang="en-US" dirty="0"/>
              <a:t>; </a:t>
            </a:r>
          </a:p>
          <a:p>
            <a:pPr lvl="1">
              <a:lnSpc>
                <a:spcPct val="100000"/>
              </a:lnSpc>
            </a:pPr>
            <a:r>
              <a:rPr lang="en-US" dirty="0">
                <a:latin typeface="Consolas" panose="020B0609020204030204" pitchFamily="49" charset="0"/>
              </a:rPr>
              <a:t>remove(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)</a:t>
            </a:r>
            <a:r>
              <a:rPr lang="en-US" dirty="0"/>
              <a:t> remove the value </a:t>
            </a:r>
            <a:r>
              <a:rPr lang="en-US" i="1" dirty="0"/>
              <a:t>x</a:t>
            </a:r>
            <a:r>
              <a:rPr lang="en-US" i="1" baseline="-25000" dirty="0"/>
              <a:t>i</a:t>
            </a:r>
            <a:r>
              <a:rPr lang="en-US" dirty="0"/>
              <a:t> , displacing </a:t>
            </a:r>
            <a:r>
              <a:rPr lang="en-US" i="1" dirty="0"/>
              <a:t>x</a:t>
            </a:r>
            <a:r>
              <a:rPr lang="en-US" i="1" baseline="-25000" dirty="0"/>
              <a:t>i </a:t>
            </a:r>
            <a:r>
              <a:rPr lang="en-US" baseline="-25000" dirty="0"/>
              <a:t>+1</a:t>
            </a:r>
            <a:r>
              <a:rPr lang="en-US" dirty="0"/>
              <a:t>, …, </a:t>
            </a:r>
            <a:r>
              <a:rPr lang="en-US" i="1" dirty="0" err="1"/>
              <a:t>x</a:t>
            </a:r>
            <a:r>
              <a:rPr lang="en-US" i="1" baseline="-25000" dirty="0" err="1"/>
              <a:t>n</a:t>
            </a:r>
            <a:r>
              <a:rPr lang="en-US" i="1" baseline="-25000" dirty="0"/>
              <a:t> </a:t>
            </a:r>
            <a:r>
              <a:rPr lang="en-US" baseline="-25000" dirty="0"/>
              <a:t>− 1</a:t>
            </a:r>
            <a:r>
              <a:rPr lang="en-US" dirty="0"/>
              <a:t>;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E31140-A8C1-DE22-EC20-9852995F1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CS-201: Data Structures II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B4E619-A5D8-7941-D29B-8F1B0A7EE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16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A79C17-DA8A-2089-FBF1-F5DB41BF1B8B}"/>
              </a:ext>
            </a:extLst>
          </p:cNvPr>
          <p:cNvSpPr txBox="1"/>
          <p:nvPr/>
        </p:nvSpPr>
        <p:spPr>
          <a:xfrm>
            <a:off x="517585" y="0"/>
            <a:ext cx="11672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Introduction        </a:t>
            </a:r>
            <a:r>
              <a:rPr lang="en-US" b="1" dirty="0">
                <a:solidFill>
                  <a:schemeClr val="bg1"/>
                </a:solidFill>
              </a:rPr>
              <a:t>ADTs</a:t>
            </a:r>
            <a:r>
              <a:rPr lang="en-US" dirty="0"/>
              <a:t>        Math Background        Model of Computation        Correctness        Summary        Exercises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9F58E93-9493-FF2B-C0FE-010E1FC75A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3987" y="5070243"/>
            <a:ext cx="8386390" cy="1787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3816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CFAA6-F46D-926B-AF81-004AA7E3E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Class 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97531D-4002-8F60-0F4D-D1152C0D2A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Implement the Stack, Queue and the Deque abstract data types using the List interface.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748370-72C3-A985-8373-211FC1D8B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CS-201: Data Structures II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CE617B-ACB8-C50F-FBCD-A99C0427D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17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EA0D10-65B3-7C00-4190-39A393ECA731}"/>
              </a:ext>
            </a:extLst>
          </p:cNvPr>
          <p:cNvSpPr txBox="1"/>
          <p:nvPr/>
        </p:nvSpPr>
        <p:spPr>
          <a:xfrm>
            <a:off x="517585" y="0"/>
            <a:ext cx="11672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Introduction        ADTs        Math Background        Model of Computation        Correctness        Summary        </a:t>
            </a:r>
            <a:r>
              <a:rPr lang="en-US" b="1" dirty="0">
                <a:solidFill>
                  <a:schemeClr val="bg1"/>
                </a:solidFill>
              </a:rPr>
              <a:t>Exercises</a:t>
            </a:r>
          </a:p>
        </p:txBody>
      </p:sp>
    </p:spTree>
    <p:extLst>
      <p:ext uri="{BB962C8B-B14F-4D97-AF65-F5344CB8AC3E}">
        <p14:creationId xmlns:p14="http://schemas.microsoft.com/office/powerpoint/2010/main" val="12224821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55B99-4FCF-16D3-570B-B9365EB8F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ADTs – The </a:t>
            </a:r>
            <a:r>
              <a:rPr lang="en-US" dirty="0" err="1">
                <a:latin typeface="Consolas" panose="020B0609020204030204" pitchFamily="49" charset="0"/>
              </a:rPr>
              <a:t>USet</a:t>
            </a:r>
            <a:r>
              <a:rPr lang="en-US" dirty="0"/>
              <a:t> Interface (Unordered Set)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354277-BD16-6289-93F9-42D3C3372F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400" dirty="0"/>
              <a:t>The </a:t>
            </a:r>
            <a:r>
              <a:rPr lang="en-US" sz="2400" dirty="0" err="1">
                <a:latin typeface="Consolas" panose="020B0609020204030204" pitchFamily="49" charset="0"/>
              </a:rPr>
              <a:t>USet</a:t>
            </a:r>
            <a:r>
              <a:rPr lang="en-US" sz="2400" dirty="0"/>
              <a:t> interface represents an unordered set of unique elements, which mimics a mathematical set. 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A </a:t>
            </a:r>
            <a:r>
              <a:rPr lang="en-US" sz="2400" dirty="0" err="1">
                <a:latin typeface="Consolas" panose="020B0609020204030204" pitchFamily="49" charset="0"/>
              </a:rPr>
              <a:t>USet</a:t>
            </a:r>
            <a:r>
              <a:rPr lang="en-US" sz="2400" dirty="0"/>
              <a:t> contains </a:t>
            </a:r>
            <a:r>
              <a:rPr lang="en-US" sz="2400" i="1" dirty="0"/>
              <a:t>n</a:t>
            </a:r>
            <a:r>
              <a:rPr lang="en-US" sz="2400" dirty="0"/>
              <a:t> distinct elements - no element appears more than once and the elements are in no specific order.  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A </a:t>
            </a:r>
            <a:r>
              <a:rPr lang="en-US" sz="2400" dirty="0" err="1">
                <a:latin typeface="Consolas" panose="020B0609020204030204" pitchFamily="49" charset="0"/>
              </a:rPr>
              <a:t>USet</a:t>
            </a:r>
            <a:r>
              <a:rPr lang="en-US" sz="2400" dirty="0"/>
              <a:t> supports the following operations: </a:t>
            </a:r>
          </a:p>
          <a:p>
            <a:pPr lvl="1">
              <a:lnSpc>
                <a:spcPct val="100000"/>
              </a:lnSpc>
            </a:pPr>
            <a:r>
              <a:rPr lang="en-US" dirty="0">
                <a:latin typeface="Consolas" panose="020B0609020204030204" pitchFamily="49" charset="0"/>
              </a:rPr>
              <a:t>size(): </a:t>
            </a:r>
            <a:r>
              <a:rPr lang="en-US" dirty="0"/>
              <a:t>return the number, n, of elements in the set </a:t>
            </a:r>
          </a:p>
          <a:p>
            <a:pPr lvl="1">
              <a:lnSpc>
                <a:spcPct val="100000"/>
              </a:lnSpc>
            </a:pPr>
            <a:r>
              <a:rPr lang="en-US" dirty="0">
                <a:latin typeface="Consolas" panose="020B0609020204030204" pitchFamily="49" charset="0"/>
              </a:rPr>
              <a:t>add(x): </a:t>
            </a:r>
            <a:r>
              <a:rPr lang="en-US" dirty="0"/>
              <a:t>add the element x to the set if not already present</a:t>
            </a:r>
          </a:p>
          <a:p>
            <a:pPr lvl="1">
              <a:lnSpc>
                <a:spcPct val="100000"/>
              </a:lnSpc>
            </a:pPr>
            <a:r>
              <a:rPr lang="en-US" dirty="0">
                <a:latin typeface="Consolas" panose="020B0609020204030204" pitchFamily="49" charset="0"/>
              </a:rPr>
              <a:t>remove(x): </a:t>
            </a:r>
            <a:r>
              <a:rPr lang="en-US" dirty="0"/>
              <a:t>remove x from the set; </a:t>
            </a:r>
          </a:p>
          <a:p>
            <a:pPr lvl="1">
              <a:lnSpc>
                <a:spcPct val="100000"/>
              </a:lnSpc>
            </a:pPr>
            <a:r>
              <a:rPr lang="en-US" dirty="0">
                <a:latin typeface="Consolas" panose="020B0609020204030204" pitchFamily="49" charset="0"/>
              </a:rPr>
              <a:t>find(y): </a:t>
            </a:r>
            <a:r>
              <a:rPr lang="en-US" dirty="0"/>
              <a:t>Find an element y in the set if it exists.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E31140-A8C1-DE22-EC20-9852995F1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CS-201: Data Structures II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B4E619-A5D8-7941-D29B-8F1B0A7EE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18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A79C17-DA8A-2089-FBF1-F5DB41BF1B8B}"/>
              </a:ext>
            </a:extLst>
          </p:cNvPr>
          <p:cNvSpPr txBox="1"/>
          <p:nvPr/>
        </p:nvSpPr>
        <p:spPr>
          <a:xfrm>
            <a:off x="517585" y="0"/>
            <a:ext cx="11672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Introduction        </a:t>
            </a:r>
            <a:r>
              <a:rPr lang="en-US" b="1" dirty="0">
                <a:solidFill>
                  <a:schemeClr val="bg1"/>
                </a:solidFill>
              </a:rPr>
              <a:t>ADTs</a:t>
            </a:r>
            <a:r>
              <a:rPr lang="en-US" dirty="0"/>
              <a:t>        Math Background        Model of Computation        Correctness        Summary        Exercises</a:t>
            </a:r>
          </a:p>
        </p:txBody>
      </p:sp>
    </p:spTree>
    <p:extLst>
      <p:ext uri="{BB962C8B-B14F-4D97-AF65-F5344CB8AC3E}">
        <p14:creationId xmlns:p14="http://schemas.microsoft.com/office/powerpoint/2010/main" val="999373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55B99-4FCF-16D3-570B-B9365EB8F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ADTs – The </a:t>
            </a:r>
            <a:r>
              <a:rPr lang="en-US" dirty="0" err="1">
                <a:latin typeface="Consolas" panose="020B0609020204030204" pitchFamily="49" charset="0"/>
              </a:rPr>
              <a:t>SSet</a:t>
            </a:r>
            <a:r>
              <a:rPr lang="en-US" dirty="0"/>
              <a:t> Interface (Sorted Set)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354277-BD16-6289-93F9-42D3C3372F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400" dirty="0"/>
              <a:t>The </a:t>
            </a:r>
            <a:r>
              <a:rPr lang="en-US" sz="2400" dirty="0" err="1">
                <a:latin typeface="Consolas" panose="020B0609020204030204" pitchFamily="49" charset="0"/>
              </a:rPr>
              <a:t>SSet</a:t>
            </a:r>
            <a:r>
              <a:rPr lang="en-US" sz="2400" dirty="0"/>
              <a:t> interface represents an ordered set of unique elements, which mimics a mathematical set. 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Elements in an </a:t>
            </a:r>
            <a:r>
              <a:rPr lang="en-US" sz="2400" dirty="0" err="1">
                <a:latin typeface="Consolas" panose="020B0609020204030204" pitchFamily="49" charset="0"/>
              </a:rPr>
              <a:t>SSet</a:t>
            </a:r>
            <a:r>
              <a:rPr lang="en-US" sz="2400" dirty="0"/>
              <a:t> can be compared with a method called compare(x, y): </a:t>
            </a:r>
          </a:p>
          <a:p>
            <a:pPr>
              <a:lnSpc>
                <a:spcPct val="100000"/>
              </a:lnSpc>
            </a:pPr>
            <a:endParaRPr lang="en-US" sz="2400" dirty="0"/>
          </a:p>
          <a:p>
            <a:pPr>
              <a:lnSpc>
                <a:spcPct val="100000"/>
              </a:lnSpc>
            </a:pPr>
            <a:endParaRPr lang="en-US" sz="2400" dirty="0"/>
          </a:p>
          <a:p>
            <a:pPr>
              <a:lnSpc>
                <a:spcPct val="100000"/>
              </a:lnSpc>
            </a:pPr>
            <a:endParaRPr lang="en-US" sz="2400" dirty="0"/>
          </a:p>
          <a:p>
            <a:pPr>
              <a:lnSpc>
                <a:spcPct val="100000"/>
              </a:lnSpc>
            </a:pPr>
            <a:r>
              <a:rPr lang="en-US" sz="2400" dirty="0"/>
              <a:t>Apart from compare, an </a:t>
            </a:r>
            <a:r>
              <a:rPr lang="en-US" sz="2400" dirty="0" err="1"/>
              <a:t>SSet</a:t>
            </a:r>
            <a:r>
              <a:rPr lang="en-US" sz="2400" dirty="0"/>
              <a:t> supports the same operations as a </a:t>
            </a:r>
            <a:r>
              <a:rPr lang="en-US" sz="2400" dirty="0" err="1"/>
              <a:t>USet</a:t>
            </a:r>
            <a:r>
              <a:rPr lang="en-US" sz="2400" dirty="0"/>
              <a:t>.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However, the find operation in an </a:t>
            </a:r>
            <a:r>
              <a:rPr lang="en-US" sz="2400" dirty="0" err="1"/>
              <a:t>SSet</a:t>
            </a:r>
            <a:r>
              <a:rPr lang="en-US" sz="2400" dirty="0"/>
              <a:t> finds the smallest element that is greater than or equal to its argument.  </a:t>
            </a:r>
          </a:p>
          <a:p>
            <a:pPr>
              <a:lnSpc>
                <a:spcPct val="100000"/>
              </a:lnSpc>
            </a:pPr>
            <a:endParaRPr lang="en-US" sz="2400" dirty="0"/>
          </a:p>
          <a:p>
            <a:pPr>
              <a:lnSpc>
                <a:spcPct val="100000"/>
              </a:lnSpc>
            </a:pPr>
            <a:endParaRPr lang="en-US" sz="2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E31140-A8C1-DE22-EC20-9852995F1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CS-201: Data Structures II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B4E619-A5D8-7941-D29B-8F1B0A7EE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19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A79C17-DA8A-2089-FBF1-F5DB41BF1B8B}"/>
              </a:ext>
            </a:extLst>
          </p:cNvPr>
          <p:cNvSpPr txBox="1"/>
          <p:nvPr/>
        </p:nvSpPr>
        <p:spPr>
          <a:xfrm>
            <a:off x="517585" y="0"/>
            <a:ext cx="11672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Introduction        </a:t>
            </a:r>
            <a:r>
              <a:rPr lang="en-US" b="1" dirty="0">
                <a:solidFill>
                  <a:schemeClr val="bg1"/>
                </a:solidFill>
              </a:rPr>
              <a:t>ADTs</a:t>
            </a:r>
            <a:r>
              <a:rPr lang="en-US" dirty="0"/>
              <a:t>        Math Background        Model of Computation        Correctness        Summary        Exercises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0FD4145-49A3-1AAF-5764-895E959706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0266" y="3125348"/>
            <a:ext cx="4189371" cy="1527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328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55B99-4FCF-16D3-570B-B9365EB8F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ADTs – </a:t>
            </a:r>
            <a:r>
              <a:rPr lang="en-US" dirty="0">
                <a:latin typeface="Consolas" panose="020B0609020204030204" pitchFamily="49" charset="0"/>
              </a:rPr>
              <a:t>find(x)</a:t>
            </a:r>
            <a:r>
              <a:rPr lang="en-US" dirty="0"/>
              <a:t> in an </a:t>
            </a:r>
            <a:r>
              <a:rPr lang="en-US" dirty="0" err="1">
                <a:latin typeface="Consolas" panose="020B0609020204030204" pitchFamily="49" charset="0"/>
              </a:rPr>
              <a:t>SSet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E31140-A8C1-DE22-EC20-9852995F1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CS-201: Data Structures II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B4E619-A5D8-7941-D29B-8F1B0A7EE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20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A79C17-DA8A-2089-FBF1-F5DB41BF1B8B}"/>
              </a:ext>
            </a:extLst>
          </p:cNvPr>
          <p:cNvSpPr txBox="1"/>
          <p:nvPr/>
        </p:nvSpPr>
        <p:spPr>
          <a:xfrm>
            <a:off x="517585" y="0"/>
            <a:ext cx="11672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Introduction        </a:t>
            </a:r>
            <a:r>
              <a:rPr lang="en-US" b="1" dirty="0">
                <a:solidFill>
                  <a:schemeClr val="bg1"/>
                </a:solidFill>
              </a:rPr>
              <a:t>ADTs</a:t>
            </a:r>
            <a:r>
              <a:rPr lang="en-US" dirty="0"/>
              <a:t>        Math Background        Model of Computation        Correctness        Summary        Exercises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5854A86-6FA1-C6E3-B833-EDB9825A87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588" y="2010527"/>
            <a:ext cx="10052676" cy="3111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5191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040D1-3F07-C28C-5AC8-646A4F0DC4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Exercise(s)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359D87-0328-5F6E-2D61-D60A00C226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400" dirty="0"/>
              <a:t>We gave a brief description of the </a:t>
            </a:r>
            <a:r>
              <a:rPr lang="en-US" sz="2400" dirty="0" err="1"/>
              <a:t>USet</a:t>
            </a:r>
            <a:r>
              <a:rPr lang="en-US" sz="2400" dirty="0"/>
              <a:t> ADT (it implements an unordered set data type).  What is the difference between the find(item) operation of a </a:t>
            </a:r>
            <a:r>
              <a:rPr lang="en-US" sz="2400" dirty="0" err="1"/>
              <a:t>USet</a:t>
            </a:r>
            <a:r>
              <a:rPr lang="en-US" sz="2400" dirty="0"/>
              <a:t> and that of an </a:t>
            </a:r>
            <a:r>
              <a:rPr lang="en-US" sz="2400" dirty="0" err="1"/>
              <a:t>SSet</a:t>
            </a:r>
            <a:r>
              <a:rPr lang="en-US" sz="2400" dirty="0"/>
              <a:t>. Give arguments in terms of output as well as efficiency.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4D280C-50C1-EEF5-4500-CEAA9867D2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CS-201: Data Structures II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871427-AC3A-600B-DE07-A0AF1A06D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21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DA557D-8C84-DACF-997C-A80133346918}"/>
              </a:ext>
            </a:extLst>
          </p:cNvPr>
          <p:cNvSpPr txBox="1"/>
          <p:nvPr/>
        </p:nvSpPr>
        <p:spPr>
          <a:xfrm>
            <a:off x="517585" y="0"/>
            <a:ext cx="11672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Introduction        ADTs        Math Background        Model of Computation        Correctness        Summary        </a:t>
            </a:r>
            <a:r>
              <a:rPr lang="en-US" b="1" dirty="0">
                <a:solidFill>
                  <a:schemeClr val="bg1"/>
                </a:solidFill>
              </a:rPr>
              <a:t>Exercises</a:t>
            </a:r>
          </a:p>
        </p:txBody>
      </p:sp>
    </p:spTree>
    <p:extLst>
      <p:ext uri="{BB962C8B-B14F-4D97-AF65-F5344CB8AC3E}">
        <p14:creationId xmlns:p14="http://schemas.microsoft.com/office/powerpoint/2010/main" val="15616567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88576-DD28-1D32-6A05-A27EC331D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Mathematical Background (Results)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5BD3CB-80CC-4CFD-24B8-F19F88251A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Exponentials and Logarithms: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Typically, we use log</a:t>
            </a:r>
            <a:r>
              <a:rPr lang="en-US" baseline="-25000" dirty="0"/>
              <a:t>2</a:t>
            </a:r>
            <a:r>
              <a:rPr lang="en-US" dirty="0"/>
              <a:t> in Computer Science.</a:t>
            </a:r>
          </a:p>
          <a:p>
            <a:r>
              <a:rPr lang="en-US" dirty="0"/>
              <a:t>Asymptotic Notation: Big-O, Big-</a:t>
            </a:r>
            <a:r>
              <a:rPr lang="en-US" dirty="0">
                <a:sym typeface="Symbol" panose="05050102010706020507" pitchFamily="18" charset="2"/>
              </a:rPr>
              <a:t> and </a:t>
            </a:r>
            <a:r>
              <a:rPr lang="en-US" dirty="0"/>
              <a:t>Big-</a:t>
            </a:r>
            <a:r>
              <a:rPr lang="en-US" dirty="0">
                <a:sym typeface="Symbol" panose="05050102010706020507" pitchFamily="18" charset="2"/>
              </a:rPr>
              <a:t> notation.</a:t>
            </a:r>
          </a:p>
          <a:p>
            <a:r>
              <a:rPr lang="en-US" dirty="0">
                <a:sym typeface="Symbol" panose="05050102010706020507" pitchFamily="18" charset="2"/>
              </a:rPr>
              <a:t>Factorials.</a:t>
            </a:r>
          </a:p>
          <a:p>
            <a:r>
              <a:rPr lang="en-US" dirty="0">
                <a:sym typeface="Symbol" panose="05050102010706020507" pitchFamily="18" charset="2"/>
              </a:rPr>
              <a:t>Average or Expected Running Times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8D571C-3AB6-72DF-D05C-A00E9F83F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CS-201: Data Structures II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BA5270-AC0B-968D-F98B-CDCD61525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22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FA0918-FA39-A72C-8CD7-A6483D2DFB4D}"/>
              </a:ext>
            </a:extLst>
          </p:cNvPr>
          <p:cNvSpPr txBox="1"/>
          <p:nvPr/>
        </p:nvSpPr>
        <p:spPr>
          <a:xfrm>
            <a:off x="517585" y="0"/>
            <a:ext cx="11672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Introduction        ADTs        </a:t>
            </a:r>
            <a:r>
              <a:rPr lang="en-US" b="1" dirty="0">
                <a:solidFill>
                  <a:schemeClr val="bg1"/>
                </a:solidFill>
              </a:rPr>
              <a:t>Math Background        </a:t>
            </a:r>
            <a:r>
              <a:rPr lang="en-US" dirty="0"/>
              <a:t>Model of Computation        Correctness        Summary        Exercises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9521A4B-F687-ABCE-76EC-D7DF783066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9118" y="2415366"/>
            <a:ext cx="2419382" cy="1108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0302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BE8BF-FB48-D254-3653-12B3A76F4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Model of Computation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02481B-EFA8-7B04-2943-0F78488FEA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400" dirty="0"/>
              <a:t>We use the we use the </a:t>
            </a:r>
            <a:r>
              <a:rPr lang="en-US" sz="2400" i="1" dirty="0"/>
              <a:t>w</a:t>
            </a:r>
            <a:r>
              <a:rPr lang="en-US" sz="2400" dirty="0"/>
              <a:t>-bit word-RAM model as our model of computation, where RAM stands for Random Access Machine.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In the word-RAM model, basic operations on words take constant time. 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This includes arithmetic operations (+, −, ∗, /, %), comparisons (, =, ≤, ≥), and bitwise </a:t>
            </a:r>
            <a:r>
              <a:rPr lang="en-US" sz="2400" dirty="0" err="1"/>
              <a:t>boolean</a:t>
            </a:r>
            <a:r>
              <a:rPr lang="en-US" sz="2400" dirty="0"/>
              <a:t> operations (bitwise-AND, OR, and exclusive-OR). 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Allocating a block of memory of size k takes O(</a:t>
            </a:r>
            <a:r>
              <a:rPr lang="en-US" sz="2400" i="1" dirty="0"/>
              <a:t>k</a:t>
            </a:r>
            <a:r>
              <a:rPr lang="en-US" sz="2400" dirty="0"/>
              <a:t>) time and returns a reference (a pointer) to the newly-allocated memory block.</a:t>
            </a:r>
          </a:p>
          <a:p>
            <a:pPr>
              <a:lnSpc>
                <a:spcPct val="100000"/>
              </a:lnSpc>
            </a:pPr>
            <a:endParaRPr lang="en-US" sz="2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2E4BD4-5285-BE89-5755-AB92A8EBC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CS-201: Data Structures II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F47734-4EFB-B14B-3B5D-F6A5C9472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23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98E8EE-C861-ACFD-00E2-AE8DEE97FD8A}"/>
              </a:ext>
            </a:extLst>
          </p:cNvPr>
          <p:cNvSpPr txBox="1"/>
          <p:nvPr/>
        </p:nvSpPr>
        <p:spPr>
          <a:xfrm>
            <a:off x="517585" y="0"/>
            <a:ext cx="11672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Introduction        ADTs        Math Background        </a:t>
            </a:r>
            <a:r>
              <a:rPr lang="en-US" b="1" dirty="0">
                <a:solidFill>
                  <a:schemeClr val="bg1"/>
                </a:solidFill>
              </a:rPr>
              <a:t>Model of Computation        </a:t>
            </a:r>
            <a:r>
              <a:rPr lang="en-US" dirty="0"/>
              <a:t>Correctness        Summary        Exercises</a:t>
            </a:r>
          </a:p>
        </p:txBody>
      </p:sp>
    </p:spTree>
    <p:extLst>
      <p:ext uri="{BB962C8B-B14F-4D97-AF65-F5344CB8AC3E}">
        <p14:creationId xmlns:p14="http://schemas.microsoft.com/office/powerpoint/2010/main" val="3498492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58BB4-15EB-19C2-9046-07047AEB1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Correctness, Time and Space Complexity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A52150-D353-9D13-80A3-82C69CEA67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400" dirty="0"/>
              <a:t>When studying the performance of a data structure, there are three things that matter most: </a:t>
            </a:r>
          </a:p>
          <a:p>
            <a:pPr>
              <a:lnSpc>
                <a:spcPct val="100000"/>
              </a:lnSpc>
            </a:pPr>
            <a:endParaRPr lang="en-US" sz="2400" dirty="0"/>
          </a:p>
          <a:p>
            <a:pPr>
              <a:lnSpc>
                <a:spcPct val="100000"/>
              </a:lnSpc>
            </a:pPr>
            <a:r>
              <a:rPr lang="en-US" sz="2400" b="1" dirty="0"/>
              <a:t>Correctness</a:t>
            </a:r>
            <a:r>
              <a:rPr lang="en-US" sz="2400" dirty="0"/>
              <a:t>: The data structure should correctly implement its interface.</a:t>
            </a:r>
          </a:p>
          <a:p>
            <a:pPr>
              <a:lnSpc>
                <a:spcPct val="100000"/>
              </a:lnSpc>
            </a:pPr>
            <a:endParaRPr lang="en-US" sz="2400" dirty="0"/>
          </a:p>
          <a:p>
            <a:pPr>
              <a:lnSpc>
                <a:spcPct val="100000"/>
              </a:lnSpc>
            </a:pPr>
            <a:r>
              <a:rPr lang="en-US" sz="2400" b="1" dirty="0"/>
              <a:t>Time complexity</a:t>
            </a:r>
            <a:r>
              <a:rPr lang="en-US" sz="2400" dirty="0"/>
              <a:t>: The running times of operations on the data structure should be as small as possible. </a:t>
            </a:r>
          </a:p>
          <a:p>
            <a:pPr>
              <a:lnSpc>
                <a:spcPct val="100000"/>
              </a:lnSpc>
            </a:pPr>
            <a:endParaRPr lang="en-US" sz="2400" dirty="0"/>
          </a:p>
          <a:p>
            <a:pPr>
              <a:lnSpc>
                <a:spcPct val="100000"/>
              </a:lnSpc>
            </a:pPr>
            <a:r>
              <a:rPr lang="en-US" sz="2400" b="1" dirty="0"/>
              <a:t>Space complexity</a:t>
            </a:r>
            <a:r>
              <a:rPr lang="en-US" sz="2400" dirty="0"/>
              <a:t>: The data structure should use as little memory as possible.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CF174A-1ADE-C2B2-893D-FBD410DD0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CS-201: Data Structures II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F356CC-069D-D373-9B40-71883A5F3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24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96208A-7229-E2C6-6828-761D14EC114C}"/>
              </a:ext>
            </a:extLst>
          </p:cNvPr>
          <p:cNvSpPr txBox="1"/>
          <p:nvPr/>
        </p:nvSpPr>
        <p:spPr>
          <a:xfrm>
            <a:off x="517585" y="0"/>
            <a:ext cx="11672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Introduction        ADTs        Math Background        Model of Computation        </a:t>
            </a:r>
            <a:r>
              <a:rPr lang="en-US" b="1" dirty="0">
                <a:solidFill>
                  <a:schemeClr val="bg1"/>
                </a:solidFill>
              </a:rPr>
              <a:t>Correctness</a:t>
            </a:r>
            <a:r>
              <a:rPr lang="en-US" dirty="0"/>
              <a:t>        Summary        Exercises</a:t>
            </a:r>
          </a:p>
        </p:txBody>
      </p:sp>
    </p:spTree>
    <p:extLst>
      <p:ext uri="{BB962C8B-B14F-4D97-AF65-F5344CB8AC3E}">
        <p14:creationId xmlns:p14="http://schemas.microsoft.com/office/powerpoint/2010/main" val="2863836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4A2AC-0EA0-1FBD-FA26-4E325A940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DD9711-604C-7D63-AFE6-07D25E8C01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400" dirty="0"/>
              <a:t>In this session we gave an introduction to the field of data structures by primarily introducing several abstract data types.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The Queue, Stack and Deque are basic ADTs which can be derived from the </a:t>
            </a:r>
            <a:r>
              <a:rPr lang="en-US" sz="2400" dirty="0" err="1"/>
              <a:t>the</a:t>
            </a:r>
            <a:r>
              <a:rPr lang="en-US" sz="2400" dirty="0"/>
              <a:t> List ADT.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We also studied the </a:t>
            </a:r>
            <a:r>
              <a:rPr lang="en-US" sz="2400" dirty="0" err="1"/>
              <a:t>USet</a:t>
            </a:r>
            <a:r>
              <a:rPr lang="en-US" sz="2400" dirty="0"/>
              <a:t> and </a:t>
            </a:r>
            <a:r>
              <a:rPr lang="en-US" sz="2400" dirty="0" err="1"/>
              <a:t>SSet</a:t>
            </a:r>
            <a:r>
              <a:rPr lang="en-US" sz="2400" dirty="0"/>
              <a:t> ADTs which represent the unsorted set and the sorted set ADTs.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We use the RAM Model of Computation,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When constructing and analyzing Data Structures, correctness, time complexity and space complexity are important parameters.</a:t>
            </a:r>
          </a:p>
          <a:p>
            <a:pPr>
              <a:lnSpc>
                <a:spcPct val="100000"/>
              </a:lnSpc>
            </a:pPr>
            <a:endParaRPr lang="en-US" sz="2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33865D-5C79-EC92-48BF-D66AB9C40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CS-201: Data Structures II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26063B-D410-3D6B-E14E-48DDFC56E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25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19A80F-9BB1-D4D2-0A20-A4580D3D4CE0}"/>
              </a:ext>
            </a:extLst>
          </p:cNvPr>
          <p:cNvSpPr txBox="1"/>
          <p:nvPr/>
        </p:nvSpPr>
        <p:spPr>
          <a:xfrm>
            <a:off x="517585" y="0"/>
            <a:ext cx="11672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Introduction        ADTs        Math Background        Model of Computation        Correctness        </a:t>
            </a:r>
            <a:r>
              <a:rPr lang="en-US" b="1" dirty="0">
                <a:solidFill>
                  <a:schemeClr val="bg1"/>
                </a:solidFill>
              </a:rPr>
              <a:t>Summary</a:t>
            </a:r>
            <a:r>
              <a:rPr lang="en-US" dirty="0"/>
              <a:t>        Exercises</a:t>
            </a:r>
          </a:p>
        </p:txBody>
      </p:sp>
    </p:spTree>
    <p:extLst>
      <p:ext uri="{BB962C8B-B14F-4D97-AF65-F5344CB8AC3E}">
        <p14:creationId xmlns:p14="http://schemas.microsoft.com/office/powerpoint/2010/main" val="887224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7314</TotalTime>
  <Words>2031</Words>
  <Application>Microsoft Office PowerPoint</Application>
  <PresentationFormat>Widescreen</PresentationFormat>
  <Paragraphs>227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Arial</vt:lpstr>
      <vt:lpstr>Calibri</vt:lpstr>
      <vt:lpstr>Calibri Light</vt:lpstr>
      <vt:lpstr>Consolas</vt:lpstr>
      <vt:lpstr>Gill Sans MT</vt:lpstr>
      <vt:lpstr>Office Theme</vt:lpstr>
      <vt:lpstr>CS 201: Data Structures II  Unit 01:  Abstract Data Types</vt:lpstr>
      <vt:lpstr> Unit Outline</vt:lpstr>
      <vt:lpstr> Introduction</vt:lpstr>
      <vt:lpstr> Data Structures</vt:lpstr>
      <vt:lpstr> Efficiency</vt:lpstr>
      <vt:lpstr> Efficiency: Case Study</vt:lpstr>
      <vt:lpstr> Abstract Data Types</vt:lpstr>
      <vt:lpstr> Abstract Data Types</vt:lpstr>
      <vt:lpstr> Abstract Data Types </vt:lpstr>
      <vt:lpstr> Abstract Data Types – Queue, Stack, Deque </vt:lpstr>
      <vt:lpstr>  ADTs – Queue </vt:lpstr>
      <vt:lpstr> ADTs – Priority Queues</vt:lpstr>
      <vt:lpstr> ADTs – Stacks </vt:lpstr>
      <vt:lpstr> ADTs - Deque</vt:lpstr>
      <vt:lpstr> Class Exercise</vt:lpstr>
      <vt:lpstr> ADTs – The List Interface</vt:lpstr>
      <vt:lpstr> Class Exercise</vt:lpstr>
      <vt:lpstr> ADTs – The USet Interface (Unordered Set)</vt:lpstr>
      <vt:lpstr> ADTs – The SSet Interface (Sorted Set)</vt:lpstr>
      <vt:lpstr> ADTs – find(x) in an SSet</vt:lpstr>
      <vt:lpstr> Exercise(s)</vt:lpstr>
      <vt:lpstr> Mathematical Background (Results)</vt:lpstr>
      <vt:lpstr> Model of Computation </vt:lpstr>
      <vt:lpstr> Correctness, Time and Space Complexity</vt:lpstr>
      <vt:lpstr> 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Faisal Alvi</dc:creator>
  <cp:lastModifiedBy>Faisal Alvi</cp:lastModifiedBy>
  <cp:revision>888</cp:revision>
  <dcterms:created xsi:type="dcterms:W3CDTF">2022-04-01T09:51:06Z</dcterms:created>
  <dcterms:modified xsi:type="dcterms:W3CDTF">2024-01-10T06:59:27Z</dcterms:modified>
</cp:coreProperties>
</file>