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62" r:id="rId2"/>
    <p:sldId id="264" r:id="rId3"/>
    <p:sldId id="730" r:id="rId4"/>
    <p:sldId id="731" r:id="rId5"/>
    <p:sldId id="732" r:id="rId6"/>
    <p:sldId id="733" r:id="rId7"/>
    <p:sldId id="734" r:id="rId8"/>
    <p:sldId id="735" r:id="rId9"/>
    <p:sldId id="736" r:id="rId10"/>
    <p:sldId id="737" r:id="rId11"/>
    <p:sldId id="738" r:id="rId12"/>
    <p:sldId id="723" r:id="rId13"/>
    <p:sldId id="724" r:id="rId14"/>
    <p:sldId id="727" r:id="rId15"/>
    <p:sldId id="725" r:id="rId16"/>
    <p:sldId id="726" r:id="rId17"/>
    <p:sldId id="728" r:id="rId18"/>
    <p:sldId id="729" r:id="rId19"/>
    <p:sldId id="739" r:id="rId20"/>
    <p:sldId id="740" r:id="rId21"/>
    <p:sldId id="741" r:id="rId22"/>
    <p:sldId id="742" r:id="rId23"/>
    <p:sldId id="74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4583CB8-9120-4919-A964-792EA406810A}">
          <p14:sldIdLst>
            <p14:sldId id="262"/>
            <p14:sldId id="264"/>
            <p14:sldId id="730"/>
            <p14:sldId id="731"/>
            <p14:sldId id="732"/>
            <p14:sldId id="733"/>
            <p14:sldId id="734"/>
            <p14:sldId id="735"/>
            <p14:sldId id="736"/>
            <p14:sldId id="737"/>
            <p14:sldId id="738"/>
            <p14:sldId id="723"/>
            <p14:sldId id="724"/>
            <p14:sldId id="727"/>
            <p14:sldId id="725"/>
            <p14:sldId id="726"/>
            <p14:sldId id="728"/>
            <p14:sldId id="729"/>
            <p14:sldId id="739"/>
            <p14:sldId id="740"/>
            <p14:sldId id="741"/>
            <p14:sldId id="742"/>
            <p14:sldId id="7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FFCCCC"/>
    <a:srgbClr val="FFFFCC"/>
    <a:srgbClr val="CCFFFF"/>
    <a:srgbClr val="99FFCC"/>
    <a:srgbClr val="FF9999"/>
    <a:srgbClr val="FF00FF"/>
    <a:srgbClr val="3F1749"/>
    <a:srgbClr val="660033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 snapToGrid="0">
      <p:cViewPr varScale="1">
        <p:scale>
          <a:sx n="74" d="100"/>
          <a:sy n="74" d="100"/>
        </p:scale>
        <p:origin x="364" y="64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C6DF84-CD1F-4FA6-8BC8-E893B696DB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EE00F5-A9A7-4164-9154-87868DA7B4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835A1-0E46-4E70-BE50-D16D92BA4F06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8731D-8B59-4095-B77A-4BC76754C1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1D674-0CD9-4F38-9541-10F8D4CF12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A66C0-A5B3-4976-B3B0-D5887CB7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49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04257-2063-464D-8392-2DAA70F807F3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DBBA1-8DB8-4FE4-8A77-5307E3FF1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54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EC820-F06A-4B86-BF0B-B3F6612CA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854DBB-C47C-49E9-9D9C-CA5C80EA2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Gill Sans MT" panose="020B05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0DD88-B242-467D-BEB5-FB8F7EF9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69A8C-3893-4697-8DCE-E8D29603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924B38-6344-1101-CED8-B9C1500E80E7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29A5D-1308-E10C-202B-3DEF0CAECB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15566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A5013-5E51-49C0-BC22-8E93E632C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381" y="410368"/>
            <a:ext cx="12192000" cy="1325563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	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E4D83-D539-4263-B106-C711256BE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894F8B-ED69-49D9-B6CD-CC002E9B2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2B2E41-6AC9-4EA2-B3F7-D0541296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9705D3-83C8-16A9-3AE4-F96B6A26C65F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AF1FB-19E1-0DAE-FD18-DC60EDFAAC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81845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20FEA-A9EE-4984-A777-E95860841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5FA1F-94A1-45CE-84C6-23F77E0C3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D99CA-D285-4F1A-9EF3-9FF6A7537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F42B6-DC9F-4E20-85F3-748AB2CF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B8D539-AF05-6879-DBE7-958561F71780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3BFEB-A61A-BC44-0BF0-D7A0547C8C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85622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21E5E-0811-4F8F-B2BD-F0EA8FE0D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19ED3-0C43-4509-8413-12035F885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11BA6-FC26-4989-AC9B-C61626147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FBF8E-11D8-47C3-B42E-CB9685CA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F29262B-DCE4-453C-AC44-46A76531A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FFAA2E-80D3-7C42-DC59-98E39C2D21B7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F00280-50F5-5F70-653E-910E8D8B6E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7188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1E841-4E40-4E94-9C41-48CA6FFFA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Gill Sans MT" panose="020B05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33963-8E17-4AED-BD0A-6C7EDF769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9669F-0CC8-486E-A29E-8F810DC05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Gill Sans MT" panose="020B05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D48C6F-C450-4648-9828-249C92913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D1B2B-27A1-4F00-A12E-45D62A00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17AE76-9D91-4D7D-9245-EF3809963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5BDD155-2A18-4842-8FBF-76C05561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8EFABF-4B26-80A9-1902-8F1C022B8FBD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DFECC7-AF09-1B48-F3CE-2C13C1020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56621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E2322-36E5-40B2-B77C-3FEDCE71F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CF9BB-D046-456C-9FE7-4EF522F8F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15D108B-C064-4DBF-88BA-3195AD63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7005D-A76C-B48A-033D-BD4761CD5221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B081A7-AD93-2EB6-E24F-3D29243269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59255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C6141-32E6-4033-A96E-2767E51E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1312C-54FA-4E5C-A078-885B1740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C24A72-8058-B3A9-85FC-3D15768C0226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028F2-BBFF-021F-3D35-1EF63AF80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07375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F386-C2A1-4165-AA90-A143B880E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5B62E-7997-4D6A-894F-CBFA127EA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Gill Sans MT" panose="020B0502020104020203" pitchFamily="34" charset="0"/>
              </a:defRPr>
            </a:lvl1pPr>
            <a:lvl2pPr>
              <a:defRPr sz="2800">
                <a:latin typeface="Gill Sans MT" panose="020B0502020104020203" pitchFamily="34" charset="0"/>
              </a:defRPr>
            </a:lvl2pPr>
            <a:lvl3pPr>
              <a:defRPr sz="2400">
                <a:latin typeface="Gill Sans MT" panose="020B0502020104020203" pitchFamily="34" charset="0"/>
              </a:defRPr>
            </a:lvl3pPr>
            <a:lvl4pPr>
              <a:defRPr sz="2000">
                <a:latin typeface="Gill Sans MT" panose="020B0502020104020203" pitchFamily="34" charset="0"/>
              </a:defRPr>
            </a:lvl4pPr>
            <a:lvl5pPr>
              <a:defRPr sz="2000">
                <a:latin typeface="Gill Sans MT" panose="020B05020201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69036-BD0D-405E-ABE5-3182D7948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Gill Sans MT" panose="020B05020201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81FBA-E5AB-4AE8-AD85-5CEC95094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195D8-F0EB-4DED-84FF-85995992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CB8084-E2C0-B052-D570-30CCC80650D2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D89BFB-2DDC-58C5-D56B-835ECD4851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2396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EEA1B-D3EA-4191-B9A2-C992A45E7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61EAE-65C4-4E5D-9671-81BC47EE3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9A2D6-4D6D-46D5-A4DA-2F27FD63A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Gill Sans MT" panose="020B05020201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DD90B-51A9-4BB5-8E85-28B0FF6D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05A6B-C7C7-40DC-AD0A-81C8E82E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9A52A7-B87F-6F5D-9D3D-0E043AC9BCEC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7219D-390B-2454-591A-C0C352CC48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524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4ED30-B69B-4F0A-B2A1-AEF6DCC0A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A1C9C-5BCD-4DA9-AEAC-A9DF4661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65505-CACA-43A9-9065-9CB6A657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6A8C93-9DFB-40D7-BBC9-8ABC8B9063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09C756-9073-F325-5EB0-5206EFDFD988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80842B-CD63-C3F6-F359-880E7D73A9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0231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BE4F7F-D510-4E3E-ADF8-0BBCAFBEF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16348-6040-4EC7-84FA-ACD6AE03C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69F16-A748-4C8D-A3E5-A464C526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61486-9E05-4F23-A92B-A1B7ABF5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69A90D-1D2D-54EC-460B-80A244499CF5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77A213-4704-FD9B-256C-40AB15D0AD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924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8F7C8-354E-4F2A-8234-DE180760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D10E1-2BF3-41D1-8698-8FAD6110C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98958-B1D7-4842-BAFF-219194268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BA6A7-670D-4A8E-A302-1B47C3B95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8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isal.alvi@sse.habib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F689-049A-5781-A66E-033ED88C0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551" y="1122363"/>
            <a:ext cx="11714922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2700" dirty="0"/>
              <a:t>CS 201: Data Structures II</a:t>
            </a:r>
            <a:br>
              <a:rPr lang="en-US" sz="2700" dirty="0"/>
            </a:br>
            <a:br>
              <a:rPr lang="en-US" sz="4900" dirty="0"/>
            </a:br>
            <a:r>
              <a:rPr lang="en-US" sz="4900" dirty="0"/>
              <a:t>Unit 02 – Week 02: </a:t>
            </a:r>
            <a:br>
              <a:rPr lang="en-US" sz="4900" dirty="0"/>
            </a:br>
            <a:r>
              <a:rPr lang="en-US" sz="4900" dirty="0"/>
              <a:t>Array Based Lists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20C7-F1FC-0FDE-ABA7-47DA4A7A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C26B2-ABC0-0DDD-0A2C-573D9B13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4E332-59FA-A702-3302-E9C13C7D4461}"/>
              </a:ext>
            </a:extLst>
          </p:cNvPr>
          <p:cNvSpPr txBox="1"/>
          <p:nvPr/>
        </p:nvSpPr>
        <p:spPr>
          <a:xfrm>
            <a:off x="477078" y="26504"/>
            <a:ext cx="11714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Habib University – Shaping Futures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29C37EA-5D66-A27C-EB91-FF555785C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035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Gill Sans MT"/>
              </a:rPr>
              <a:t>Faisal Alvi</a:t>
            </a: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r>
              <a:rPr lang="en-US" sz="1800" dirty="0">
                <a:latin typeface="Gill Sans MT"/>
              </a:rPr>
              <a:t>(For any suggested modifications please email: </a:t>
            </a:r>
            <a:r>
              <a:rPr lang="en-US" sz="1800" dirty="0">
                <a:latin typeface="Consolas" panose="020B0609020204030204" pitchFamily="49" charset="0"/>
                <a:hlinkClick r:id="rId2"/>
              </a:rPr>
              <a:t>faisal.alvi@sse.habib.edu.pk</a:t>
            </a:r>
            <a:r>
              <a:rPr lang="en-US" sz="1800" dirty="0">
                <a:latin typeface="Gill Sans MT"/>
              </a:rPr>
              <a:t>)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39313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3E23-B2FF-967B-635C-715BE842B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Unit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88074-EB1B-1FEF-394D-487B31B95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08" y="1825625"/>
            <a:ext cx="10597792" cy="4351338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2400" dirty="0"/>
              <a:t>Introduction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2400" dirty="0" err="1"/>
              <a:t>ArrayStack</a:t>
            </a:r>
            <a:r>
              <a:rPr lang="en-US" sz="2400" dirty="0"/>
              <a:t> – Amortized Analysis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2400" dirty="0" err="1"/>
              <a:t>ArrayDeque</a:t>
            </a:r>
            <a:endParaRPr lang="en-US" sz="2400" dirty="0"/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2400" dirty="0" err="1"/>
              <a:t>DualArrayDeque</a:t>
            </a:r>
            <a:r>
              <a:rPr lang="en-US" sz="2400" dirty="0"/>
              <a:t> (Time Permitting)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2400" dirty="0"/>
              <a:t>Summary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9D961-DA95-BD15-156F-922172148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D456-772D-AD8C-9483-FAA0876A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A05215-262A-4723-8C2F-688D3E479671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ArrayStack</a:t>
            </a:r>
            <a:r>
              <a:rPr lang="en-US" dirty="0"/>
              <a:t> – Amortized Analysis		</a:t>
            </a:r>
            <a:r>
              <a:rPr lang="en-US" dirty="0" err="1"/>
              <a:t>ArrayDeque</a:t>
            </a:r>
            <a:r>
              <a:rPr lang="en-US" dirty="0"/>
              <a:t>            		</a:t>
            </a:r>
            <a:r>
              <a:rPr lang="en-US" dirty="0" err="1"/>
              <a:t>DualArrayDeque</a:t>
            </a:r>
            <a:r>
              <a:rPr lang="en-US" dirty="0"/>
              <a:t>            	Summary            </a:t>
            </a:r>
          </a:p>
        </p:txBody>
      </p:sp>
    </p:spTree>
    <p:extLst>
      <p:ext uri="{BB962C8B-B14F-4D97-AF65-F5344CB8AC3E}">
        <p14:creationId xmlns:p14="http://schemas.microsoft.com/office/powerpoint/2010/main" val="304385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7C7DE-985A-1220-B00E-DEBE9762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ArrayStack</a:t>
            </a:r>
            <a:r>
              <a:rPr lang="en-US" dirty="0"/>
              <a:t> – Amortized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37A6C-3934-90CE-1D27-59AEF0533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1582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Let us recall that an </a:t>
            </a:r>
            <a:r>
              <a:rPr lang="en-US" sz="2400" dirty="0" err="1"/>
              <a:t>ArrayStack</a:t>
            </a:r>
            <a:r>
              <a:rPr lang="en-US" sz="2400" dirty="0"/>
              <a:t> presented a list based implementation of a Stack.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 following functions were part of an </a:t>
            </a:r>
            <a:r>
              <a:rPr lang="en-US" sz="2400" dirty="0" err="1"/>
              <a:t>ArrayStack</a:t>
            </a:r>
            <a:r>
              <a:rPr lang="en-US" sz="2400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add(</a:t>
            </a:r>
            <a:r>
              <a:rPr lang="en-US" i="1" dirty="0" err="1"/>
              <a:t>i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dirty="0"/>
              <a:t>), 				remove(</a:t>
            </a:r>
            <a:r>
              <a:rPr lang="en-US" i="1" dirty="0" err="1"/>
              <a:t>i</a:t>
            </a:r>
            <a:r>
              <a:rPr lang="en-US" dirty="0"/>
              <a:t>), 			resize()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push(</a:t>
            </a:r>
            <a:r>
              <a:rPr lang="en-US" sz="2400" i="1" dirty="0"/>
              <a:t>x</a:t>
            </a:r>
            <a:r>
              <a:rPr lang="en-US" sz="2400" dirty="0"/>
              <a:t>) and pop() can be implemented as add(</a:t>
            </a:r>
            <a:r>
              <a:rPr lang="en-US" sz="2400" i="1" dirty="0"/>
              <a:t>n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) and remove(</a:t>
            </a:r>
            <a:r>
              <a:rPr lang="en-US" sz="2400" i="1" dirty="0"/>
              <a:t>n</a:t>
            </a:r>
            <a:r>
              <a:rPr lang="en-US" sz="2400" dirty="0"/>
              <a:t> – 1) respectively.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resize() resizes an array – if the array is full, a new array 2 x the original array is created.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if the array is at least two-thirds empty, a new array half the original array is created.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2EDA89-43DB-AE65-8553-441EB8AC6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C71497-F2C9-E4A1-505E-45682F49A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E97CCE-A0F3-4080-7DE2-99EF7F58CC03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ArrayStack</a:t>
            </a:r>
            <a:r>
              <a:rPr lang="en-US" b="1" dirty="0">
                <a:solidFill>
                  <a:schemeClr val="bg1"/>
                </a:solidFill>
              </a:rPr>
              <a:t> – Amortized Analysis</a:t>
            </a:r>
            <a:r>
              <a:rPr lang="en-US" dirty="0"/>
              <a:t>		</a:t>
            </a:r>
            <a:r>
              <a:rPr lang="en-US" dirty="0" err="1"/>
              <a:t>ArrayDeque</a:t>
            </a:r>
            <a:r>
              <a:rPr lang="en-US" dirty="0"/>
              <a:t>            		</a:t>
            </a:r>
            <a:r>
              <a:rPr lang="en-US" dirty="0" err="1"/>
              <a:t>DualArrayDeque</a:t>
            </a:r>
            <a:r>
              <a:rPr lang="en-US" dirty="0"/>
              <a:t>            	Summary            </a:t>
            </a:r>
          </a:p>
        </p:txBody>
      </p:sp>
    </p:spTree>
    <p:extLst>
      <p:ext uri="{BB962C8B-B14F-4D97-AF65-F5344CB8AC3E}">
        <p14:creationId xmlns:p14="http://schemas.microsoft.com/office/powerpoint/2010/main" val="79205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8026C-5F9D-A343-D561-67449814F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ArrayStack</a:t>
            </a:r>
            <a:r>
              <a:rPr lang="en-US" dirty="0"/>
              <a:t> – Amortized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27F1B-0404-5BD1-DA4E-680FFF94B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From an earlier course in Data Structures and Algorithms, you have covered: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Best Case, Worst Case, and Average Case Analysis.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Best case analysis </a:t>
            </a:r>
            <a:r>
              <a:rPr lang="en-US" sz="2400" dirty="0"/>
              <a:t>evaluates the performance of an algorithm under the assumption that it operates on the most favorable input, providing an optimistic perspective on its efficiency.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Worst case analysis </a:t>
            </a:r>
            <a:r>
              <a:rPr lang="en-US" sz="2400" dirty="0"/>
              <a:t>assesses the performance of an algorithm based on the input that results in the maximum execution time.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Average case analysis </a:t>
            </a:r>
            <a:r>
              <a:rPr lang="en-US" sz="2400" dirty="0"/>
              <a:t>in algorithm design and analysis evaluates the expected performance of an algorithm by considering the average behavior over all possible inputs, providing a more realistic estimate of its efficiency.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FF5DC5-A8E1-E8A5-9998-71013479E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988070-9AD9-496B-A11F-78AD2F038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C94D6C-EB6C-6636-E6C3-763AE06FB173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ArrayStack</a:t>
            </a:r>
            <a:r>
              <a:rPr lang="en-US" b="1" dirty="0">
                <a:solidFill>
                  <a:schemeClr val="bg1"/>
                </a:solidFill>
              </a:rPr>
              <a:t> – Amortized Analysis</a:t>
            </a:r>
            <a:r>
              <a:rPr lang="en-US" b="1" dirty="0"/>
              <a:t>		</a:t>
            </a:r>
            <a:r>
              <a:rPr lang="en-US" dirty="0" err="1"/>
              <a:t>ArrayDeque</a:t>
            </a:r>
            <a:r>
              <a:rPr lang="en-US" b="1" dirty="0"/>
              <a:t>            		</a:t>
            </a:r>
            <a:r>
              <a:rPr lang="en-US" dirty="0" err="1"/>
              <a:t>DualArrayDeque</a:t>
            </a:r>
            <a:r>
              <a:rPr lang="en-US" b="1" dirty="0"/>
              <a:t>            	</a:t>
            </a:r>
            <a:r>
              <a:rPr lang="en-US" dirty="0"/>
              <a:t>Summary</a:t>
            </a:r>
            <a:r>
              <a:rPr lang="en-US" b="1"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333834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C5B5A-DA54-CDA3-B8B7-6663624CB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Amortized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9ECDF-FC98-708F-B439-7A2961CA2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Amortized analysis for a selected data structure evaluates the average cost per operation over a sequence of operations.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Although individual operations may have varying costs, amortized analysis is used to provide a more accurate and balanced assessment.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This is particularly useful in cases where some operations may be more expensive than others.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Example: </a:t>
            </a:r>
            <a:r>
              <a:rPr lang="en-US" sz="2400" dirty="0" err="1"/>
              <a:t>Multipop</a:t>
            </a:r>
            <a:r>
              <a:rPr lang="en-US" sz="2400" dirty="0"/>
              <a:t>(</a:t>
            </a:r>
            <a:r>
              <a:rPr lang="en-US" sz="2400" i="1" dirty="0"/>
              <a:t>k</a:t>
            </a:r>
            <a:r>
              <a:rPr lang="en-US" sz="2400" dirty="0"/>
              <a:t>) operation in a stack. This pops ‘k’ elements off the stack.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Although its time complexity is O(</a:t>
            </a:r>
            <a:r>
              <a:rPr lang="en-US" sz="2400" i="1" dirty="0"/>
              <a:t>k</a:t>
            </a:r>
            <a:r>
              <a:rPr lang="en-US" sz="2400" dirty="0"/>
              <a:t>), it must be preceded by at least </a:t>
            </a:r>
            <a:r>
              <a:rPr lang="en-US" sz="2400" i="1" dirty="0"/>
              <a:t>k</a:t>
            </a:r>
            <a:r>
              <a:rPr lang="en-US" sz="2400" dirty="0"/>
              <a:t> push operations, resulting in an overall O(1) complexity per operation.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49D48D-5D97-FFF6-DAC8-6900612DA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108BF-DD0F-7A57-242B-91DB457DB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2A6D55-60E1-D00E-D431-4E0C1139225C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ArrayStack</a:t>
            </a:r>
            <a:r>
              <a:rPr lang="en-US" b="1" dirty="0">
                <a:solidFill>
                  <a:schemeClr val="bg1"/>
                </a:solidFill>
              </a:rPr>
              <a:t> – Amortized Analysis</a:t>
            </a:r>
            <a:r>
              <a:rPr lang="en-US" b="1" dirty="0"/>
              <a:t>		</a:t>
            </a:r>
            <a:r>
              <a:rPr lang="en-US" dirty="0" err="1"/>
              <a:t>ArrayDeque</a:t>
            </a:r>
            <a:r>
              <a:rPr lang="en-US" b="1" dirty="0"/>
              <a:t>            		</a:t>
            </a:r>
            <a:r>
              <a:rPr lang="en-US" dirty="0" err="1"/>
              <a:t>DualArrayDeque</a:t>
            </a:r>
            <a:r>
              <a:rPr lang="en-US" b="1" dirty="0"/>
              <a:t>            	</a:t>
            </a:r>
            <a:r>
              <a:rPr lang="en-US" dirty="0"/>
              <a:t>Summary</a:t>
            </a:r>
            <a:r>
              <a:rPr lang="en-US" b="1"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2558718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8A939-FFE9-E609-D91F-A6D45BB20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ArrayStack</a:t>
            </a:r>
            <a:r>
              <a:rPr lang="en-US" dirty="0"/>
              <a:t> – Amortized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0CB4F-E2B0-5AF0-FA6A-A316076C7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150"/>
            <a:ext cx="10515600" cy="4351338"/>
          </a:xfrm>
        </p:spPr>
        <p:txBody>
          <a:bodyPr/>
          <a:lstStyle/>
          <a:p>
            <a:r>
              <a:rPr lang="en-US" dirty="0"/>
              <a:t>Recall the add, remove and resize operations: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D769CD-0063-C223-33A7-D6EE164A8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B83A62-0928-9956-918B-FEE0412B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B9BAF2-E3D2-712D-C668-1BCFACDEA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95" y="2265951"/>
            <a:ext cx="8210972" cy="26671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7B4F7B-A9AD-4EA5-0957-EC93BE863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846" y="4159713"/>
            <a:ext cx="8280826" cy="2457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37A706-3DE0-413C-DA37-7070EA059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215" y="2343454"/>
            <a:ext cx="4563408" cy="27594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CB0CD7-6E3C-F9F4-0B95-4213729426EA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ArrayStack</a:t>
            </a:r>
            <a:r>
              <a:rPr lang="en-US" b="1" dirty="0">
                <a:solidFill>
                  <a:schemeClr val="bg1"/>
                </a:solidFill>
              </a:rPr>
              <a:t> – Amortized Analysis</a:t>
            </a:r>
            <a:r>
              <a:rPr lang="en-US" b="1" dirty="0"/>
              <a:t>		</a:t>
            </a:r>
            <a:r>
              <a:rPr lang="en-US" dirty="0" err="1"/>
              <a:t>ArrayDeque</a:t>
            </a:r>
            <a:r>
              <a:rPr lang="en-US" b="1" dirty="0"/>
              <a:t>            		</a:t>
            </a:r>
            <a:r>
              <a:rPr lang="en-US" dirty="0" err="1"/>
              <a:t>DualArrayDeque</a:t>
            </a:r>
            <a:r>
              <a:rPr lang="en-US" b="1" dirty="0"/>
              <a:t>            	</a:t>
            </a:r>
            <a:r>
              <a:rPr lang="en-US" dirty="0"/>
              <a:t>Summary</a:t>
            </a:r>
            <a:r>
              <a:rPr lang="en-US" b="1"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189966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4BD74-A1C5-71A3-D209-AC1404A3D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ArrayStack</a:t>
            </a:r>
            <a:r>
              <a:rPr lang="en-US" dirty="0"/>
              <a:t> – Amortized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F9D8D-4540-9BBE-38B8-47657263B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06126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From the preceding code, we see that the worst case time complexity of the resize() operation is O(</a:t>
            </a:r>
            <a:r>
              <a:rPr lang="en-US" sz="2400" i="1" dirty="0"/>
              <a:t>n</a:t>
            </a:r>
            <a:r>
              <a:rPr lang="en-US" sz="2400" dirty="0"/>
              <a:t>).</a:t>
            </a:r>
          </a:p>
          <a:p>
            <a:pPr>
              <a:lnSpc>
                <a:spcPct val="100000"/>
              </a:lnSpc>
            </a:pPr>
            <a:r>
              <a:rPr lang="en-US" sz="2400" i="1" dirty="0"/>
              <a:t>If we include</a:t>
            </a:r>
            <a:r>
              <a:rPr lang="en-US" sz="2400" dirty="0"/>
              <a:t> the call to resize() within the add() and remove() operations, the worst case time complexity of each one of these operations is also O(</a:t>
            </a:r>
            <a:r>
              <a:rPr lang="en-US" sz="2400" i="1" dirty="0"/>
              <a:t>n</a:t>
            </a:r>
            <a:r>
              <a:rPr lang="en-US" sz="2400" dirty="0"/>
              <a:t>).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Suppose we begin with an empty </a:t>
            </a:r>
            <a:r>
              <a:rPr lang="en-US" sz="2400" dirty="0" err="1"/>
              <a:t>ArrayStack</a:t>
            </a:r>
            <a:r>
              <a:rPr lang="en-US" sz="2400" dirty="0"/>
              <a:t>, and using </a:t>
            </a:r>
            <a:r>
              <a:rPr lang="en-US" sz="2400" i="1" dirty="0"/>
              <a:t>m</a:t>
            </a:r>
            <a:r>
              <a:rPr lang="en-US" sz="2400" dirty="0"/>
              <a:t> </a:t>
            </a:r>
            <a:r>
              <a:rPr lang="en-US" sz="2400" dirty="0">
                <a:sym typeface="Symbol" panose="05050102010706020507" pitchFamily="18" charset="2"/>
              </a:rPr>
              <a:t> 1 calls to add() and remove, we want to create our required stack.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ym typeface="Symbol" panose="05050102010706020507" pitchFamily="18" charset="2"/>
              </a:rPr>
              <a:t>The call sequence could be: add(), add(), remove(), add() … (</a:t>
            </a:r>
            <a:r>
              <a:rPr lang="en-US" sz="2400" i="1" dirty="0">
                <a:sym typeface="Symbol" panose="05050102010706020507" pitchFamily="18" charset="2"/>
              </a:rPr>
              <a:t>m</a:t>
            </a:r>
            <a:r>
              <a:rPr lang="en-US" sz="2400" dirty="0">
                <a:sym typeface="Symbol" panose="05050102010706020507" pitchFamily="18" charset="2"/>
              </a:rPr>
              <a:t> calls)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ym typeface="Symbol" panose="05050102010706020507" pitchFamily="18" charset="2"/>
              </a:rPr>
              <a:t>Apparently the worst case time complexity of these operations will be O(</a:t>
            </a:r>
            <a:r>
              <a:rPr lang="en-US" sz="2400" i="1" dirty="0" err="1">
                <a:sym typeface="Symbol" panose="05050102010706020507" pitchFamily="18" charset="2"/>
              </a:rPr>
              <a:t>mn</a:t>
            </a:r>
            <a:r>
              <a:rPr lang="en-US" sz="2400" dirty="0">
                <a:sym typeface="Symbol" panose="05050102010706020507" pitchFamily="18" charset="2"/>
              </a:rPr>
              <a:t>). </a:t>
            </a:r>
            <a:r>
              <a:rPr lang="en-US" sz="24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In particular, for </a:t>
            </a:r>
            <a:r>
              <a:rPr lang="en-US" sz="2400" i="1" dirty="0"/>
              <a:t>m</a:t>
            </a:r>
            <a:r>
              <a:rPr lang="en-US" sz="2400" dirty="0"/>
              <a:t> = </a:t>
            </a:r>
            <a:r>
              <a:rPr lang="en-US" sz="2400" i="1" dirty="0"/>
              <a:t>n</a:t>
            </a:r>
            <a:r>
              <a:rPr lang="en-US" sz="2400" dirty="0"/>
              <a:t>, this is O(</a:t>
            </a:r>
            <a:r>
              <a:rPr lang="en-US" sz="2400" i="1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) – a pessimistic (and </a:t>
            </a:r>
            <a:r>
              <a:rPr lang="en-US" sz="2400" b="1" dirty="0">
                <a:solidFill>
                  <a:srgbClr val="FF0000"/>
                </a:solidFill>
              </a:rPr>
              <a:t>incorrect</a:t>
            </a:r>
            <a:r>
              <a:rPr lang="en-US" sz="2400" dirty="0"/>
              <a:t>) estimate.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FD4162-01BC-7DBC-CD04-5BFC152AF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527B5-DD0D-45AC-25BF-E882DFA5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DA4A3E-CD2B-5DE2-7517-F4C009A23376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ArrayStack</a:t>
            </a:r>
            <a:r>
              <a:rPr lang="en-US" b="1" dirty="0">
                <a:solidFill>
                  <a:schemeClr val="bg1"/>
                </a:solidFill>
              </a:rPr>
              <a:t> – Amortized Analysis</a:t>
            </a:r>
            <a:r>
              <a:rPr lang="en-US" b="1" dirty="0"/>
              <a:t>		</a:t>
            </a:r>
            <a:r>
              <a:rPr lang="en-US" dirty="0" err="1"/>
              <a:t>ArrayDeque</a:t>
            </a:r>
            <a:r>
              <a:rPr lang="en-US" b="1" dirty="0"/>
              <a:t>            		</a:t>
            </a:r>
            <a:r>
              <a:rPr lang="en-US" dirty="0" err="1"/>
              <a:t>DualArrayDeque</a:t>
            </a:r>
            <a:r>
              <a:rPr lang="en-US" b="1" dirty="0"/>
              <a:t>            	</a:t>
            </a:r>
            <a:r>
              <a:rPr lang="en-US" dirty="0"/>
              <a:t>Summary</a:t>
            </a:r>
            <a:r>
              <a:rPr lang="en-US" b="1"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28754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C72AE-26EC-C147-0DFD-85694CBE7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ArrayStack</a:t>
            </a:r>
            <a:r>
              <a:rPr lang="en-US" dirty="0"/>
              <a:t> – Amortized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001BB70-0F7C-F8DB-3483-B74AC8118B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6031" y="1813702"/>
            <a:ext cx="9765883" cy="132556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797B81-179C-C1F1-172F-948E03CC9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EA6037-49CC-3D1B-C1C8-09E9DD113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58EBCA-C3BC-CDEA-B20F-C52907D525A1}"/>
              </a:ext>
            </a:extLst>
          </p:cNvPr>
          <p:cNvSpPr txBox="1"/>
          <p:nvPr/>
        </p:nvSpPr>
        <p:spPr>
          <a:xfrm>
            <a:off x="1038225" y="3429000"/>
            <a:ext cx="97658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0"/>
              </a:rPr>
              <a:t>Before giving the formal proof, we note that resize() is not called with each call to add() or remove().</a:t>
            </a:r>
          </a:p>
          <a:p>
            <a:endParaRPr lang="en-US" sz="2400" dirty="0">
              <a:latin typeface="Gill Sans MT" panose="020B0502020104020203" pitchFamily="34" charset="0"/>
            </a:endParaRPr>
          </a:p>
          <a:p>
            <a:r>
              <a:rPr lang="en-US" sz="2400" dirty="0" err="1">
                <a:latin typeface="Gill Sans MT" panose="020B0502020104020203" pitchFamily="34" charset="0"/>
              </a:rPr>
              <a:t>Infact</a:t>
            </a:r>
            <a:r>
              <a:rPr lang="en-US" sz="2400" dirty="0">
                <a:latin typeface="Gill Sans MT" panose="020B0502020104020203" pitchFamily="34" charset="0"/>
              </a:rPr>
              <a:t>, preceding each call to resize(), at least </a:t>
            </a:r>
            <a:r>
              <a:rPr lang="en-US" sz="2400" i="1" dirty="0">
                <a:latin typeface="Gill Sans MT" panose="020B0502020104020203" pitchFamily="34" charset="0"/>
              </a:rPr>
              <a:t>n / </a:t>
            </a:r>
            <a:r>
              <a:rPr lang="en-US" sz="2400" dirty="0">
                <a:latin typeface="Gill Sans MT" panose="020B0502020104020203" pitchFamily="34" charset="0"/>
              </a:rPr>
              <a:t>2 – 1 calls have been made to add() or remove(), where </a:t>
            </a:r>
            <a:r>
              <a:rPr lang="en-US" sz="2400" i="1" dirty="0">
                <a:latin typeface="Gill Sans MT" panose="020B0502020104020203" pitchFamily="34" charset="0"/>
              </a:rPr>
              <a:t>n</a:t>
            </a:r>
            <a:r>
              <a:rPr lang="en-US" sz="2400" dirty="0">
                <a:latin typeface="Gill Sans MT" panose="020B0502020104020203" pitchFamily="34" charset="0"/>
              </a:rPr>
              <a:t> is the size of the stack.</a:t>
            </a:r>
          </a:p>
          <a:p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2A38B5-3053-0E02-B7EF-BD922512262A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ArrayStack</a:t>
            </a:r>
            <a:r>
              <a:rPr lang="en-US" b="1" dirty="0">
                <a:solidFill>
                  <a:schemeClr val="bg1"/>
                </a:solidFill>
              </a:rPr>
              <a:t> – Amortized Analysis</a:t>
            </a:r>
            <a:r>
              <a:rPr lang="en-US" b="1" dirty="0"/>
              <a:t>		</a:t>
            </a:r>
            <a:r>
              <a:rPr lang="en-US" dirty="0" err="1"/>
              <a:t>ArrayDeque</a:t>
            </a:r>
            <a:r>
              <a:rPr lang="en-US" b="1" dirty="0"/>
              <a:t>            		</a:t>
            </a:r>
            <a:r>
              <a:rPr lang="en-US" dirty="0" err="1"/>
              <a:t>DualArrayDeque</a:t>
            </a:r>
            <a:r>
              <a:rPr lang="en-US" b="1" dirty="0"/>
              <a:t>            	</a:t>
            </a:r>
            <a:r>
              <a:rPr lang="en-US" dirty="0"/>
              <a:t>Summary</a:t>
            </a:r>
            <a:r>
              <a:rPr lang="en-US" b="1"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112483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1861B-E591-7204-071C-8C68EB912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ArrayStack</a:t>
            </a:r>
            <a:r>
              <a:rPr lang="en-US" dirty="0"/>
              <a:t> – Amortized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A9D9F-14D4-5209-870A-AF3F175CC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Proof:  First, we will prove that any call to resize() requires at least </a:t>
            </a:r>
            <a:r>
              <a:rPr lang="en-US" sz="2400" i="1" dirty="0"/>
              <a:t>n</a:t>
            </a:r>
            <a:r>
              <a:rPr lang="en-US" sz="2400" dirty="0"/>
              <a:t> / 2 – 1 calls to add or remove.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D940C1-D2F3-45D5-B709-4D7A5C02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04067-7631-62A2-3711-1EDA2710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751FD6-9293-6891-294F-67460A348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31" y="2752690"/>
            <a:ext cx="9788644" cy="28639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314FA1-C18F-485B-0FCB-64EEEF1AD9B9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ArrayStack</a:t>
            </a:r>
            <a:r>
              <a:rPr lang="en-US" b="1" dirty="0">
                <a:solidFill>
                  <a:schemeClr val="bg1"/>
                </a:solidFill>
              </a:rPr>
              <a:t> – Amortized Analysis</a:t>
            </a:r>
            <a:r>
              <a:rPr lang="en-US" b="1" dirty="0"/>
              <a:t>		</a:t>
            </a:r>
            <a:r>
              <a:rPr lang="en-US" dirty="0" err="1"/>
              <a:t>ArrayDeque</a:t>
            </a:r>
            <a:r>
              <a:rPr lang="en-US" b="1" dirty="0"/>
              <a:t>            		</a:t>
            </a:r>
            <a:r>
              <a:rPr lang="en-US" dirty="0" err="1"/>
              <a:t>DualArrayDeque</a:t>
            </a:r>
            <a:r>
              <a:rPr lang="en-US" b="1" dirty="0"/>
              <a:t>            	</a:t>
            </a:r>
            <a:r>
              <a:rPr lang="en-US" dirty="0"/>
              <a:t>Summary</a:t>
            </a:r>
            <a:r>
              <a:rPr lang="en-US" b="1"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437976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92623-8CFA-E6E3-93CC-3A48DF9AF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ArrayStack</a:t>
            </a:r>
            <a:r>
              <a:rPr lang="en-US" dirty="0"/>
              <a:t> – Amortized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F266E-7119-C491-427C-92C8B5AE7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Proof (Continued):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04B32-AD1A-4A26-5713-C2687A710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E680A6-0C98-4F6B-F336-BB01A8B03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AE6BE-6DCC-B864-5729-FF8842917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547" y="2337758"/>
            <a:ext cx="9272905" cy="41098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CD3137-437E-B281-5BFD-A2AC02D384FE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ArrayStack</a:t>
            </a:r>
            <a:r>
              <a:rPr lang="en-US" b="1" dirty="0">
                <a:solidFill>
                  <a:schemeClr val="bg1"/>
                </a:solidFill>
              </a:rPr>
              <a:t> – Amortized Analysis</a:t>
            </a:r>
            <a:r>
              <a:rPr lang="en-US" b="1" dirty="0"/>
              <a:t>		</a:t>
            </a:r>
            <a:r>
              <a:rPr lang="en-US" dirty="0" err="1"/>
              <a:t>ArrayDeque</a:t>
            </a:r>
            <a:r>
              <a:rPr lang="en-US" b="1" dirty="0"/>
              <a:t>            		</a:t>
            </a:r>
            <a:r>
              <a:rPr lang="en-US" dirty="0" err="1"/>
              <a:t>DualArrayDeque</a:t>
            </a:r>
            <a:r>
              <a:rPr lang="en-US" b="1" dirty="0"/>
              <a:t>            	</a:t>
            </a:r>
            <a:r>
              <a:rPr lang="en-US" dirty="0"/>
              <a:t>Summary</a:t>
            </a:r>
            <a:r>
              <a:rPr lang="en-US" b="1"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420272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FB085-6FD0-9A2F-991B-0A50C0364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ArrayStack</a:t>
            </a:r>
            <a:r>
              <a:rPr lang="en-US" dirty="0"/>
              <a:t> – Amortized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D4E37-A9D0-D432-88A0-421094CD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49" y="1825625"/>
            <a:ext cx="2066925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Proof (Continued):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Since the total number of calls to add() or remove is at least </a:t>
            </a:r>
            <a:r>
              <a:rPr lang="en-US" sz="2400" i="1" dirty="0"/>
              <a:t>n</a:t>
            </a:r>
            <a:r>
              <a:rPr lang="en-US" sz="2400" dirty="0"/>
              <a:t> / 2 – 1, therefore,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225F5-C5B8-779F-11A0-6FF276A8F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70995-01CF-C420-6C5A-A0530FCD5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6EAE1A-AECA-CE77-7CCE-6A6C124ED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964" y="1825624"/>
            <a:ext cx="8749212" cy="746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EECD59-E1E3-1152-776E-26E829495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964" y="2661442"/>
            <a:ext cx="8509161" cy="39953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0B855B-FFBB-7906-7AFD-EF5CFF078D76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ArrayStack</a:t>
            </a:r>
            <a:r>
              <a:rPr lang="en-US" b="1" dirty="0">
                <a:solidFill>
                  <a:schemeClr val="bg1"/>
                </a:solidFill>
              </a:rPr>
              <a:t> – Amortized Analysis</a:t>
            </a:r>
            <a:r>
              <a:rPr lang="en-US" b="1" dirty="0"/>
              <a:t>		</a:t>
            </a:r>
            <a:r>
              <a:rPr lang="en-US" dirty="0" err="1"/>
              <a:t>ArrayDeque</a:t>
            </a:r>
            <a:r>
              <a:rPr lang="en-US" b="1" dirty="0"/>
              <a:t>            		</a:t>
            </a:r>
            <a:r>
              <a:rPr lang="en-US" dirty="0" err="1"/>
              <a:t>DualArrayDeque</a:t>
            </a:r>
            <a:r>
              <a:rPr lang="en-US" b="1" dirty="0"/>
              <a:t>            	</a:t>
            </a:r>
            <a:r>
              <a:rPr lang="en-US" dirty="0"/>
              <a:t>Summary</a:t>
            </a:r>
            <a:r>
              <a:rPr lang="en-US" b="1"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821830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304E4-757B-DD83-85A6-619BE9AFD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ArrayDeque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446C8-6FC9-5837-3950-565E1673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The </a:t>
            </a:r>
            <a:r>
              <a:rPr lang="en-US" sz="2400" dirty="0" err="1"/>
              <a:t>ArrayDeque</a:t>
            </a:r>
            <a:r>
              <a:rPr lang="en-US" sz="2400" dirty="0"/>
              <a:t> is a generalization of both the </a:t>
            </a:r>
            <a:r>
              <a:rPr lang="en-US" sz="2400" dirty="0" err="1"/>
              <a:t>ArrayStack</a:t>
            </a:r>
            <a:r>
              <a:rPr lang="en-US" sz="2400" dirty="0"/>
              <a:t> and the </a:t>
            </a:r>
            <a:r>
              <a:rPr lang="en-US" sz="2400" dirty="0" err="1"/>
              <a:t>ArrayQueue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2400" dirty="0" err="1"/>
              <a:t>ArrayDeque</a:t>
            </a:r>
            <a:r>
              <a:rPr lang="en-US" sz="2400" dirty="0"/>
              <a:t> allows us to efficiently add and retrieve elements from both sides of the List.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This uses the same circular array technique as that used for </a:t>
            </a:r>
            <a:r>
              <a:rPr lang="en-US" sz="2400" dirty="0" err="1"/>
              <a:t>ArrayQueue</a:t>
            </a:r>
            <a:r>
              <a:rPr lang="en-US" sz="240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30D92-77B6-6E9E-4990-0179F3F45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D48D94-CD9E-A2AA-5704-8AD41D738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7A777E-C78C-E58F-5440-2B4F3C38EA3C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ArrayStack</a:t>
            </a:r>
            <a:r>
              <a:rPr lang="en-US" dirty="0"/>
              <a:t> – Amortized Analysis</a:t>
            </a:r>
            <a:r>
              <a:rPr lang="en-US" b="1" dirty="0"/>
              <a:t>		</a:t>
            </a:r>
            <a:r>
              <a:rPr lang="en-US" b="1" dirty="0" err="1">
                <a:solidFill>
                  <a:schemeClr val="bg1"/>
                </a:solidFill>
              </a:rPr>
              <a:t>ArrayDeque</a:t>
            </a:r>
            <a:r>
              <a:rPr lang="en-US" b="1" dirty="0"/>
              <a:t>            		</a:t>
            </a:r>
            <a:r>
              <a:rPr lang="en-US" b="1" dirty="0" err="1"/>
              <a:t>DualArrayDeque</a:t>
            </a:r>
            <a:r>
              <a:rPr lang="en-US" b="1" dirty="0"/>
              <a:t>            	Summary            </a:t>
            </a:r>
          </a:p>
        </p:txBody>
      </p:sp>
    </p:spTree>
    <p:extLst>
      <p:ext uri="{BB962C8B-B14F-4D97-AF65-F5344CB8AC3E}">
        <p14:creationId xmlns:p14="http://schemas.microsoft.com/office/powerpoint/2010/main" val="417501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773E5-65F4-57A0-7613-A9ABA8454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ArrayDeque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A7CEB-067C-DF37-4CF3-64ED09435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519FD3-EB2E-06D7-7E24-DB2EFC5E7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430485-845A-CD4D-5C5F-F9659F91C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38" y="1619215"/>
            <a:ext cx="8242724" cy="13716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CD26E7-D8E0-8061-2DB2-AE71296F9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38" y="2990885"/>
            <a:ext cx="8337979" cy="7239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25D658-3C3D-3D20-F70A-1B5D9C296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89" y="3829012"/>
            <a:ext cx="8223673" cy="28195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183D91-2CD2-FD12-B7D2-6E3505E1388D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ArrayStack</a:t>
            </a:r>
            <a:r>
              <a:rPr lang="en-US" dirty="0"/>
              <a:t> – Amortized Analysis</a:t>
            </a:r>
            <a:r>
              <a:rPr lang="en-US" b="1" dirty="0"/>
              <a:t>		</a:t>
            </a:r>
            <a:r>
              <a:rPr lang="en-US" b="1" dirty="0" err="1">
                <a:solidFill>
                  <a:schemeClr val="bg1"/>
                </a:solidFill>
              </a:rPr>
              <a:t>ArrayDeque</a:t>
            </a:r>
            <a:r>
              <a:rPr lang="en-US" b="1" dirty="0"/>
              <a:t>            		</a:t>
            </a:r>
            <a:r>
              <a:rPr lang="en-US" b="1" dirty="0" err="1"/>
              <a:t>DualArrayDeque</a:t>
            </a:r>
            <a:r>
              <a:rPr lang="en-US" b="1" dirty="0"/>
              <a:t>            	Summary            </a:t>
            </a:r>
          </a:p>
        </p:txBody>
      </p:sp>
    </p:spTree>
    <p:extLst>
      <p:ext uri="{BB962C8B-B14F-4D97-AF65-F5344CB8AC3E}">
        <p14:creationId xmlns:p14="http://schemas.microsoft.com/office/powerpoint/2010/main" val="138971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312FF-D2E6-D9C0-5091-6184D4D13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ArrayDeque</a:t>
            </a:r>
            <a:r>
              <a:rPr lang="en-US" dirty="0"/>
              <a:t> add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BE098-F951-8D01-B563-27EA00D72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To make </a:t>
            </a:r>
            <a:r>
              <a:rPr lang="en-US" sz="2400" b="1" dirty="0"/>
              <a:t>add</a:t>
            </a:r>
            <a:r>
              <a:rPr lang="en-US" sz="2400" dirty="0"/>
              <a:t> more efficient, we check if </a:t>
            </a:r>
            <a:r>
              <a:rPr lang="en-US" sz="2400" dirty="0" err="1"/>
              <a:t>i</a:t>
            </a:r>
            <a:r>
              <a:rPr lang="en-US" sz="2400" dirty="0"/>
              <a:t> &lt; n/2.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If so, we shift the elements </a:t>
            </a:r>
            <a:r>
              <a:rPr lang="en-US" sz="2400" i="1" dirty="0"/>
              <a:t>a</a:t>
            </a:r>
            <a:r>
              <a:rPr lang="en-US" sz="2400" dirty="0"/>
              <a:t>[0], ... ,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i="1" dirty="0" err="1"/>
              <a:t>i</a:t>
            </a:r>
            <a:r>
              <a:rPr lang="en-US" sz="2400" dirty="0"/>
              <a:t> − 1] left by one position.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Otherwise (</a:t>
            </a:r>
            <a:r>
              <a:rPr lang="en-US" sz="2400" i="1" dirty="0" err="1"/>
              <a:t>i</a:t>
            </a:r>
            <a:r>
              <a:rPr lang="en-US" sz="2400" dirty="0"/>
              <a:t> ≥ </a:t>
            </a:r>
            <a:r>
              <a:rPr lang="en-US" sz="2400" i="1" dirty="0"/>
              <a:t>n </a:t>
            </a:r>
            <a:r>
              <a:rPr lang="en-US" sz="2400" dirty="0"/>
              <a:t>/ 2), we shift the elements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], ... ,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 − 1] right by one position.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See illustration.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We guarantee that add(</a:t>
            </a:r>
            <a:r>
              <a:rPr lang="en-US" sz="2400" i="1" dirty="0" err="1"/>
              <a:t>i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) never has to shift more than min{</a:t>
            </a:r>
            <a:r>
              <a:rPr lang="en-US" sz="2400" i="1" dirty="0" err="1"/>
              <a:t>i</a:t>
            </a:r>
            <a:r>
              <a:rPr lang="en-US" sz="2400" dirty="0"/>
              <a:t>, </a:t>
            </a:r>
            <a:r>
              <a:rPr lang="en-US" sz="2400" i="1" dirty="0"/>
              <a:t>n</a:t>
            </a:r>
            <a:r>
              <a:rPr lang="en-US" sz="2400" dirty="0"/>
              <a:t> − </a:t>
            </a:r>
            <a:r>
              <a:rPr lang="en-US" sz="2400" i="1" dirty="0" err="1"/>
              <a:t>i</a:t>
            </a:r>
            <a:r>
              <a:rPr lang="en-US" sz="2400" dirty="0"/>
              <a:t>} elements.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 running time of the add(</a:t>
            </a:r>
            <a:r>
              <a:rPr lang="en-US" sz="2400" i="1" dirty="0" err="1"/>
              <a:t>i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) operation (ignoring the cost of a resize() operation) is O(1 + min{</a:t>
            </a:r>
            <a:r>
              <a:rPr lang="en-US" sz="2400" i="1" dirty="0" err="1"/>
              <a:t>i</a:t>
            </a:r>
            <a:r>
              <a:rPr lang="en-US" sz="2400" dirty="0"/>
              <a:t>, </a:t>
            </a:r>
            <a:r>
              <a:rPr lang="en-US" sz="2400" i="1" dirty="0"/>
              <a:t>n</a:t>
            </a:r>
            <a:r>
              <a:rPr lang="en-US" sz="2400" dirty="0"/>
              <a:t> − </a:t>
            </a:r>
            <a:r>
              <a:rPr lang="en-US" sz="2400" i="1" dirty="0" err="1"/>
              <a:t>i</a:t>
            </a:r>
            <a:r>
              <a:rPr lang="en-US" sz="2400" dirty="0"/>
              <a:t>})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7F343-D090-A485-D663-DE929EA98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CFC6B-E518-CA6D-6194-BF8799D98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7DA18B-FC09-8907-FF5D-747C7978D090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ArrayStack</a:t>
            </a:r>
            <a:r>
              <a:rPr lang="en-US" dirty="0"/>
              <a:t> – Amortized Analysis</a:t>
            </a:r>
            <a:r>
              <a:rPr lang="en-US" b="1" dirty="0"/>
              <a:t>		</a:t>
            </a:r>
            <a:r>
              <a:rPr lang="en-US" b="1" dirty="0" err="1">
                <a:solidFill>
                  <a:schemeClr val="bg1"/>
                </a:solidFill>
              </a:rPr>
              <a:t>ArrayDeque</a:t>
            </a:r>
            <a:r>
              <a:rPr lang="en-US" b="1" dirty="0"/>
              <a:t>            		</a:t>
            </a:r>
            <a:r>
              <a:rPr lang="en-US" b="1" dirty="0" err="1"/>
              <a:t>DualArrayDeque</a:t>
            </a:r>
            <a:r>
              <a:rPr lang="en-US" b="1" dirty="0"/>
              <a:t>            	Summary            </a:t>
            </a:r>
          </a:p>
        </p:txBody>
      </p:sp>
    </p:spTree>
    <p:extLst>
      <p:ext uri="{BB962C8B-B14F-4D97-AF65-F5344CB8AC3E}">
        <p14:creationId xmlns:p14="http://schemas.microsoft.com/office/powerpoint/2010/main" val="360926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B805B-9A7C-5012-40C7-531207577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ArrayDeque</a:t>
            </a:r>
            <a:r>
              <a:rPr lang="en-US" dirty="0"/>
              <a:t> Examples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E5D8B-8BE9-F8C5-BECF-24D4B79AC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F9DA0-DB2A-2451-E463-97A82B3D8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620274-B8BE-D2CD-0F54-7FE18014D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64" y="1860450"/>
            <a:ext cx="7982135" cy="42796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71C86F-7AD8-0AD5-8EDA-27833AB2D151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ArrayStack</a:t>
            </a:r>
            <a:r>
              <a:rPr lang="en-US" dirty="0"/>
              <a:t> – Amortized Analysis</a:t>
            </a:r>
            <a:r>
              <a:rPr lang="en-US" b="1" dirty="0"/>
              <a:t>		</a:t>
            </a:r>
            <a:r>
              <a:rPr lang="en-US" b="1" dirty="0" err="1">
                <a:solidFill>
                  <a:schemeClr val="bg1"/>
                </a:solidFill>
              </a:rPr>
              <a:t>ArrayDeque</a:t>
            </a:r>
            <a:r>
              <a:rPr lang="en-US" b="1" dirty="0"/>
              <a:t>            		</a:t>
            </a:r>
            <a:r>
              <a:rPr lang="en-US" b="1" dirty="0" err="1"/>
              <a:t>DualArrayDeque</a:t>
            </a:r>
            <a:r>
              <a:rPr lang="en-US" b="1" dirty="0"/>
              <a:t>            	Summary            </a:t>
            </a:r>
          </a:p>
        </p:txBody>
      </p:sp>
    </p:spTree>
    <p:extLst>
      <p:ext uri="{BB962C8B-B14F-4D97-AF65-F5344CB8AC3E}">
        <p14:creationId xmlns:p14="http://schemas.microsoft.com/office/powerpoint/2010/main" val="3894500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43734-967A-BC53-68E1-1690A46EC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ArrayDeque</a:t>
            </a:r>
            <a:r>
              <a:rPr lang="en-US" dirty="0"/>
              <a:t> add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5C85F-1BAB-DE79-ED13-B82F7B39D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14CFA-3E98-441D-2059-203824A62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440F9B-612B-8770-520B-2F8F9CAD8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63" y="1735931"/>
            <a:ext cx="8230023" cy="44198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536A28-FE4C-843D-AB41-9785012875E1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ArrayStack</a:t>
            </a:r>
            <a:r>
              <a:rPr lang="en-US" dirty="0"/>
              <a:t> – Amortized Analysis</a:t>
            </a:r>
            <a:r>
              <a:rPr lang="en-US" b="1" dirty="0"/>
              <a:t>		</a:t>
            </a:r>
            <a:r>
              <a:rPr lang="en-US" b="1" dirty="0" err="1">
                <a:solidFill>
                  <a:schemeClr val="bg1"/>
                </a:solidFill>
              </a:rPr>
              <a:t>ArrayDeque</a:t>
            </a:r>
            <a:r>
              <a:rPr lang="en-US" b="1" dirty="0"/>
              <a:t>            		</a:t>
            </a:r>
            <a:r>
              <a:rPr lang="en-US" b="1" dirty="0" err="1"/>
              <a:t>DualArrayDeque</a:t>
            </a:r>
            <a:r>
              <a:rPr lang="en-US" b="1" dirty="0"/>
              <a:t>            	Summary            </a:t>
            </a:r>
          </a:p>
        </p:txBody>
      </p:sp>
    </p:spTree>
    <p:extLst>
      <p:ext uri="{BB962C8B-B14F-4D97-AF65-F5344CB8AC3E}">
        <p14:creationId xmlns:p14="http://schemas.microsoft.com/office/powerpoint/2010/main" val="380036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16024-411B-5518-6D6F-BF3249EB4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ArrayDeque</a:t>
            </a:r>
            <a:r>
              <a:rPr lang="en-US" dirty="0"/>
              <a:t> remove: Similar implementation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2A5F4-66EC-4C3C-94B9-8E099154B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C72E7-DCFB-5C7D-6EFC-6F572087D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E8084E-DF11-DF25-83AC-11D0FC8D6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88" y="1869047"/>
            <a:ext cx="8242724" cy="457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3E0E00-47C0-8911-79D8-1A2C8D80CF4A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ArrayStack</a:t>
            </a:r>
            <a:r>
              <a:rPr lang="en-US" dirty="0"/>
              <a:t> – Amortized Analysis</a:t>
            </a:r>
            <a:r>
              <a:rPr lang="en-US" b="1" dirty="0"/>
              <a:t>		</a:t>
            </a:r>
            <a:r>
              <a:rPr lang="en-US" b="1" dirty="0" err="1">
                <a:solidFill>
                  <a:schemeClr val="bg1"/>
                </a:solidFill>
              </a:rPr>
              <a:t>ArrayDeque</a:t>
            </a:r>
            <a:r>
              <a:rPr lang="en-US" b="1" dirty="0"/>
              <a:t>            		</a:t>
            </a:r>
            <a:r>
              <a:rPr lang="en-US" b="1" dirty="0" err="1"/>
              <a:t>DualArrayDeque</a:t>
            </a:r>
            <a:r>
              <a:rPr lang="en-US" b="1" dirty="0"/>
              <a:t>            	Summary            </a:t>
            </a:r>
          </a:p>
        </p:txBody>
      </p:sp>
    </p:spTree>
    <p:extLst>
      <p:ext uri="{BB962C8B-B14F-4D97-AF65-F5344CB8AC3E}">
        <p14:creationId xmlns:p14="http://schemas.microsoft.com/office/powerpoint/2010/main" val="3129425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4B049-F1D4-23C3-1CE0-AD20B76F1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ArrayDeque</a:t>
            </a:r>
            <a:r>
              <a:rPr lang="en-US" dirty="0"/>
              <a:t>: Summary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D2897-A100-410D-9771-E457FB522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A01E66-C705-F367-399B-550C1798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BEF400-D2F0-16F6-170F-80C1A3B2D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60" y="1895406"/>
            <a:ext cx="8350679" cy="26861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8787D3-4A55-7502-D9B9-EC576FA97F8B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ArrayStack</a:t>
            </a:r>
            <a:r>
              <a:rPr lang="en-US" dirty="0"/>
              <a:t> – Amortized Analysis</a:t>
            </a:r>
            <a:r>
              <a:rPr lang="en-US" b="1" dirty="0"/>
              <a:t>		</a:t>
            </a:r>
            <a:r>
              <a:rPr lang="en-US" b="1" dirty="0" err="1">
                <a:solidFill>
                  <a:schemeClr val="bg1"/>
                </a:solidFill>
              </a:rPr>
              <a:t>ArrayDeque</a:t>
            </a:r>
            <a:r>
              <a:rPr lang="en-US" b="1" dirty="0"/>
              <a:t>            		</a:t>
            </a:r>
            <a:r>
              <a:rPr lang="en-US" b="1" dirty="0" err="1"/>
              <a:t>DualArrayDeque</a:t>
            </a:r>
            <a:r>
              <a:rPr lang="en-US" b="1" dirty="0"/>
              <a:t>            	Summary          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BE3A77-A330-A83E-6A81-7B894FAA9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60" y="4741069"/>
            <a:ext cx="3069191" cy="34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3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5567E-7861-4D07-F7BC-DEC28B0B1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Dual Array Deque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CEB51-9AEC-84F5-37A8-767710343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Example of a data structure composed of two simpler data structures.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 </a:t>
            </a:r>
            <a:r>
              <a:rPr lang="en-US" sz="2400" dirty="0" err="1"/>
              <a:t>DualArrayDeque</a:t>
            </a:r>
            <a:r>
              <a:rPr lang="en-US" sz="2400" dirty="0"/>
              <a:t> represents a list using two </a:t>
            </a:r>
            <a:r>
              <a:rPr lang="en-US" sz="2400" dirty="0" err="1"/>
              <a:t>ArrayStacks</a:t>
            </a:r>
            <a:r>
              <a:rPr lang="en-US" sz="24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Recall that an </a:t>
            </a:r>
            <a:r>
              <a:rPr lang="en-US" sz="2400" dirty="0" err="1"/>
              <a:t>ArrayStack</a:t>
            </a:r>
            <a:r>
              <a:rPr lang="en-US" sz="2400" dirty="0"/>
              <a:t> is fast when the operations on it modify elements near the end.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 </a:t>
            </a:r>
            <a:r>
              <a:rPr lang="en-US" sz="2400" dirty="0" err="1"/>
              <a:t>DualArrayDeque</a:t>
            </a:r>
            <a:r>
              <a:rPr lang="en-US" sz="2400" dirty="0"/>
              <a:t> places two </a:t>
            </a:r>
            <a:r>
              <a:rPr lang="en-US" sz="2400" dirty="0" err="1"/>
              <a:t>ArrayStacks</a:t>
            </a:r>
            <a:r>
              <a:rPr lang="en-US" sz="2400" dirty="0"/>
              <a:t>, called front and back, back-to-back so that operations are fast at either end.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AE7B8-02F1-0E83-7AB0-2FC29BE86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06C67-0EE9-ABE6-5A6A-625CB846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AC3C04-9417-88FC-4E32-494894864F6D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ArrayStack</a:t>
            </a:r>
            <a:r>
              <a:rPr lang="en-US" dirty="0"/>
              <a:t> – Amortized Analysis</a:t>
            </a:r>
            <a:r>
              <a:rPr lang="en-US" b="1" dirty="0"/>
              <a:t>		</a:t>
            </a:r>
            <a:r>
              <a:rPr lang="en-US" dirty="0" err="1"/>
              <a:t>ArrayDeque</a:t>
            </a:r>
            <a:r>
              <a:rPr lang="en-US" b="1" dirty="0"/>
              <a:t>            		</a:t>
            </a:r>
            <a:r>
              <a:rPr lang="en-US" b="1" dirty="0" err="1">
                <a:solidFill>
                  <a:schemeClr val="bg1"/>
                </a:solidFill>
              </a:rPr>
              <a:t>DualArrayDeque</a:t>
            </a:r>
            <a:r>
              <a:rPr lang="en-US" b="1" dirty="0"/>
              <a:t>            	Summary            </a:t>
            </a:r>
          </a:p>
        </p:txBody>
      </p:sp>
    </p:spTree>
    <p:extLst>
      <p:ext uri="{BB962C8B-B14F-4D97-AF65-F5344CB8AC3E}">
        <p14:creationId xmlns:p14="http://schemas.microsoft.com/office/powerpoint/2010/main" val="2413438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0B394-C6D1-B37B-9370-761AB2FC9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Dual Array Deque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41085A8-396C-A9D0-6580-B03B22DE5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0760" y="1818673"/>
            <a:ext cx="7814098" cy="114881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D2559C-8CC6-3D65-ABFB-162224C3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503C1-8CA5-F0E7-A9A2-7727FF60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E79024-A137-9C88-5F2A-0108D8D7B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039" y="2967487"/>
            <a:ext cx="7819394" cy="14492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FF8AA2-7528-836A-227C-09502D263B88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ArrayStack</a:t>
            </a:r>
            <a:r>
              <a:rPr lang="en-US" dirty="0"/>
              <a:t> – Amortized Analysis</a:t>
            </a:r>
            <a:r>
              <a:rPr lang="en-US" b="1" dirty="0"/>
              <a:t>		</a:t>
            </a:r>
            <a:r>
              <a:rPr lang="en-US" dirty="0" err="1"/>
              <a:t>ArrayDeque</a:t>
            </a:r>
            <a:r>
              <a:rPr lang="en-US" b="1" dirty="0"/>
              <a:t>            		</a:t>
            </a:r>
            <a:r>
              <a:rPr lang="en-US" b="1" dirty="0" err="1">
                <a:solidFill>
                  <a:schemeClr val="bg1"/>
                </a:solidFill>
              </a:rPr>
              <a:t>DualArrayDeque</a:t>
            </a:r>
            <a:r>
              <a:rPr lang="en-US" b="1" dirty="0"/>
              <a:t>            	Summary            </a:t>
            </a:r>
          </a:p>
        </p:txBody>
      </p:sp>
    </p:spTree>
    <p:extLst>
      <p:ext uri="{BB962C8B-B14F-4D97-AF65-F5344CB8AC3E}">
        <p14:creationId xmlns:p14="http://schemas.microsoft.com/office/powerpoint/2010/main" val="2849831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D990-18E4-73AD-4B09-9FCEF9396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Dual Array Deque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F2D04B-730C-3114-EBB8-0CD044393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D4A2E-9E57-C596-B305-C7943AC6D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848D26-2259-2782-3EA9-11E28F424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729" y="1834840"/>
            <a:ext cx="7684444" cy="45215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07577E-B4F8-8867-F98D-2C3A09330988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ArrayStack</a:t>
            </a:r>
            <a:r>
              <a:rPr lang="en-US" dirty="0"/>
              <a:t> – Amortized Analysis</a:t>
            </a:r>
            <a:r>
              <a:rPr lang="en-US" b="1" dirty="0"/>
              <a:t>		</a:t>
            </a:r>
            <a:r>
              <a:rPr lang="en-US" dirty="0" err="1"/>
              <a:t>ArrayDeque</a:t>
            </a:r>
            <a:r>
              <a:rPr lang="en-US" b="1" dirty="0"/>
              <a:t>            		</a:t>
            </a:r>
            <a:r>
              <a:rPr lang="en-US" b="1" dirty="0" err="1">
                <a:solidFill>
                  <a:schemeClr val="bg1"/>
                </a:solidFill>
              </a:rPr>
              <a:t>DualArrayDeque</a:t>
            </a:r>
            <a:r>
              <a:rPr lang="en-US" b="1" dirty="0"/>
              <a:t>            	Summary            </a:t>
            </a:r>
          </a:p>
        </p:txBody>
      </p:sp>
    </p:spTree>
    <p:extLst>
      <p:ext uri="{BB962C8B-B14F-4D97-AF65-F5344CB8AC3E}">
        <p14:creationId xmlns:p14="http://schemas.microsoft.com/office/powerpoint/2010/main" val="3244181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2B1AC-CC12-E5ED-DA66-1454E70DC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Dual Array Deque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BEFD1-57BD-9766-6579-F28CE565A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6F6228-83C5-B528-1991-A0B38CA2F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0395D5-AB23-F236-6DD7-363EECE58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320" y="1735931"/>
            <a:ext cx="6789705" cy="25672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577FDC-43BA-C6E4-B140-7CE4923F3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490" y="3498064"/>
            <a:ext cx="6544931" cy="28582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37DDEC-A982-37AB-DAC1-A56A6C163F2A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ArrayStack</a:t>
            </a:r>
            <a:r>
              <a:rPr lang="en-US" dirty="0"/>
              <a:t> – Amortized Analysis</a:t>
            </a:r>
            <a:r>
              <a:rPr lang="en-US" b="1" dirty="0"/>
              <a:t>		</a:t>
            </a:r>
            <a:r>
              <a:rPr lang="en-US" dirty="0" err="1"/>
              <a:t>ArrayDeque</a:t>
            </a:r>
            <a:r>
              <a:rPr lang="en-US" b="1" dirty="0"/>
              <a:t>            		</a:t>
            </a:r>
            <a:r>
              <a:rPr lang="en-US" b="1" dirty="0" err="1">
                <a:solidFill>
                  <a:schemeClr val="bg1"/>
                </a:solidFill>
              </a:rPr>
              <a:t>DualArrayDeque</a:t>
            </a:r>
            <a:r>
              <a:rPr lang="en-US" b="1" dirty="0"/>
              <a:t>            	Summary            </a:t>
            </a:r>
          </a:p>
        </p:txBody>
      </p:sp>
    </p:spTree>
    <p:extLst>
      <p:ext uri="{BB962C8B-B14F-4D97-AF65-F5344CB8AC3E}">
        <p14:creationId xmlns:p14="http://schemas.microsoft.com/office/powerpoint/2010/main" val="226690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429F-4D7B-277E-C3F4-0ECB58AD5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Dual Array Deque: Summary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E9485-E3A6-F987-B357-0F4396926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C95C4-45A4-999A-BE7C-04274FA6C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83A0DE-DD9A-0C3A-29E1-3E95AA01F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900" y="1971737"/>
            <a:ext cx="8627553" cy="41548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7452AF-F089-DCCF-410A-FF351E748394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ArrayStack</a:t>
            </a:r>
            <a:r>
              <a:rPr lang="en-US" dirty="0"/>
              <a:t> – Amortized Analysis</a:t>
            </a:r>
            <a:r>
              <a:rPr lang="en-US" b="1" dirty="0"/>
              <a:t>		</a:t>
            </a:r>
            <a:r>
              <a:rPr lang="en-US" dirty="0" err="1"/>
              <a:t>ArrayDeque</a:t>
            </a:r>
            <a:r>
              <a:rPr lang="en-US" b="1" dirty="0"/>
              <a:t>            		</a:t>
            </a:r>
            <a:r>
              <a:rPr lang="en-US" dirty="0" err="1"/>
              <a:t>DualArrayDeque</a:t>
            </a:r>
            <a:r>
              <a:rPr lang="en-US" b="1" dirty="0"/>
              <a:t>            	</a:t>
            </a:r>
            <a:r>
              <a:rPr lang="en-US" b="1" dirty="0">
                <a:solidFill>
                  <a:schemeClr val="bg1"/>
                </a:solidFill>
              </a:rPr>
              <a:t>Summary</a:t>
            </a:r>
            <a:r>
              <a:rPr lang="en-US" b="1"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1540064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7706</TotalTime>
  <Words>1376</Words>
  <Application>Microsoft Office PowerPoint</Application>
  <PresentationFormat>Widescreen</PresentationFormat>
  <Paragraphs>146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Consolas</vt:lpstr>
      <vt:lpstr>Gill Sans MT</vt:lpstr>
      <vt:lpstr>Office Theme</vt:lpstr>
      <vt:lpstr>CS 201: Data Structures II  Unit 02 – Week 02:  Array Based Lists</vt:lpstr>
      <vt:lpstr> Unit Outline</vt:lpstr>
      <vt:lpstr> ArrayStack – Amortized Analysis</vt:lpstr>
      <vt:lpstr> ArrayStack – Amortized Analysis</vt:lpstr>
      <vt:lpstr> Amortized Analysis</vt:lpstr>
      <vt:lpstr> ArrayStack – Amortized Analysis</vt:lpstr>
      <vt:lpstr> ArrayStack – Amortized Analysis</vt:lpstr>
      <vt:lpstr> ArrayStack – Amortized Analysis</vt:lpstr>
      <vt:lpstr> ArrayStack – Amortized Analysis</vt:lpstr>
      <vt:lpstr> ArrayStack – Amortized Analysis</vt:lpstr>
      <vt:lpstr> ArrayStack – Amortized Analysis</vt:lpstr>
      <vt:lpstr> ArrayDeque</vt:lpstr>
      <vt:lpstr> ArrayDeque</vt:lpstr>
      <vt:lpstr> ArrayDeque add</vt:lpstr>
      <vt:lpstr> ArrayDeque Examples</vt:lpstr>
      <vt:lpstr> ArrayDeque add</vt:lpstr>
      <vt:lpstr> ArrayDeque remove: Similar implementation</vt:lpstr>
      <vt:lpstr> ArrayDeque: Summary</vt:lpstr>
      <vt:lpstr> Dual Array Deque</vt:lpstr>
      <vt:lpstr> Dual Array Deque</vt:lpstr>
      <vt:lpstr> Dual Array Deque</vt:lpstr>
      <vt:lpstr> Dual Array Deque</vt:lpstr>
      <vt:lpstr> Dual Array Deque: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Faisal Alvi</dc:creator>
  <cp:lastModifiedBy>Faisal Alvi</cp:lastModifiedBy>
  <cp:revision>965</cp:revision>
  <dcterms:created xsi:type="dcterms:W3CDTF">2022-04-01T09:51:06Z</dcterms:created>
  <dcterms:modified xsi:type="dcterms:W3CDTF">2024-01-22T03:49:33Z</dcterms:modified>
</cp:coreProperties>
</file>