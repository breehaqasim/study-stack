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62" r:id="rId2"/>
    <p:sldId id="264" r:id="rId3"/>
    <p:sldId id="679" r:id="rId4"/>
    <p:sldId id="704" r:id="rId5"/>
    <p:sldId id="705" r:id="rId6"/>
    <p:sldId id="706" r:id="rId7"/>
    <p:sldId id="707" r:id="rId8"/>
    <p:sldId id="708" r:id="rId9"/>
    <p:sldId id="709" r:id="rId10"/>
    <p:sldId id="710" r:id="rId11"/>
    <p:sldId id="711" r:id="rId12"/>
    <p:sldId id="712" r:id="rId13"/>
    <p:sldId id="713" r:id="rId14"/>
    <p:sldId id="714" r:id="rId15"/>
    <p:sldId id="715" r:id="rId16"/>
    <p:sldId id="716" r:id="rId17"/>
    <p:sldId id="717" r:id="rId18"/>
    <p:sldId id="718" r:id="rId19"/>
    <p:sldId id="719" r:id="rId20"/>
    <p:sldId id="720" r:id="rId21"/>
    <p:sldId id="721" r:id="rId22"/>
    <p:sldId id="7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583CB8-9120-4919-A964-792EA406810A}">
          <p14:sldIdLst>
            <p14:sldId id="262"/>
            <p14:sldId id="264"/>
            <p14:sldId id="679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FFCCCC"/>
    <a:srgbClr val="FFFFCC"/>
    <a:srgbClr val="CCFFFF"/>
    <a:srgbClr val="99FFCC"/>
    <a:srgbClr val="FF9999"/>
    <a:srgbClr val="FF00FF"/>
    <a:srgbClr val="3F1749"/>
    <a:srgbClr val="660033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8" y="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C6DF84-CD1F-4FA6-8BC8-E893B696DB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EE00F5-A9A7-4164-9154-87868DA7B4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835A1-0E46-4E70-BE50-D16D92BA4F06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8731D-8B59-4095-B77A-4BC76754C1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1D674-0CD9-4F38-9541-10F8D4CF12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66C0-A5B3-4976-B3B0-D5887CB70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49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04257-2063-464D-8392-2DAA70F807F3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DBBA1-8DB8-4FE4-8A77-5307E3FF1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54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EC820-F06A-4B86-BF0B-B3F6612CA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854DBB-C47C-49E9-9D9C-CA5C80EA2C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0DD88-B242-467D-BEB5-FB8F7EF95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9A8C-3893-4697-8DCE-E8D29603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24B38-6344-1101-CED8-B9C1500E80E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29A5D-1308-E10C-202B-3DEF0CAECB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15566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A5013-5E51-49C0-BC22-8E93E632C4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381" y="410368"/>
            <a:ext cx="12192000" cy="1325563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	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4D83-D539-4263-B106-C711256BE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94F8B-ED69-49D9-B6CD-CC002E9B2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2B2E41-6AC9-4EA2-B3F7-D0541296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705D3-83C8-16A9-3AE4-F96B6A26C65F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8AF1FB-19E1-0DAE-FD18-DC60EDFAA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81845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0FEA-A9EE-4984-A777-E9586084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5FA1F-94A1-45CE-84C6-23F77E0C32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D99CA-D285-4F1A-9EF3-9FF6A753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F42B6-DC9F-4E20-85F3-748AB2CF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B8D539-AF05-6879-DBE7-958561F71780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3BFEB-A61A-BC44-0BF0-D7A0547C8C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5622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21E5E-0811-4F8F-B2BD-F0EA8FE0D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19ED3-0C43-4509-8413-12035F885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1BA6-FC26-4989-AC9B-C6162614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FBF8E-11D8-47C3-B42E-CB9685CA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F29262B-DCE4-453C-AC44-46A76531A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FFAA2E-80D3-7C42-DC59-98E39C2D21B7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F00280-50F5-5F70-653E-910E8D8B6E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88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1E841-4E40-4E94-9C41-48CA6FFF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C33963-8E17-4AED-BD0A-6C7EDF769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9669F-0CC8-486E-A29E-8F810DC05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Gill Sans MT" panose="020B05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48C6F-C450-4648-9828-249C92913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D1B2B-27A1-4F00-A12E-45D62A00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7AE76-9D91-4D7D-9245-EF380996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5BDD155-2A18-4842-8FBF-76C05561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EFABF-4B26-80A9-1902-8F1C022B8FBD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DFECC7-AF09-1B48-F3CE-2C13C1020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6621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E2322-36E5-40B2-B77C-3FEDCE71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CF9BB-D046-456C-9FE7-4EF522F8F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15D108B-C064-4DBF-88BA-3195AD63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C7005D-A76C-B48A-033D-BD4761CD5221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B081A7-AD93-2EB6-E24F-3D29243269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9255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C6141-32E6-4033-A96E-2767E51ED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1312C-54FA-4E5C-A078-885B1740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24A72-8058-B3A9-85FC-3D15768C0226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028F2-BBFF-021F-3D35-1EF63AF80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737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F386-C2A1-4165-AA90-A143B880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5B62E-7997-4D6A-894F-CBFA127E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Gill Sans MT" panose="020B0502020104020203" pitchFamily="34" charset="0"/>
              </a:defRPr>
            </a:lvl1pPr>
            <a:lvl2pPr>
              <a:defRPr sz="2800">
                <a:latin typeface="Gill Sans MT" panose="020B0502020104020203" pitchFamily="34" charset="0"/>
              </a:defRPr>
            </a:lvl2pPr>
            <a:lvl3pPr>
              <a:defRPr sz="2400">
                <a:latin typeface="Gill Sans MT" panose="020B0502020104020203" pitchFamily="34" charset="0"/>
              </a:defRPr>
            </a:lvl3pPr>
            <a:lvl4pPr>
              <a:defRPr sz="2000">
                <a:latin typeface="Gill Sans MT" panose="020B0502020104020203" pitchFamily="34" charset="0"/>
              </a:defRPr>
            </a:lvl4pPr>
            <a:lvl5pPr>
              <a:defRPr sz="2000">
                <a:latin typeface="Gill Sans MT" panose="020B050202010402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E69036-BD0D-405E-ABE5-3182D7948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81FBA-E5AB-4AE8-AD85-5CEC95094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195D8-F0EB-4DED-84FF-85995992F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CB8084-E2C0-B052-D570-30CCC80650D2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D89BFB-2DDC-58C5-D56B-835ECD485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3960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EA1B-D3EA-4191-B9A2-C992A45E7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61EAE-65C4-4E5D-9671-81BC47EE3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A2D6-4D6D-46D5-A4DA-2F27FD63A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Gill Sans MT" panose="020B0502020104020203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DD90B-51A9-4BB5-8E85-28B0FF6D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5A6B-C7C7-40DC-AD0A-81C8E82E1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A52A7-B87F-6F5D-9D3D-0E043AC9BCEC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7219D-390B-2454-591A-C0C352CC4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249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54ED30-B69B-4F0A-B2A1-AEF6DCC0A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A1C9C-5BCD-4DA9-AEAC-A9DF4661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65505-CACA-43A9-9065-9CB6A657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6A8C93-9DFB-40D7-BBC9-8ABC8B906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3063" y="425378"/>
            <a:ext cx="12192000" cy="1205057"/>
          </a:xfrm>
          <a:solidFill>
            <a:srgbClr val="FFFFCC"/>
          </a:solidFill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	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9C756-9073-F325-5EB0-5206EFDFD988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80842B-CD63-C3F6-F359-880E7D73A9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231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E4F7F-D510-4E3E-ADF8-0BBCAFBEF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16348-6040-4EC7-84FA-ACD6AE03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Gill Sans MT" panose="020B0502020104020203" pitchFamily="34" charset="0"/>
              </a:defRPr>
            </a:lvl1pPr>
            <a:lvl2pPr>
              <a:defRPr>
                <a:latin typeface="Gill Sans MT" panose="020B0502020104020203" pitchFamily="34" charset="0"/>
              </a:defRPr>
            </a:lvl2pPr>
            <a:lvl3pPr>
              <a:defRPr>
                <a:latin typeface="Gill Sans MT" panose="020B0502020104020203" pitchFamily="34" charset="0"/>
              </a:defRPr>
            </a:lvl3pPr>
            <a:lvl4pPr>
              <a:defRPr>
                <a:latin typeface="Gill Sans MT" panose="020B0502020104020203" pitchFamily="34" charset="0"/>
              </a:defRPr>
            </a:lvl4pPr>
            <a:lvl5pPr>
              <a:defRPr>
                <a:latin typeface="Gill Sans MT" panose="020B05020201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9F16-A748-4C8D-A3E5-A464C526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61486-9E05-4F23-A92B-A1B7ABF5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fld id="{69121A1F-7885-4E65-AB38-5CCB274F4E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69A90D-1D2D-54EC-460B-80A244499CF5}"/>
              </a:ext>
            </a:extLst>
          </p:cNvPr>
          <p:cNvSpPr/>
          <p:nvPr userDrawn="1"/>
        </p:nvSpPr>
        <p:spPr>
          <a:xfrm>
            <a:off x="0" y="0"/>
            <a:ext cx="12192000" cy="410817"/>
          </a:xfrm>
          <a:prstGeom prst="rect">
            <a:avLst/>
          </a:prstGeom>
          <a:solidFill>
            <a:schemeClr val="accent1"/>
          </a:solidFill>
          <a:ln>
            <a:solidFill>
              <a:srgbClr val="3F174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7A213-4704-FD9B-256C-40AB15D0A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" t="4545" r="68780" b="3335"/>
          <a:stretch/>
        </p:blipFill>
        <p:spPr bwMode="auto">
          <a:xfrm>
            <a:off x="7937" y="4125"/>
            <a:ext cx="368300" cy="4011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924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8F7C8-354E-4F2A-8234-DE18076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D10E1-2BF3-41D1-8698-8FAD6110C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98958-B1D7-4842-BAFF-219194268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A6A7-670D-4A8E-A302-1B47C3B952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21A1F-7885-4E65-AB38-5CCB274F4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isal.alvi@sse.habib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AF689-049A-5781-A66E-033ED88C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51" y="1122363"/>
            <a:ext cx="11714922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2700" dirty="0"/>
              <a:t>CS 201: Data Structures II</a:t>
            </a:r>
            <a:br>
              <a:rPr lang="en-US" sz="2700" dirty="0"/>
            </a:br>
            <a:br>
              <a:rPr lang="en-US" sz="4900" dirty="0"/>
            </a:br>
            <a:r>
              <a:rPr lang="en-US" sz="4900" dirty="0"/>
              <a:t>Unit 02 – Week 1: </a:t>
            </a:r>
            <a:br>
              <a:rPr lang="en-US" sz="4900" dirty="0"/>
            </a:br>
            <a:r>
              <a:rPr lang="en-US" sz="4900" dirty="0"/>
              <a:t>Array Based Lists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20C7-F1FC-0FDE-ABA7-47DA4A7A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C26B2-ABC0-0DDD-0A2C-573D9B13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44E332-59FA-A702-3302-E9C13C7D4461}"/>
              </a:ext>
            </a:extLst>
          </p:cNvPr>
          <p:cNvSpPr txBox="1"/>
          <p:nvPr/>
        </p:nvSpPr>
        <p:spPr>
          <a:xfrm>
            <a:off x="477078" y="26504"/>
            <a:ext cx="11714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Habib University – Shaping Futures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29C37EA-5D66-A27C-EB91-FF555785C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355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Gill Sans MT"/>
              </a:rPr>
              <a:t>Faisal Alvi</a:t>
            </a: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endParaRPr lang="en-US" sz="2000" dirty="0">
              <a:latin typeface="Gill Sans MT"/>
            </a:endParaRPr>
          </a:p>
          <a:p>
            <a:r>
              <a:rPr lang="en-US" sz="1800" dirty="0">
                <a:latin typeface="Gill Sans MT"/>
              </a:rPr>
              <a:t>(For any suggested modifications please email: </a:t>
            </a:r>
            <a:r>
              <a:rPr lang="en-US" sz="1800" dirty="0">
                <a:latin typeface="Consolas" panose="020B0609020204030204" pitchFamily="49" charset="0"/>
                <a:hlinkClick r:id="rId2"/>
              </a:rPr>
              <a:t>faisal.alvi@sse.habib.edu.pk</a:t>
            </a:r>
            <a:r>
              <a:rPr lang="en-US" sz="1800" dirty="0">
                <a:latin typeface="Gill Sans MT"/>
              </a:rPr>
              <a:t>)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39313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3E23-B2FF-967B-635C-715BE84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Unit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88074-EB1B-1FEF-394D-487B31B95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008" y="1825625"/>
            <a:ext cx="10597792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Introduction</a:t>
            </a:r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endParaRPr lang="en-US" sz="2400" dirty="0"/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 err="1"/>
              <a:t>ArrayStack</a:t>
            </a:r>
            <a:endParaRPr lang="en-US" sz="2400" dirty="0"/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endParaRPr lang="en-US" sz="2400" dirty="0"/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 err="1"/>
              <a:t>ArrayQueue</a:t>
            </a:r>
            <a:endParaRPr lang="en-US" sz="2400" dirty="0"/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endParaRPr lang="en-US" sz="2400" dirty="0"/>
          </a:p>
          <a:p>
            <a:pPr marL="514350" indent="-514350">
              <a:lnSpc>
                <a:spcPct val="100000"/>
              </a:lnSpc>
              <a:spcAft>
                <a:spcPts val="1200"/>
              </a:spcAft>
              <a:buAutoNum type="arabicPeriod"/>
            </a:pPr>
            <a:r>
              <a:rPr lang="en-US" sz="2400" dirty="0"/>
              <a:t>Summary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9D961-DA95-BD15-156F-92217214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D456-772D-AD8C-9483-FAA0876A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05215-262A-4723-8C2F-688D3E479671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04385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D4EB-0393-AD3F-8930-A0F122A3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D1E9-C770-26F9-CF23-2D6CFAA7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dirty="0"/>
              <a:t>We begin our coverage of data structures with array based implementations of abstract data types that were covered in the last unit.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Our coverage includes:</a:t>
            </a:r>
          </a:p>
          <a:p>
            <a:pPr lvl="2">
              <a:lnSpc>
                <a:spcPct val="100000"/>
              </a:lnSpc>
            </a:pPr>
            <a:r>
              <a:rPr lang="en-US" sz="2400" dirty="0" err="1"/>
              <a:t>ArrayStack</a:t>
            </a:r>
            <a:r>
              <a:rPr lang="en-US" sz="2400" dirty="0"/>
              <a:t> – array based stack</a:t>
            </a:r>
          </a:p>
          <a:p>
            <a:pPr lvl="2">
              <a:lnSpc>
                <a:spcPct val="100000"/>
              </a:lnSpc>
            </a:pPr>
            <a:r>
              <a:rPr lang="en-US" sz="2400" dirty="0" err="1"/>
              <a:t>ArrayQueue</a:t>
            </a:r>
            <a:r>
              <a:rPr lang="en-US" sz="2400" dirty="0"/>
              <a:t> – array based queue</a:t>
            </a:r>
          </a:p>
          <a:p>
            <a:pPr lvl="2">
              <a:lnSpc>
                <a:spcPct val="100000"/>
              </a:lnSpc>
            </a:pPr>
            <a:r>
              <a:rPr lang="en-US" sz="2400" dirty="0" err="1"/>
              <a:t>ArrayDeque</a:t>
            </a:r>
            <a:r>
              <a:rPr lang="en-US" sz="2400" dirty="0"/>
              <a:t> – array based deque</a:t>
            </a:r>
          </a:p>
          <a:p>
            <a:pPr lvl="2">
              <a:lnSpc>
                <a:spcPct val="100000"/>
              </a:lnSpc>
            </a:pPr>
            <a:r>
              <a:rPr lang="en-US" sz="2400" dirty="0" err="1"/>
              <a:t>DualArrayDeque</a:t>
            </a:r>
            <a:r>
              <a:rPr lang="en-US" sz="2400" dirty="0"/>
              <a:t> – deque based on dual arrays (time permitting)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86965-27F6-9E8A-9BB0-250AE652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2B1BD-6324-79A2-7B9B-7D842D85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D22CA-5EF0-1920-83A5-BEACF6EF88E3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49973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D4EB-0393-AD3F-8930-A0F122A38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D1E9-C770-26F9-CF23-2D6CFAA73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Some important points to take into consideration while using Array based data structures: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Arrays offer constant time access </a:t>
            </a:r>
            <a:r>
              <a:rPr lang="en-US" sz="2400" dirty="0"/>
              <a:t>to any value in the array.  This can offer constant time access to get and set items within the array.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Arrays are not dynamic</a:t>
            </a:r>
            <a:r>
              <a:rPr lang="en-US" sz="2400" dirty="0"/>
              <a:t>.  Adding or removing an element near the middle of a list means that a large number of elements in the array need to be shifted.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400" b="1" dirty="0"/>
              <a:t>Arrays cannot expand or shrink. </a:t>
            </a:r>
            <a:r>
              <a:rPr lang="en-US" sz="2400" dirty="0"/>
              <a:t>When the number of elements in the data structure exceeds the size of the backing array, a new array needs to be allocated.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86965-27F6-9E8A-9BB0-250AE652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2B1BD-6324-79A2-7B9B-7D842D85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AD3DF-11BF-77AB-57C1-A711C84DF48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269342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3779-B7D9-FDFA-0DB9-B881058A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Utility Class: 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06867-76F6-9783-6143-23F5F121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order to keep track of the size of an array, we have defined a class, array, that keeps track of its length.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F7065-517F-A041-3D10-5A24D7691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8BEF8-A65D-0A6A-FE49-9152E2309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39A1A0-F509-9CC4-BCAE-2598C64CF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564" y="2520227"/>
            <a:ext cx="8280826" cy="10478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590325-82AD-F794-0370-E2E8D046E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15" y="4138508"/>
            <a:ext cx="8261775" cy="2038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7A1FB0-73B8-C9BE-7A57-B069852C9F3C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221064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2F277-DF1D-895C-2BE6-0B32C42E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0A727-88F0-D8CD-3E09-F443CF3FC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F0DB23-EC2D-FBB6-7596-CBF820D4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033" y="917295"/>
            <a:ext cx="8261775" cy="20638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A51857-FC16-4CA0-DB2F-1A7F745E4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35" y="3251039"/>
            <a:ext cx="8223673" cy="762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938077-265D-F990-9F4F-84B2E5498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033" y="4012367"/>
            <a:ext cx="8236373" cy="259093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80659E-B821-25B2-F58F-643C0F0CD7B5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Introduction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81708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92C9-BD26-05E9-C8DB-09EBE56D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E6FB-DA1B-A7DC-AA5F-C1DBCE83A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dirty="0" err="1"/>
              <a:t>ArrayStack</a:t>
            </a:r>
            <a:r>
              <a:rPr lang="en-US" sz="2400" dirty="0"/>
              <a:t> implements the list interface using an array </a:t>
            </a:r>
            <a:r>
              <a:rPr lang="en-US" sz="2400" i="1" dirty="0"/>
              <a:t>a</a:t>
            </a:r>
            <a:r>
              <a:rPr lang="en-US" sz="2400" dirty="0"/>
              <a:t>, called the </a:t>
            </a:r>
            <a:r>
              <a:rPr lang="en-US" sz="2400" i="1" dirty="0"/>
              <a:t>backing</a:t>
            </a:r>
            <a:r>
              <a:rPr lang="en-US" sz="2400" dirty="0"/>
              <a:t> array. </a:t>
            </a:r>
          </a:p>
          <a:p>
            <a:r>
              <a:rPr lang="en-US" sz="2400" dirty="0"/>
              <a:t>The list element with index </a:t>
            </a:r>
            <a:r>
              <a:rPr lang="en-US" sz="2400" i="1" dirty="0" err="1"/>
              <a:t>i</a:t>
            </a:r>
            <a:r>
              <a:rPr lang="en-US" sz="2400" dirty="0"/>
              <a:t> is stored in </a:t>
            </a:r>
            <a:r>
              <a:rPr lang="en-US" sz="2400" i="1" dirty="0"/>
              <a:t>a</a:t>
            </a:r>
            <a:r>
              <a:rPr lang="en-US" sz="2400" dirty="0"/>
              <a:t>[ </a:t>
            </a:r>
            <a:r>
              <a:rPr lang="en-US" sz="2400" i="1" dirty="0" err="1"/>
              <a:t>i</a:t>
            </a:r>
            <a:r>
              <a:rPr lang="en-US" sz="2400" i="1" dirty="0"/>
              <a:t> </a:t>
            </a:r>
            <a:r>
              <a:rPr lang="en-US" sz="2400" dirty="0"/>
              <a:t>]. </a:t>
            </a:r>
          </a:p>
          <a:p>
            <a:r>
              <a:rPr lang="en-US" sz="2400" dirty="0"/>
              <a:t>An integer </a:t>
            </a:r>
            <a:r>
              <a:rPr lang="en-US" sz="2400" i="1" dirty="0"/>
              <a:t>n</a:t>
            </a:r>
            <a:r>
              <a:rPr lang="en-US" sz="2400" dirty="0"/>
              <a:t> is used to keep track of the number of elements actually stored in </a:t>
            </a:r>
            <a:r>
              <a:rPr lang="en-US" sz="2400" i="1" dirty="0"/>
              <a:t>a</a:t>
            </a:r>
            <a:r>
              <a:rPr lang="en-US" sz="2400" dirty="0"/>
              <a:t>. </a:t>
            </a:r>
          </a:p>
          <a:p>
            <a:r>
              <a:rPr lang="en-US" sz="2400" dirty="0"/>
              <a:t>The list elements are stored in </a:t>
            </a:r>
            <a:r>
              <a:rPr lang="en-US" sz="2400" i="1" dirty="0"/>
              <a:t>a</a:t>
            </a:r>
            <a:r>
              <a:rPr lang="en-US" sz="2400" dirty="0"/>
              <a:t>[0], . . . 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 − 1] and, at all times,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 ≥ </a:t>
            </a:r>
            <a:r>
              <a:rPr lang="en-US" sz="2400" i="1" dirty="0"/>
              <a:t>n</a:t>
            </a:r>
            <a:r>
              <a:rPr lang="en-US" sz="2400" dirty="0"/>
              <a:t>.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CF4D74-7395-D9CC-4A40-DE2ACC95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C4AD4-9F8B-5DFF-D7DF-F9D335DF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3BF65-2CD3-A9ED-1DC1-5810E7A3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77" y="4095519"/>
            <a:ext cx="8204622" cy="19622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C49A0B-1C69-1989-CD92-A509444F1B5A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79617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D13D-D03B-A966-8A06-90CC3E8A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get and set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DCB32-02AA-6C21-088E-5877F5791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Accessing and modifying the elements of an </a:t>
            </a:r>
            <a:r>
              <a:rPr lang="en-US" sz="2400" dirty="0" err="1"/>
              <a:t>ArrayStack</a:t>
            </a:r>
            <a:r>
              <a:rPr lang="en-US" sz="2400" dirty="0"/>
              <a:t> using get(</a:t>
            </a:r>
            <a:r>
              <a:rPr lang="en-US" sz="2400" dirty="0" err="1"/>
              <a:t>i</a:t>
            </a:r>
            <a:r>
              <a:rPr lang="en-US" sz="2400" dirty="0"/>
              <a:t>) and set(</a:t>
            </a:r>
            <a:r>
              <a:rPr lang="en-US" sz="2400" dirty="0" err="1"/>
              <a:t>i</a:t>
            </a:r>
            <a:r>
              <a:rPr lang="en-US" sz="2400" dirty="0"/>
              <a:t>, x) is straightforward.  After performing any necessary bounds-checking we simply return or set, respectively,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87CFB-B10F-8972-5C39-897910C23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76A2F-EF83-D49C-9175-21E6454C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8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6AFF37-FF5B-5BE7-B3CA-8D83BF2C4489}"/>
              </a:ext>
            </a:extLst>
          </p:cNvPr>
          <p:cNvGrpSpPr/>
          <p:nvPr/>
        </p:nvGrpSpPr>
        <p:grpSpPr>
          <a:xfrm>
            <a:off x="1998720" y="2924913"/>
            <a:ext cx="8413362" cy="2952738"/>
            <a:chOff x="1998720" y="2924913"/>
            <a:chExt cx="8413362" cy="295273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B2ABBF-BAD0-6CF8-1B44-FB5CA357C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15971" y="2924913"/>
              <a:ext cx="8396111" cy="215276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378B60B-B545-D8C4-8FDC-F7B884EF2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8720" y="5115612"/>
              <a:ext cx="8396110" cy="762039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F4A69BA-0A6B-9DF9-923D-28478EBF898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16521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52787-A530-0BFD-9568-712E3816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 Adding an element at index </a:t>
            </a:r>
            <a:r>
              <a:rPr lang="en-US" i="1" dirty="0" err="1"/>
              <a:t>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F82D7-A7E2-F3E9-BF65-E696AB94A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To implement the add(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operation, we first check if </a:t>
            </a:r>
            <a:r>
              <a:rPr lang="en-US" sz="2400" i="1" dirty="0"/>
              <a:t>a</a:t>
            </a:r>
            <a:r>
              <a:rPr lang="en-US" sz="2400" dirty="0"/>
              <a:t> is already full. If so, we call the method resize() to increase the size of </a:t>
            </a:r>
            <a:r>
              <a:rPr lang="en-US" sz="2400" i="1" dirty="0"/>
              <a:t>a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After a call to resize(), we can be sure that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 &gt; </a:t>
            </a:r>
            <a:r>
              <a:rPr lang="en-US" sz="2400" i="1" dirty="0"/>
              <a:t>n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 now shift the elements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], …,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 − 1] right by one position to make room for </a:t>
            </a:r>
            <a:r>
              <a:rPr lang="en-US" sz="2400" i="1" dirty="0"/>
              <a:t>x</a:t>
            </a:r>
            <a:r>
              <a:rPr lang="en-US" sz="2400" dirty="0"/>
              <a:t>, set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] equal to </a:t>
            </a:r>
            <a:r>
              <a:rPr lang="en-US" sz="2400" i="1" dirty="0"/>
              <a:t>x</a:t>
            </a:r>
            <a:r>
              <a:rPr lang="en-US" sz="2400" dirty="0"/>
              <a:t>, and increment </a:t>
            </a:r>
            <a:r>
              <a:rPr lang="en-US" sz="2400" i="1" dirty="0"/>
              <a:t>n</a:t>
            </a:r>
            <a:r>
              <a:rPr lang="en-US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29EF9-4EA1-1176-1995-A4D66842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BC371-8E58-5D11-EB62-12B29C9C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7208D5-95DD-9BF1-C91B-35261787C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70" y="4001294"/>
            <a:ext cx="8210972" cy="26671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98142D-FD7E-06A8-020F-03DA9E8DA4D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14179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2E1CF-1842-B2B0-5B9D-98487E79B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Cost of the add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D66D6-BD60-7654-695C-DBD6A6558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If we ignore the cost of the potential call to resize(), then the cost of the add(</a:t>
            </a:r>
            <a:r>
              <a:rPr lang="en-US" sz="2400" i="1" dirty="0" err="1"/>
              <a:t>i</a:t>
            </a:r>
            <a:r>
              <a:rPr lang="en-US" sz="2400" dirty="0"/>
              <a:t>, </a:t>
            </a:r>
            <a:r>
              <a:rPr lang="en-US" sz="2400" i="1" dirty="0"/>
              <a:t>x</a:t>
            </a:r>
            <a:r>
              <a:rPr lang="en-US" sz="2400" dirty="0"/>
              <a:t>) operation is proportional to the number of elements we have to shift to make room for </a:t>
            </a:r>
            <a:r>
              <a:rPr lang="en-US" sz="2400" i="1" dirty="0"/>
              <a:t>x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Therefore the cost of this operation (ignoring the cost of resizing </a:t>
            </a:r>
            <a:r>
              <a:rPr lang="en-US" sz="2400" i="1" dirty="0"/>
              <a:t>a</a:t>
            </a:r>
            <a:r>
              <a:rPr lang="en-US" sz="2400" dirty="0"/>
              <a:t>) is O(</a:t>
            </a:r>
            <a:r>
              <a:rPr lang="en-US" sz="2400" i="1" dirty="0"/>
              <a:t>n</a:t>
            </a:r>
            <a:r>
              <a:rPr lang="en-US" sz="2400" dirty="0"/>
              <a:t> − </a:t>
            </a:r>
            <a:r>
              <a:rPr lang="en-US" sz="2400" i="1" dirty="0" err="1"/>
              <a:t>i</a:t>
            </a:r>
            <a:r>
              <a:rPr lang="en-US" sz="2400" dirty="0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0E43B-CAF6-6A93-B318-548C669A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7E6DE-CF70-012F-6E9E-43A563A1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0E1FC-9039-AD85-229B-9704E34D9D92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132121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829E-1751-F049-9C42-0B03F9D5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Removing an element at index </a:t>
            </a:r>
            <a:r>
              <a:rPr lang="en-US" i="1" dirty="0" err="1"/>
              <a:t>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C6F70-8C5A-E611-9CEB-75A16E3B9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Implementing the remove(</a:t>
            </a:r>
            <a:r>
              <a:rPr lang="en-US" sz="2400" i="1" dirty="0" err="1"/>
              <a:t>i</a:t>
            </a:r>
            <a:r>
              <a:rPr lang="en-US" sz="2400" dirty="0"/>
              <a:t>) operation is similar.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We shift the elements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 + 1], … ,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/>
              <a:t>n</a:t>
            </a:r>
            <a:r>
              <a:rPr lang="en-US" sz="2400" dirty="0"/>
              <a:t> − 1] left by one position (overwriting </a:t>
            </a:r>
            <a:r>
              <a:rPr lang="en-US" sz="2400" i="1" dirty="0"/>
              <a:t>a</a:t>
            </a:r>
            <a:r>
              <a:rPr lang="en-US" sz="2400" dirty="0"/>
              <a:t>[</a:t>
            </a:r>
            <a:r>
              <a:rPr lang="en-US" sz="2400" i="1" dirty="0" err="1"/>
              <a:t>i</a:t>
            </a:r>
            <a:r>
              <a:rPr lang="en-US" sz="2400" dirty="0"/>
              <a:t>]) and decrease the value of </a:t>
            </a:r>
            <a:r>
              <a:rPr lang="en-US" sz="2400" i="1" dirty="0"/>
              <a:t>n</a:t>
            </a:r>
            <a:r>
              <a:rPr lang="en-US" sz="24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After doing this, we check if n is getting much smaller than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 by checking if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 ≥ 3n.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If so, then we call resize() to reduce the size of </a:t>
            </a:r>
            <a:r>
              <a:rPr lang="en-US" sz="2400" i="1" dirty="0"/>
              <a:t>a</a:t>
            </a:r>
            <a:r>
              <a:rPr lang="en-US" sz="24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E63FC-78C3-CFCC-6E0C-7C3781E9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10E93-6A26-C6B1-A077-4A7867A4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E69501-69CD-20DD-DFA2-C93F42C4E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498" y="3688136"/>
            <a:ext cx="4563408" cy="27594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C79FC3-17E0-C9F6-699D-0BDE83C7B58E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617378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6897-D055-AEB2-D4D2-B745A4D3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Examples of </a:t>
            </a:r>
            <a:r>
              <a:rPr lang="en-US" i="1" dirty="0"/>
              <a:t>add </a:t>
            </a:r>
            <a:r>
              <a:rPr lang="en-US" dirty="0"/>
              <a:t>and </a:t>
            </a:r>
            <a:r>
              <a:rPr lang="en-US" i="1" dirty="0"/>
              <a:t>remove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15582-E9A4-ECEF-DB6B-2B520DFD0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89361-6E6A-512F-2743-B6F5F1C6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80709F-8C2B-4BDC-CB55-A2F5ACEB1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46" y="2160993"/>
            <a:ext cx="6686894" cy="40197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A8661F-A21B-C5EE-E226-B06B32999AB5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86658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0AEB-05A9-1CDD-0380-158B6FDE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Examples of </a:t>
            </a:r>
            <a:r>
              <a:rPr lang="en-US" i="1" dirty="0"/>
              <a:t>add</a:t>
            </a:r>
            <a:r>
              <a:rPr lang="en-US" dirty="0"/>
              <a:t> and </a:t>
            </a:r>
            <a:r>
              <a:rPr lang="en-US" i="1" dirty="0"/>
              <a:t>remove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71B7F-F605-A852-1FE7-C3ECFF1B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66F171-29DA-A464-89A4-DDC55C21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0DC824-00B5-DC4C-B270-33B16A592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02" y="2055313"/>
            <a:ext cx="6801200" cy="3981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F94550-4813-7E2D-8FA1-E7479B0DE53F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17968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E42BE-926D-F726-5FB0-492A5E6B4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The </a:t>
            </a:r>
            <a:r>
              <a:rPr lang="en-US" i="1" dirty="0"/>
              <a:t>resize </a:t>
            </a:r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DA41F-423D-35A8-9A65-0539E995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resize() method allocates a new array </a:t>
            </a:r>
            <a:r>
              <a:rPr lang="en-US" sz="2400" i="1" dirty="0"/>
              <a:t>b</a:t>
            </a:r>
            <a:r>
              <a:rPr lang="en-US" sz="2400" dirty="0"/>
              <a:t> whose size is 2</a:t>
            </a:r>
            <a:r>
              <a:rPr lang="en-US" sz="2400" i="1" dirty="0"/>
              <a:t>n.</a:t>
            </a:r>
            <a:r>
              <a:rPr lang="en-US" sz="2400" dirty="0"/>
              <a:t>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copies the </a:t>
            </a:r>
            <a:r>
              <a:rPr lang="en-US" sz="2400" i="1" dirty="0"/>
              <a:t>n</a:t>
            </a:r>
            <a:r>
              <a:rPr lang="en-US" sz="2400" dirty="0"/>
              <a:t> elements of a into the first </a:t>
            </a:r>
            <a:r>
              <a:rPr lang="en-US" sz="2400" i="1" dirty="0"/>
              <a:t>n</a:t>
            </a:r>
            <a:r>
              <a:rPr lang="en-US" sz="2400" dirty="0"/>
              <a:t> positions in </a:t>
            </a:r>
            <a:r>
              <a:rPr lang="en-US" sz="2400" i="1" dirty="0"/>
              <a:t>b</a:t>
            </a:r>
            <a:r>
              <a:rPr lang="en-US" sz="2400" dirty="0"/>
              <a:t>, and then sets </a:t>
            </a:r>
            <a:r>
              <a:rPr lang="en-US" sz="2400" i="1" dirty="0"/>
              <a:t>a</a:t>
            </a:r>
            <a:r>
              <a:rPr lang="en-US" sz="2400" dirty="0"/>
              <a:t> to </a:t>
            </a:r>
            <a:r>
              <a:rPr lang="en-US" sz="2400" i="1" dirty="0"/>
              <a:t>b</a:t>
            </a:r>
            <a:r>
              <a:rPr lang="en-US" sz="2400" dirty="0"/>
              <a:t>. Thus, after a call to resize(),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 = 2</a:t>
            </a:r>
            <a:r>
              <a:rPr lang="en-US" sz="2400" i="1" dirty="0"/>
              <a:t>n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The resize() operation allocates an array </a:t>
            </a:r>
            <a:r>
              <a:rPr lang="en-US" sz="2400" i="1" dirty="0"/>
              <a:t>b</a:t>
            </a:r>
            <a:r>
              <a:rPr lang="en-US" sz="2400" dirty="0"/>
              <a:t> of size 2</a:t>
            </a:r>
            <a:r>
              <a:rPr lang="en-US" sz="2400" i="1" dirty="0"/>
              <a:t>n</a:t>
            </a:r>
            <a:r>
              <a:rPr lang="en-US" sz="2400" dirty="0"/>
              <a:t> and copies the </a:t>
            </a:r>
            <a:r>
              <a:rPr lang="en-US" sz="2400" i="1" dirty="0"/>
              <a:t>n</a:t>
            </a:r>
            <a:r>
              <a:rPr lang="en-US" sz="2400" dirty="0"/>
              <a:t> elements of </a:t>
            </a:r>
            <a:r>
              <a:rPr lang="en-US" sz="2400" i="1" dirty="0"/>
              <a:t>a</a:t>
            </a:r>
            <a:r>
              <a:rPr lang="en-US" sz="2400" dirty="0"/>
              <a:t> into </a:t>
            </a:r>
            <a:r>
              <a:rPr lang="en-US" sz="2400" i="1" dirty="0"/>
              <a:t>b</a:t>
            </a:r>
            <a:r>
              <a:rPr lang="en-US" sz="2400" dirty="0"/>
              <a:t>. This takes O(</a:t>
            </a:r>
            <a:r>
              <a:rPr lang="en-US" sz="2400" i="1" dirty="0"/>
              <a:t>n</a:t>
            </a:r>
            <a:r>
              <a:rPr lang="en-US" sz="2400" dirty="0"/>
              <a:t>) time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B54B4-A5B3-DD66-C21A-26145317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4A71-AD70-1D85-ECDA-D9C2E4CD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7D5E5-CCA7-8ABF-D25C-29B7418FA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096" y="4081336"/>
            <a:ext cx="8280826" cy="2457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AF9B6B-3B7E-6167-3EF1-3826C930FF42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b="1" dirty="0" err="1">
                <a:solidFill>
                  <a:schemeClr val="bg1"/>
                </a:solidFill>
              </a:rPr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159150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7A20-09BF-3249-3748-8AC394FC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ArrayStack</a:t>
            </a:r>
            <a:r>
              <a:rPr lang="en-US" dirty="0"/>
              <a:t>: 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3DE1A-5ED2-7442-6467-357D65102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6A302-7678-E5BD-BA7F-42BA4E4A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59355-3B47-5808-C8A3-96CD810F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772" y="1901041"/>
            <a:ext cx="8598342" cy="2521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C9C508-5D25-709A-ED91-4CFF53445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772" y="4751027"/>
            <a:ext cx="8414182" cy="12764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E114A-5EF0-7404-8465-F08D090B4EC4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</a:t>
            </a:r>
            <a:r>
              <a:rPr lang="en-US" b="1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12909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9322-8311-7AB3-7E1B-64E72051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FD00F-8ABD-64C4-898A-33FF46D16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Next we present the </a:t>
            </a:r>
            <a:r>
              <a:rPr lang="en-US" sz="2400" dirty="0" err="1"/>
              <a:t>ArrayQueue</a:t>
            </a:r>
            <a:r>
              <a:rPr lang="en-US" sz="2400" dirty="0"/>
              <a:t> Data Structure.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Notice that an </a:t>
            </a:r>
            <a:r>
              <a:rPr lang="en-US" sz="2400" dirty="0" err="1"/>
              <a:t>ArrayStack</a:t>
            </a:r>
            <a:r>
              <a:rPr lang="en-US" sz="2400" dirty="0"/>
              <a:t> is a poor choice for an implementation of a FIFO queue.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It is not a good choice because we must choose one end of the list upon which to add elements and then remove elements from the other end.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5587D-74BD-44F8-4CDD-1DDAF29E4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20DB3-A695-ED63-6AAD-540C6A40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05251-4A2F-635B-B92B-43432233EC15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36610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BD1C-B855-11BC-41DE-62744D62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B9D1C-A9E6-303F-4168-638836AA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B62B77-4937-5E2B-8E5B-29133FF5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D5DE6-C441-FD68-5D51-5ED6C4D0F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46" y="1877519"/>
            <a:ext cx="8738013" cy="1831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8B1631-F407-EAB3-0C91-3EC16C3CF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065" y="3850947"/>
            <a:ext cx="3378374" cy="5588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F1E6F7-B9D4-D14C-F4C5-FF3B72E48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8997" y="4663625"/>
            <a:ext cx="8588262" cy="12540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7BABE-88AE-AAE1-6BFB-50169D0B190B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7370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AEC2-FA54-D5BD-94EB-7E3EE43FD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Modular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541A-CA1D-8E8F-B925-805F6980F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dirty="0" err="1"/>
              <a:t>ArrayQueue</a:t>
            </a:r>
            <a:r>
              <a:rPr lang="en-US" sz="2400" dirty="0"/>
              <a:t> simulates this by using a finite array </a:t>
            </a:r>
            <a:r>
              <a:rPr lang="en-US" sz="2400" i="1" dirty="0"/>
              <a:t>a</a:t>
            </a:r>
            <a:r>
              <a:rPr lang="en-US" sz="2400" dirty="0"/>
              <a:t> and modular arithmetic. </a:t>
            </a:r>
          </a:p>
          <a:p>
            <a:r>
              <a:rPr lang="en-US" sz="2400" dirty="0"/>
              <a:t>For example 10:00 plus five hours gives 3:00. </a:t>
            </a:r>
          </a:p>
          <a:p>
            <a:r>
              <a:rPr lang="en-US" sz="2400" dirty="0"/>
              <a:t>Formally, we say that 10 + 5 = 15 ≡ 3 (mod 12) . </a:t>
            </a:r>
          </a:p>
          <a:p>
            <a:r>
              <a:rPr lang="en-US" sz="2400" dirty="0"/>
              <a:t>We read the latter part of this equation as “15 is congruent to 3 modulo 12.” </a:t>
            </a:r>
          </a:p>
          <a:p>
            <a:r>
              <a:rPr lang="en-US" sz="2400" dirty="0"/>
              <a:t>We can also treat mod as a binary operator, so that 15 mod 12 = 3 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F929F-6F90-7396-0A8F-07E4B1B6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C9558-0106-4FA0-A580-E4436FAF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9D06C-D604-37EB-409F-A864E55FADAC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13617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D967C-EB87-4233-36A2-06C1D06D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97981-EB07-F707-44DD-260DA0DD8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Using modular arithmetic we can store the queue elements at array locations:</a:t>
            </a:r>
          </a:p>
          <a:p>
            <a:r>
              <a:rPr lang="en-US" sz="2400" i="1" dirty="0"/>
              <a:t>a</a:t>
            </a:r>
            <a:r>
              <a:rPr lang="en-US" sz="2400" i="1"/>
              <a:t> </a:t>
            </a:r>
            <a:r>
              <a:rPr lang="en-US" sz="2400" dirty="0"/>
              <a:t>[ </a:t>
            </a:r>
            <a:r>
              <a:rPr lang="en-US" sz="2400" i="1" dirty="0"/>
              <a:t>j</a:t>
            </a:r>
            <a:r>
              <a:rPr lang="en-US" sz="2400" dirty="0"/>
              <a:t> %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], </a:t>
            </a:r>
            <a:r>
              <a:rPr lang="en-US" sz="2400" i="1" dirty="0"/>
              <a:t>a</a:t>
            </a:r>
            <a:r>
              <a:rPr lang="en-US" sz="2400" dirty="0"/>
              <a:t>[(</a:t>
            </a:r>
            <a:r>
              <a:rPr lang="en-US" sz="2400" i="1" dirty="0"/>
              <a:t>j</a:t>
            </a:r>
            <a:r>
              <a:rPr lang="en-US" sz="2400" dirty="0"/>
              <a:t> + 1) % </a:t>
            </a:r>
            <a:r>
              <a:rPr lang="en-US" sz="2400" dirty="0" err="1"/>
              <a:t>a.length</a:t>
            </a:r>
            <a:r>
              <a:rPr lang="en-US" sz="2400" dirty="0"/>
              <a:t>], …, </a:t>
            </a:r>
            <a:r>
              <a:rPr lang="en-US" sz="2400" i="1" dirty="0"/>
              <a:t>a</a:t>
            </a:r>
            <a:r>
              <a:rPr lang="en-US" sz="2400" dirty="0"/>
              <a:t>[(</a:t>
            </a:r>
            <a:r>
              <a:rPr lang="en-US" sz="2400" i="1" dirty="0"/>
              <a:t>j</a:t>
            </a:r>
            <a:r>
              <a:rPr lang="en-US" sz="2400" dirty="0"/>
              <a:t> + </a:t>
            </a:r>
            <a:r>
              <a:rPr lang="en-US" sz="2400" i="1" dirty="0"/>
              <a:t>n</a:t>
            </a:r>
            <a:r>
              <a:rPr lang="en-US" sz="2400" dirty="0"/>
              <a:t> − 1) % </a:t>
            </a:r>
            <a:r>
              <a:rPr lang="en-US" sz="2400" i="1" dirty="0" err="1"/>
              <a:t>a</a:t>
            </a:r>
            <a:r>
              <a:rPr lang="en-US" sz="2400" dirty="0" err="1"/>
              <a:t>.length</a:t>
            </a:r>
            <a:r>
              <a:rPr lang="en-US" sz="2400" dirty="0"/>
              <a:t>]. </a:t>
            </a:r>
          </a:p>
          <a:p>
            <a:r>
              <a:rPr lang="en-US" sz="2400" dirty="0"/>
              <a:t>This treats the array a like a circular array in which array indices larger than </a:t>
            </a:r>
            <a:r>
              <a:rPr lang="en-US" sz="2400" dirty="0" err="1"/>
              <a:t>a.length</a:t>
            </a:r>
            <a:r>
              <a:rPr lang="en-US" sz="2400" dirty="0"/>
              <a:t> − 1 “wrap around” to the beginning of the array.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70EC3-49FC-235B-BE97-9EF60245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603E3-C0CC-66B2-B764-C8CBAC508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96C4E-7601-2D8C-D20F-67B8EAA172F3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50931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ECA1-C460-ABD7-8CFA-2F922225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r>
              <a:rPr lang="en-US" dirty="0"/>
              <a:t>: Implementation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94DC7-24F1-88BE-FC55-3124DD5E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342EE-2550-CA4F-ACBC-1C348C6E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E58D26-8522-F73F-E150-7EBCE8AAB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238" y="1735931"/>
            <a:ext cx="8223673" cy="14034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119BD3-76CA-DC5C-CF44-E72EEC728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237" y="3244792"/>
            <a:ext cx="8223673" cy="22353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FF63DE-C93E-79B5-B654-1476FB73BC90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2738411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890C-34C3-49F1-B5D0-3FAB187B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r>
              <a:rPr lang="en-US" dirty="0"/>
              <a:t>: Implementation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84F9B7-19C2-DB42-6F34-D99680C21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137" y="1746979"/>
            <a:ext cx="8268125" cy="252743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0B1B5-5D05-19DB-4E57-AB8E026A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230F0-147C-5D3A-B2FF-1116D86C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3E04E0-86C1-DD7E-DC51-E1CED51ED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262" y="4249540"/>
            <a:ext cx="8179220" cy="25591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6AE203-5D36-8DED-9D05-D5AD32565C86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b="1" dirty="0" err="1">
                <a:solidFill>
                  <a:schemeClr val="bg1"/>
                </a:solidFill>
              </a:rPr>
              <a:t>ArrayQueue</a:t>
            </a:r>
            <a:r>
              <a:rPr lang="en-US" dirty="0"/>
              <a:t>            		Summary</a:t>
            </a:r>
          </a:p>
        </p:txBody>
      </p:sp>
    </p:spTree>
    <p:extLst>
      <p:ext uri="{BB962C8B-B14F-4D97-AF65-F5344CB8AC3E}">
        <p14:creationId xmlns:p14="http://schemas.microsoft.com/office/powerpoint/2010/main" val="3110762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C863-87D7-2EE1-80A6-363DD8AD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ArrayQueue</a:t>
            </a:r>
            <a:r>
              <a:rPr lang="en-US" dirty="0"/>
              <a:t>: Summary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EA14F9-B6C5-3CF2-A016-95144A6D5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9683" y="2035103"/>
            <a:ext cx="8445934" cy="278779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A91A8-EE3E-79EA-7E33-630B1AA6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CS-201: Data Structures II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2E0E2-14F2-C8AD-C9BA-B1B83139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21A1F-7885-4E65-AB38-5CCB274F4EF5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D3FAFC-DE71-6EE6-A8E2-819BA8F0CA05}"/>
              </a:ext>
            </a:extLst>
          </p:cNvPr>
          <p:cNvSpPr txBox="1"/>
          <p:nvPr/>
        </p:nvSpPr>
        <p:spPr>
          <a:xfrm>
            <a:off x="517585" y="0"/>
            <a:ext cx="11672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	</a:t>
            </a:r>
            <a:r>
              <a:rPr lang="en-US" dirty="0"/>
              <a:t>		</a:t>
            </a:r>
            <a:r>
              <a:rPr lang="en-US" dirty="0" err="1"/>
              <a:t>ArrayStack</a:t>
            </a:r>
            <a:r>
              <a:rPr lang="en-US" dirty="0"/>
              <a:t>            			</a:t>
            </a:r>
            <a:r>
              <a:rPr lang="en-US" dirty="0" err="1"/>
              <a:t>ArrayQueue</a:t>
            </a:r>
            <a:r>
              <a:rPr lang="en-US" dirty="0"/>
              <a:t>            		</a:t>
            </a:r>
            <a:r>
              <a:rPr lang="en-US" b="1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78817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7508</TotalTime>
  <Words>1352</Words>
  <Application>Microsoft Office PowerPoint</Application>
  <PresentationFormat>Widescreen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Gill Sans MT</vt:lpstr>
      <vt:lpstr>Office Theme</vt:lpstr>
      <vt:lpstr>CS 201: Data Structures II  Unit 02 – Week 1:  Array Based Lists</vt:lpstr>
      <vt:lpstr> Unit Outline</vt:lpstr>
      <vt:lpstr> Introduction</vt:lpstr>
      <vt:lpstr> Observations</vt:lpstr>
      <vt:lpstr> Utility Class:  array</vt:lpstr>
      <vt:lpstr>PowerPoint Presentation</vt:lpstr>
      <vt:lpstr> ArrayStack</vt:lpstr>
      <vt:lpstr> ArrayStack: get and set functions</vt:lpstr>
      <vt:lpstr> ArrayStack:  Adding an element at index i</vt:lpstr>
      <vt:lpstr> ArrayStack: Cost of the add operation</vt:lpstr>
      <vt:lpstr> ArrayStack: Removing an element at index i</vt:lpstr>
      <vt:lpstr> ArrayStack: Examples of add and remove</vt:lpstr>
      <vt:lpstr> ArrayStack: Examples of add and remove</vt:lpstr>
      <vt:lpstr> ArrayStack: The resize method</vt:lpstr>
      <vt:lpstr> ArrayStack: Summary</vt:lpstr>
      <vt:lpstr> ArrayQueue</vt:lpstr>
      <vt:lpstr> ArrayQueue</vt:lpstr>
      <vt:lpstr> Modular Arithmetic</vt:lpstr>
      <vt:lpstr> ArrayQueue</vt:lpstr>
      <vt:lpstr> ArrayQueue: Implementation</vt:lpstr>
      <vt:lpstr> ArrayQueue: Implementation</vt:lpstr>
      <vt:lpstr> ArrayQueue: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Faisal Alvi</dc:creator>
  <cp:lastModifiedBy>Faisal Alvi</cp:lastModifiedBy>
  <cp:revision>942</cp:revision>
  <dcterms:created xsi:type="dcterms:W3CDTF">2022-04-01T09:51:06Z</dcterms:created>
  <dcterms:modified xsi:type="dcterms:W3CDTF">2024-01-22T07:25:25Z</dcterms:modified>
</cp:coreProperties>
</file>