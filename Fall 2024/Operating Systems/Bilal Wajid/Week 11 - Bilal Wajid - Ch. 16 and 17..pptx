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592" r:id="rId3"/>
    <p:sldId id="540" r:id="rId4"/>
    <p:sldId id="593" r:id="rId5"/>
    <p:sldId id="645" r:id="rId6"/>
    <p:sldId id="611" r:id="rId7"/>
    <p:sldId id="646" r:id="rId8"/>
    <p:sldId id="647" r:id="rId9"/>
    <p:sldId id="613" r:id="rId10"/>
    <p:sldId id="612" r:id="rId11"/>
    <p:sldId id="648" r:id="rId12"/>
    <p:sldId id="650" r:id="rId13"/>
    <p:sldId id="649" r:id="rId14"/>
    <p:sldId id="264" r:id="rId15"/>
    <p:sldId id="265" r:id="rId16"/>
    <p:sldId id="266" r:id="rId17"/>
    <p:sldId id="267" r:id="rId18"/>
    <p:sldId id="268" r:id="rId19"/>
    <p:sldId id="269" r:id="rId20"/>
    <p:sldId id="258" r:id="rId21"/>
    <p:sldId id="259" r:id="rId22"/>
    <p:sldId id="260" r:id="rId23"/>
    <p:sldId id="261" r:id="rId24"/>
    <p:sldId id="61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A1AF2E-B2F2-4C5A-905A-8C09DB7079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0A810-9F33-4988-A383-145CB72D1E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D41E7-8413-46FC-803B-3974DE743C3E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63E1C-2565-4148-A5B0-FF4BDB0B8A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30A22-1373-467E-B905-B00966A977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4F7D2-043E-401F-9F35-DF03350D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061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4008E4-FF49-4D1A-9EC8-15B30F30DC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66D30-F6A0-4C7D-8D28-C18C37C83D3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0375B-7873-44FE-B8D2-43C54504DC0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A110F37-4F02-488F-87E5-C2B50F062F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51E13BC-889F-4872-B322-486637A9B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28EAE-DE75-4277-B8AF-6059123CB4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E4207-A34C-43B6-AF54-0EE9DDA1F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68A7F-07CC-492C-B2AB-458B3D531E4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787B7-B8FD-410A-8E1D-CDB58FDF0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FEBAC-3CB7-4C83-809B-E90246CD9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B8139-8A56-4351-AC02-DC6D9DCD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F3C7-7AA1-4616-8791-1C4068280C9A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17684-1405-42DB-9591-99B606C9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D495B-9F50-4124-A2DF-9E71AC62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3824E-2653-4286-948D-52AA9B85F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74088-CCD2-4E7F-B889-483892BDF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E4AB0-F4B2-48B2-A2BD-19ED72704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70EE-4B30-414F-BA2C-620AB9572239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A1163-153F-46F1-9C85-ADB2B1397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DEB60-6783-44C0-A96B-1F75598F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55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5B7D-5F2B-4243-BB3C-70F3B376C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700EA-250F-492D-BE92-A915E025A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8C718-4487-4BCC-925A-347CB3B39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28AC3-A99D-46F1-823F-1C551D13EFC9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14CBD-1EB5-4188-AE14-6E48C6186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958B5-2A3A-4AFC-936B-B3CFC8D7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9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4B3FE-AE8C-48B6-AD20-92904FD6D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4208-70BE-4256-9E7B-DCDAC6CEB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A0D94-B9C7-4050-B0CB-9D1E05490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71577-7728-4E0B-9F5B-43A498C89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4E4FD-D68C-44DE-A6D6-E83BCF798170}" type="datetime1">
              <a:rPr lang="en-US" smtClean="0"/>
              <a:t>10/29/2024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14526-FE21-4847-9373-727286B2E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B5E5B-E071-4564-B638-6F8B6F40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8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A424-4617-4742-BBE9-E4547D295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1A6A6-D9D9-42F7-B64F-19BDCD99B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16317-A332-4B13-AA75-42AFEC8B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41F88-167D-43E0-8F7B-E9387E5FD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A50B2B-B95D-4719-AC99-C3A51B0A3D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06659B-7F1E-402E-9051-61822355B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371C9-1C49-4D1E-A163-6C8615613561}" type="datetime1">
              <a:rPr lang="en-US" smtClean="0"/>
              <a:t>10/29/2024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2E687C-4BD8-41B7-8796-82B70FE5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E345D9-BB0E-4B20-8C40-F41502A4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25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E6BB-0713-46E9-8DD4-C11654352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0F391-BA65-44DB-A2ED-D619DCBED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EB342-187D-4956-ACC1-712A50849E47}" type="datetime1">
              <a:rPr lang="en-US" smtClean="0"/>
              <a:t>10/29/2024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90F141-6EA8-4F72-80A8-229BCC11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7E61A-5BC6-427E-A7D5-358DD8C2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76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FDDA0-8322-4DB4-A8C4-2BE9AC2FD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3CB5-6744-4357-BCFD-1D1506B645DB}" type="datetime1">
              <a:rPr lang="en-US" smtClean="0"/>
              <a:t>10/29/2024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8BAA7-DB73-4ECB-9CF5-48C8D25C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F1AE5-AEE0-4071-901E-28F673EA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93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18E36-E9CE-4DBB-B490-4858AFA2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0C856-8BFB-4635-BB25-E2FA07AAD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2D9AC-A18D-4ECF-A36A-C606D580D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5D73F-5AAC-42F6-8AA6-13799766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9871-C9BA-48BF-A11B-4FF3389EF283}" type="datetime1">
              <a:rPr lang="en-US" smtClean="0"/>
              <a:t>10/29/2024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719EE-453C-4428-AC5D-6B556AB1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79F7D-FF5F-43E8-BFAB-2010D094C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50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8851-30B2-4338-9AFF-A04627AC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13B9E4-961F-4228-AC65-3EB38ACE5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C3D51-481F-4A99-B0B9-B99843607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883F2-6B15-4332-A7F5-D7FF1BAB4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7133F-4D3A-406C-AF3F-0E5265F3F0AA}" type="datetime1">
              <a:rPr lang="en-US" smtClean="0"/>
              <a:t>10/29/2024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49206-1039-4A3C-B554-5A284D58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64F69-EE53-4A91-8FA3-8F095D13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7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20D6B-1A91-41F8-A5B2-6AD9D3B2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22DC5-6F97-425F-AACF-23B017EC4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ACCD5-29FE-40A4-8744-54E276896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CEB2-7C1D-47FE-8F50-99A0FEB67315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D0473-F6B9-4F56-A5CC-59343A94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0F93A-E7F6-44DA-A9C7-86E18657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51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6F871-877B-4953-8412-82B2FF10BE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6406FC-F75A-4491-8797-6EBE05D8F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5C8AA-6FEC-42E9-B78A-216C7D4A4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E4DB-E888-4D96-9A2D-F17E8DCC2788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9172B-04B8-470E-B3D0-40247545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ECE19-3107-4181-8AF5-4D7E82640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1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034ECB-DD55-4561-BC1D-6009510C3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EFF62-8112-405E-9C03-CCE5511B4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EA088-B830-4E5C-87C7-3D6FFBC0E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D18C4-E7DC-4E9A-9045-DCFACF702226}" type="datetime1">
              <a:rPr lang="en-US" smtClean="0"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010CA-36E5-45EE-8BFD-6AA2D5ED0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B. Wajid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2366A-4673-4DCD-9054-7D24D53AE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39ECC-5E53-426E-9933-E0AFEB1FB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5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8653A-551A-4A5C-B154-03B4E2DFC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727768"/>
            <a:ext cx="9906000" cy="1402463"/>
          </a:xfrm>
        </p:spPr>
        <p:txBody>
          <a:bodyPr anchor="ctr">
            <a:normAutofit/>
          </a:bodyPr>
          <a:lstStyle/>
          <a:p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Operating Systems – (3 easy pieces)</a:t>
            </a:r>
            <a:endParaRPr lang="en-US" sz="8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2B9CA4-7005-44BF-A521-E765DADF6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5908710"/>
            <a:ext cx="9144000" cy="644490"/>
          </a:xfrm>
        </p:spPr>
        <p:txBody>
          <a:bodyPr>
            <a:normAutofit lnSpcReduction="10000"/>
          </a:bodyPr>
          <a:lstStyle/>
          <a:p>
            <a:pPr algn="r"/>
            <a:r>
              <a:rPr lang="en-US" sz="1600" dirty="0"/>
              <a:t>Dr. B. Wajid</a:t>
            </a:r>
          </a:p>
          <a:p>
            <a:pPr algn="r"/>
            <a:r>
              <a:rPr lang="en-US" sz="1600" dirty="0"/>
              <a:t>Wednesday: Oct. 30,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B9791-6E31-40E3-A8A0-A3AD4D34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12625-4BFC-4C02-8183-B808130E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</p:spTree>
    <p:extLst>
      <p:ext uri="{BB962C8B-B14F-4D97-AF65-F5344CB8AC3E}">
        <p14:creationId xmlns:p14="http://schemas.microsoft.com/office/powerpoint/2010/main" val="3900530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9D5CD2-52E2-40D2-B7CC-3AB3202F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AB425E-F4FF-42C4-80BF-D5151184A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pic>
        <p:nvPicPr>
          <p:cNvPr id="1026" name="Picture 2" descr="segmentation cartoon with good news segment and the caption &quot;...And now for our 'Good News' segment... which, due to current conditions, we've renamed 'Slightly Less Terrible News'.&quot; by Bill Whitehead">
            <a:extLst>
              <a:ext uri="{FF2B5EF4-FFF2-40B4-BE49-F238E27FC236}">
                <a16:creationId xmlns:a16="http://schemas.microsoft.com/office/drawing/2014/main" id="{4FB20C3D-88FD-49A8-8BFD-0546D16C1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700088"/>
            <a:ext cx="4762500" cy="545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4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8F26D-2069-4D23-A476-1083331F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838" y="1323325"/>
            <a:ext cx="9730323" cy="421134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Items for today: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Segmentation.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“Free Space Management”: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lengthy topic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so, we start today and end in the next lecture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Mighty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QUIZ.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A7DCD7-EF40-4B92-AC53-29AA66D5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48A1C-3E66-4E45-A054-44D8C3596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</p:spTree>
    <p:extLst>
      <p:ext uri="{BB962C8B-B14F-4D97-AF65-F5344CB8AC3E}">
        <p14:creationId xmlns:p14="http://schemas.microsoft.com/office/powerpoint/2010/main" val="1022576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B072D7-DA1A-4743-A07C-2846B8B6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>
                <a:solidFill>
                  <a:prstClr val="black"/>
                </a:solidFill>
                <a:ea typeface="맑은 고딕" panose="020B0503020000020004" pitchFamily="50" charset="-127"/>
              </a:rPr>
              <a:t>Virtual Memory</a:t>
            </a:r>
            <a:endParaRPr lang="ko-KR" altLang="en-US" sz="2400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C8DA649A-B0C0-4CAE-88E4-110B43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4</a:t>
            </a:fld>
            <a:endParaRPr lang="en-US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7C8929C2-A290-4614-A329-CDE76AEF3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78001733-5074-48E5-B061-719C432D8DAA}"/>
              </a:ext>
            </a:extLst>
          </p:cNvPr>
          <p:cNvSpPr txBox="1">
            <a:spLocks/>
          </p:cNvSpPr>
          <p:nvPr/>
        </p:nvSpPr>
        <p:spPr>
          <a:xfrm>
            <a:off x="3594838" y="1216083"/>
            <a:ext cx="7772399" cy="4856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/>
              <a:t>Virtual memory comprises </a:t>
            </a:r>
            <a:r>
              <a:rPr lang="en-US" altLang="ko-KR" sz="1600" b="1" dirty="0">
                <a:solidFill>
                  <a:srgbClr val="FF0000"/>
                </a:solidFill>
              </a:rPr>
              <a:t>three segments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400" dirty="0"/>
              <a:t>Code.</a:t>
            </a:r>
          </a:p>
          <a:p>
            <a:pPr lvl="1"/>
            <a:r>
              <a:rPr lang="en-US" altLang="ko-KR" sz="1400" dirty="0"/>
              <a:t>Heap.</a:t>
            </a:r>
          </a:p>
          <a:p>
            <a:pPr lvl="1"/>
            <a:r>
              <a:rPr lang="en-US" altLang="ko-KR" sz="1400" dirty="0"/>
              <a:t>Stack.</a:t>
            </a:r>
          </a:p>
          <a:p>
            <a:endParaRPr lang="en-US" altLang="ko-KR" sz="1600" dirty="0"/>
          </a:p>
          <a:p>
            <a:r>
              <a:rPr lang="en-US" altLang="ko-KR" sz="1600" dirty="0"/>
              <a:t>A segment is simply a </a:t>
            </a:r>
            <a:r>
              <a:rPr lang="en-US" altLang="ko-KR" sz="1600" b="1" dirty="0">
                <a:solidFill>
                  <a:srgbClr val="FF0000"/>
                </a:solidFill>
              </a:rPr>
              <a:t>contiguous portion of the address space</a:t>
            </a:r>
            <a:r>
              <a:rPr lang="en-US" altLang="ko-KR" sz="1600" dirty="0"/>
              <a:t> of a particular length.</a:t>
            </a:r>
          </a:p>
          <a:p>
            <a:endParaRPr lang="en-US" altLang="ko-KR" sz="1600" dirty="0"/>
          </a:p>
          <a:p>
            <a:r>
              <a:rPr lang="en-US" altLang="ko-KR" sz="1600" dirty="0"/>
              <a:t>You will also notice a </a:t>
            </a:r>
            <a:r>
              <a:rPr lang="en-US" altLang="ko-KR" sz="1600" b="1" dirty="0"/>
              <a:t>“</a:t>
            </a:r>
            <a:r>
              <a:rPr lang="en-US" altLang="ko-KR" sz="1600" b="1" dirty="0">
                <a:solidFill>
                  <a:srgbClr val="FF0000"/>
                </a:solidFill>
              </a:rPr>
              <a:t>big chunk of free</a:t>
            </a:r>
            <a:r>
              <a:rPr lang="en-US" altLang="ko-KR" sz="1600" b="1" dirty="0"/>
              <a:t>.”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This “free” is not an illusion, it does </a:t>
            </a:r>
            <a:r>
              <a:rPr lang="en-US" altLang="ko-KR" sz="1600" b="1" dirty="0">
                <a:solidFill>
                  <a:srgbClr val="FF0000"/>
                </a:solidFill>
              </a:rPr>
              <a:t>take up physical memory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Memory can not be allocated if the process demands more and less is available.</a:t>
            </a:r>
          </a:p>
          <a:p>
            <a:pPr lvl="1"/>
            <a:r>
              <a:rPr lang="en-US" altLang="ko-KR" sz="1400" dirty="0"/>
              <a:t>Question: You have 1 Panadol pill and 2 people with aches. What will you do? </a:t>
            </a:r>
            <a:r>
              <a:rPr lang="en-US" altLang="ko-KR" sz="1400" b="1" dirty="0">
                <a:solidFill>
                  <a:srgbClr val="FF0000"/>
                </a:solidFill>
              </a:rPr>
              <a:t>… Think …</a:t>
            </a:r>
          </a:p>
          <a:p>
            <a:endParaRPr lang="en-US" altLang="ko-KR" sz="1600" dirty="0"/>
          </a:p>
        </p:txBody>
      </p:sp>
      <p:grpSp>
        <p:nvGrpSpPr>
          <p:cNvPr id="31" name="그룹 39">
            <a:extLst>
              <a:ext uri="{FF2B5EF4-FFF2-40B4-BE49-F238E27FC236}">
                <a16:creationId xmlns:a16="http://schemas.microsoft.com/office/drawing/2014/main" id="{77C37988-8508-492A-9151-E1256FB9FEFD}"/>
              </a:ext>
            </a:extLst>
          </p:cNvPr>
          <p:cNvGrpSpPr/>
          <p:nvPr/>
        </p:nvGrpSpPr>
        <p:grpSpPr>
          <a:xfrm>
            <a:off x="989113" y="907881"/>
            <a:ext cx="2252567" cy="5441514"/>
            <a:chOff x="5436096" y="982383"/>
            <a:chExt cx="2252567" cy="5441514"/>
          </a:xfrm>
        </p:grpSpPr>
        <p:sp>
          <p:nvSpPr>
            <p:cNvPr id="32" name="직사각형 5">
              <a:extLst>
                <a:ext uri="{FF2B5EF4-FFF2-40B4-BE49-F238E27FC236}">
                  <a16:creationId xmlns:a16="http://schemas.microsoft.com/office/drawing/2014/main" id="{9B50AAD9-2A2B-4991-93D3-CC56E7743CC7}"/>
                </a:ext>
              </a:extLst>
            </p:cNvPr>
            <p:cNvSpPr/>
            <p:nvPr/>
          </p:nvSpPr>
          <p:spPr>
            <a:xfrm>
              <a:off x="6151062" y="2722306"/>
              <a:ext cx="1537306" cy="298658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33" name="직선 화살표 연결선 7">
              <a:extLst>
                <a:ext uri="{FF2B5EF4-FFF2-40B4-BE49-F238E27FC236}">
                  <a16:creationId xmlns:a16="http://schemas.microsoft.com/office/drawing/2014/main" id="{032CC7D8-ABC2-430C-9B86-0DA7FCB5F5E5}"/>
                </a:ext>
              </a:extLst>
            </p:cNvPr>
            <p:cNvCxnSpPr>
              <a:stCxn id="43" idx="0"/>
            </p:cNvCxnSpPr>
            <p:nvPr/>
          </p:nvCxnSpPr>
          <p:spPr>
            <a:xfrm flipH="1" flipV="1">
              <a:off x="6919539" y="5149025"/>
              <a:ext cx="162" cy="5598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8">
              <a:extLst>
                <a:ext uri="{FF2B5EF4-FFF2-40B4-BE49-F238E27FC236}">
                  <a16:creationId xmlns:a16="http://schemas.microsoft.com/office/drawing/2014/main" id="{59F1D8AE-F510-4EE8-A7E9-447105A7BC7F}"/>
                </a:ext>
              </a:extLst>
            </p:cNvPr>
            <p:cNvCxnSpPr>
              <a:stCxn id="42" idx="2"/>
            </p:cNvCxnSpPr>
            <p:nvPr/>
          </p:nvCxnSpPr>
          <p:spPr>
            <a:xfrm>
              <a:off x="6919863" y="2724836"/>
              <a:ext cx="0" cy="4825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CBB48EF-A633-4A54-93E2-3989E23523F1}"/>
                </a:ext>
              </a:extLst>
            </p:cNvPr>
            <p:cNvSpPr txBox="1"/>
            <p:nvPr/>
          </p:nvSpPr>
          <p:spPr>
            <a:xfrm>
              <a:off x="5450147" y="556316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직사각형 13">
              <a:extLst>
                <a:ext uri="{FF2B5EF4-FFF2-40B4-BE49-F238E27FC236}">
                  <a16:creationId xmlns:a16="http://schemas.microsoft.com/office/drawing/2014/main" id="{5DEF6F01-B18E-4D33-A70C-8E9D7294A541}"/>
                </a:ext>
              </a:extLst>
            </p:cNvPr>
            <p:cNvSpPr/>
            <p:nvPr/>
          </p:nvSpPr>
          <p:spPr>
            <a:xfrm>
              <a:off x="6151062" y="1075847"/>
              <a:ext cx="1537601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DF3C276-53EB-4516-BEF2-4FF344BC4464}"/>
                </a:ext>
              </a:extLst>
            </p:cNvPr>
            <p:cNvSpPr txBox="1"/>
            <p:nvPr/>
          </p:nvSpPr>
          <p:spPr>
            <a:xfrm>
              <a:off x="5450147" y="6116120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A29DFA8-D1D0-4A2B-A12E-EC0BA098F247}"/>
                </a:ext>
              </a:extLst>
            </p:cNvPr>
            <p:cNvSpPr txBox="1"/>
            <p:nvPr/>
          </p:nvSpPr>
          <p:spPr>
            <a:xfrm>
              <a:off x="5528423" y="982383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8EF1E77-9633-46B1-A27A-740EE84BE877}"/>
                </a:ext>
              </a:extLst>
            </p:cNvPr>
            <p:cNvSpPr txBox="1"/>
            <p:nvPr/>
          </p:nvSpPr>
          <p:spPr>
            <a:xfrm>
              <a:off x="5528423" y="1452229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C0D49A7-6CCF-426B-8091-C01C6C2ECD14}"/>
                </a:ext>
              </a:extLst>
            </p:cNvPr>
            <p:cNvSpPr txBox="1"/>
            <p:nvPr/>
          </p:nvSpPr>
          <p:spPr>
            <a:xfrm>
              <a:off x="5528423" y="2017995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1" name="직사각형 23">
              <a:extLst>
                <a:ext uri="{FF2B5EF4-FFF2-40B4-BE49-F238E27FC236}">
                  <a16:creationId xmlns:a16="http://schemas.microsoft.com/office/drawing/2014/main" id="{C73161B4-D41D-4243-AA36-EB1493C3B35E}"/>
                </a:ext>
              </a:extLst>
            </p:cNvPr>
            <p:cNvSpPr/>
            <p:nvPr/>
          </p:nvSpPr>
          <p:spPr>
            <a:xfrm>
              <a:off x="6151062" y="1618931"/>
              <a:ext cx="1537601" cy="55295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24">
              <a:extLst>
                <a:ext uri="{FF2B5EF4-FFF2-40B4-BE49-F238E27FC236}">
                  <a16:creationId xmlns:a16="http://schemas.microsoft.com/office/drawing/2014/main" id="{7A86D5C1-DF13-4607-B290-D7F471FBE14E}"/>
                </a:ext>
              </a:extLst>
            </p:cNvPr>
            <p:cNvSpPr/>
            <p:nvPr/>
          </p:nvSpPr>
          <p:spPr>
            <a:xfrm>
              <a:off x="6151062" y="2171883"/>
              <a:ext cx="1537601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43" name="직사각형 26">
              <a:extLst>
                <a:ext uri="{FF2B5EF4-FFF2-40B4-BE49-F238E27FC236}">
                  <a16:creationId xmlns:a16="http://schemas.microsoft.com/office/drawing/2014/main" id="{7879716C-C4C4-4314-91DF-EF9909BC2461}"/>
                </a:ext>
              </a:extLst>
            </p:cNvPr>
            <p:cNvSpPr/>
            <p:nvPr/>
          </p:nvSpPr>
          <p:spPr>
            <a:xfrm>
              <a:off x="6151062" y="5708889"/>
              <a:ext cx="1537277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0ED57B2-60F9-4198-A67E-8BE89992BE7D}"/>
                </a:ext>
              </a:extLst>
            </p:cNvPr>
            <p:cNvSpPr txBox="1"/>
            <p:nvPr/>
          </p:nvSpPr>
          <p:spPr>
            <a:xfrm>
              <a:off x="5528423" y="2576584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154BBD2-4DCD-4AB0-B0E5-0B07E0B12603}"/>
                </a:ext>
              </a:extLst>
            </p:cNvPr>
            <p:cNvSpPr txBox="1"/>
            <p:nvPr/>
          </p:nvSpPr>
          <p:spPr>
            <a:xfrm>
              <a:off x="5436096" y="5839643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DDFDB2E-7190-438D-89A8-6D70ADF91CD7}"/>
                </a:ext>
              </a:extLst>
            </p:cNvPr>
            <p:cNvSpPr txBox="1"/>
            <p:nvPr/>
          </p:nvSpPr>
          <p:spPr>
            <a:xfrm>
              <a:off x="5528423" y="2300107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9BBB27-FDF1-427F-950F-046E1E1EBBEE}"/>
                </a:ext>
              </a:extLst>
            </p:cNvPr>
            <p:cNvSpPr txBox="1"/>
            <p:nvPr/>
          </p:nvSpPr>
          <p:spPr>
            <a:xfrm>
              <a:off x="5528423" y="1741518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79F48CA-5917-478D-84E4-B2909636184F}"/>
                </a:ext>
              </a:extLst>
            </p:cNvPr>
            <p:cNvSpPr txBox="1"/>
            <p:nvPr/>
          </p:nvSpPr>
          <p:spPr>
            <a:xfrm>
              <a:off x="5528423" y="1198434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678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B072D7-DA1A-4743-A07C-2846B8B6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>
                <a:solidFill>
                  <a:prstClr val="black"/>
                </a:solidFill>
                <a:ea typeface="맑은 고딕" panose="020B0503020000020004" pitchFamily="50" charset="-127"/>
              </a:rPr>
              <a:t>Virtual Memory</a:t>
            </a:r>
            <a:endParaRPr lang="ko-KR" altLang="en-US" sz="2400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C8DA649A-B0C0-4CAE-88E4-110B43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5</a:t>
            </a:fld>
            <a:endParaRPr lang="en-US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7C8929C2-A290-4614-A329-CDE76AEF3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78001733-5074-48E5-B061-719C432D8DAA}"/>
              </a:ext>
            </a:extLst>
          </p:cNvPr>
          <p:cNvSpPr txBox="1">
            <a:spLocks/>
          </p:cNvSpPr>
          <p:nvPr/>
        </p:nvSpPr>
        <p:spPr>
          <a:xfrm>
            <a:off x="3594838" y="1216083"/>
            <a:ext cx="7772399" cy="4856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/>
              <a:t>This implementation requires a pair of </a:t>
            </a:r>
            <a:r>
              <a:rPr lang="en-US" altLang="ko-KR" sz="1600" b="1" dirty="0">
                <a:solidFill>
                  <a:srgbClr val="FF0000"/>
                </a:solidFill>
              </a:rPr>
              <a:t>base</a:t>
            </a:r>
            <a:r>
              <a:rPr lang="en-US" altLang="ko-KR" sz="1600" dirty="0"/>
              <a:t> and </a:t>
            </a:r>
            <a:r>
              <a:rPr lang="en-US" altLang="ko-KR" sz="1600" b="1" dirty="0">
                <a:solidFill>
                  <a:srgbClr val="FF0000"/>
                </a:solidFill>
              </a:rPr>
              <a:t>bound</a:t>
            </a:r>
            <a:r>
              <a:rPr lang="en-US" altLang="ko-KR" sz="1600" dirty="0"/>
              <a:t> for address translation.</a:t>
            </a:r>
          </a:p>
          <a:p>
            <a:endParaRPr lang="en-US" altLang="ko-KR" sz="1600" dirty="0"/>
          </a:p>
          <a:p>
            <a:r>
              <a:rPr lang="en-US" altLang="ko-KR" sz="1600" dirty="0"/>
              <a:t>Each process requires three fundamental entities:</a:t>
            </a:r>
          </a:p>
          <a:p>
            <a:pPr lvl="1"/>
            <a:r>
              <a:rPr lang="en-US" altLang="ko-KR" sz="1400" dirty="0"/>
              <a:t>Code: (1) Program Counter </a:t>
            </a:r>
          </a:p>
          <a:p>
            <a:pPr lvl="1"/>
            <a:r>
              <a:rPr lang="en-US" altLang="ko-KR" sz="1400" dirty="0"/>
              <a:t>Memory: (2) Base and the (3) Bounds register</a:t>
            </a:r>
          </a:p>
          <a:p>
            <a:pPr lvl="1"/>
            <a:endParaRPr lang="en-US" altLang="ko-KR" sz="1400" dirty="0"/>
          </a:p>
          <a:p>
            <a:r>
              <a:rPr lang="en-US" altLang="ko-KR" sz="1600" dirty="0"/>
              <a:t>Again, a lot of space is </a:t>
            </a:r>
            <a:r>
              <a:rPr lang="en-US" altLang="ko-KR" sz="1600" b="1" dirty="0">
                <a:solidFill>
                  <a:srgbClr val="FF0000"/>
                </a:solidFill>
              </a:rPr>
              <a:t>wasted</a:t>
            </a:r>
            <a:r>
              <a:rPr lang="en-US" altLang="ko-KR" sz="1600" dirty="0"/>
              <a:t> as free space … so let’s do </a:t>
            </a:r>
            <a:r>
              <a:rPr lang="en-US" altLang="ko-KR" sz="1600" b="1" dirty="0">
                <a:solidFill>
                  <a:srgbClr val="FF0000"/>
                </a:solidFill>
              </a:rPr>
              <a:t>Segmentation</a:t>
            </a:r>
            <a:r>
              <a:rPr lang="en-US" altLang="ko-KR" sz="1600" dirty="0"/>
              <a:t>. </a:t>
            </a:r>
          </a:p>
          <a:p>
            <a:pPr marL="0" indent="0">
              <a:buNone/>
            </a:pPr>
            <a:r>
              <a:rPr lang="en-US" altLang="ko-KR" sz="1800" dirty="0"/>
              <a:t> </a:t>
            </a:r>
          </a:p>
        </p:txBody>
      </p:sp>
      <p:grpSp>
        <p:nvGrpSpPr>
          <p:cNvPr id="31" name="그룹 39">
            <a:extLst>
              <a:ext uri="{FF2B5EF4-FFF2-40B4-BE49-F238E27FC236}">
                <a16:creationId xmlns:a16="http://schemas.microsoft.com/office/drawing/2014/main" id="{77C37988-8508-492A-9151-E1256FB9FEFD}"/>
              </a:ext>
            </a:extLst>
          </p:cNvPr>
          <p:cNvGrpSpPr/>
          <p:nvPr/>
        </p:nvGrpSpPr>
        <p:grpSpPr>
          <a:xfrm>
            <a:off x="989113" y="907881"/>
            <a:ext cx="2252567" cy="5441514"/>
            <a:chOff x="5436096" y="982383"/>
            <a:chExt cx="2252567" cy="5441514"/>
          </a:xfrm>
        </p:grpSpPr>
        <p:sp>
          <p:nvSpPr>
            <p:cNvPr id="32" name="직사각형 5">
              <a:extLst>
                <a:ext uri="{FF2B5EF4-FFF2-40B4-BE49-F238E27FC236}">
                  <a16:creationId xmlns:a16="http://schemas.microsoft.com/office/drawing/2014/main" id="{9B50AAD9-2A2B-4991-93D3-CC56E7743CC7}"/>
                </a:ext>
              </a:extLst>
            </p:cNvPr>
            <p:cNvSpPr/>
            <p:nvPr/>
          </p:nvSpPr>
          <p:spPr>
            <a:xfrm>
              <a:off x="6151062" y="2722306"/>
              <a:ext cx="1537306" cy="298658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33" name="직선 화살표 연결선 7">
              <a:extLst>
                <a:ext uri="{FF2B5EF4-FFF2-40B4-BE49-F238E27FC236}">
                  <a16:creationId xmlns:a16="http://schemas.microsoft.com/office/drawing/2014/main" id="{032CC7D8-ABC2-430C-9B86-0DA7FCB5F5E5}"/>
                </a:ext>
              </a:extLst>
            </p:cNvPr>
            <p:cNvCxnSpPr>
              <a:stCxn id="43" idx="0"/>
            </p:cNvCxnSpPr>
            <p:nvPr/>
          </p:nvCxnSpPr>
          <p:spPr>
            <a:xfrm flipH="1" flipV="1">
              <a:off x="6919539" y="5149025"/>
              <a:ext cx="162" cy="5598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8">
              <a:extLst>
                <a:ext uri="{FF2B5EF4-FFF2-40B4-BE49-F238E27FC236}">
                  <a16:creationId xmlns:a16="http://schemas.microsoft.com/office/drawing/2014/main" id="{59F1D8AE-F510-4EE8-A7E9-447105A7BC7F}"/>
                </a:ext>
              </a:extLst>
            </p:cNvPr>
            <p:cNvCxnSpPr>
              <a:stCxn id="42" idx="2"/>
            </p:cNvCxnSpPr>
            <p:nvPr/>
          </p:nvCxnSpPr>
          <p:spPr>
            <a:xfrm>
              <a:off x="6919863" y="2724836"/>
              <a:ext cx="0" cy="4825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CBB48EF-A633-4A54-93E2-3989E23523F1}"/>
                </a:ext>
              </a:extLst>
            </p:cNvPr>
            <p:cNvSpPr txBox="1"/>
            <p:nvPr/>
          </p:nvSpPr>
          <p:spPr>
            <a:xfrm>
              <a:off x="5450147" y="556316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직사각형 13">
              <a:extLst>
                <a:ext uri="{FF2B5EF4-FFF2-40B4-BE49-F238E27FC236}">
                  <a16:creationId xmlns:a16="http://schemas.microsoft.com/office/drawing/2014/main" id="{5DEF6F01-B18E-4D33-A70C-8E9D7294A541}"/>
                </a:ext>
              </a:extLst>
            </p:cNvPr>
            <p:cNvSpPr/>
            <p:nvPr/>
          </p:nvSpPr>
          <p:spPr>
            <a:xfrm>
              <a:off x="6151062" y="1075847"/>
              <a:ext cx="1537601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DF3C276-53EB-4516-BEF2-4FF344BC4464}"/>
                </a:ext>
              </a:extLst>
            </p:cNvPr>
            <p:cNvSpPr txBox="1"/>
            <p:nvPr/>
          </p:nvSpPr>
          <p:spPr>
            <a:xfrm>
              <a:off x="5450147" y="6116120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A29DFA8-D1D0-4A2B-A12E-EC0BA098F247}"/>
                </a:ext>
              </a:extLst>
            </p:cNvPr>
            <p:cNvSpPr txBox="1"/>
            <p:nvPr/>
          </p:nvSpPr>
          <p:spPr>
            <a:xfrm>
              <a:off x="5528423" y="982383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8EF1E77-9633-46B1-A27A-740EE84BE877}"/>
                </a:ext>
              </a:extLst>
            </p:cNvPr>
            <p:cNvSpPr txBox="1"/>
            <p:nvPr/>
          </p:nvSpPr>
          <p:spPr>
            <a:xfrm>
              <a:off x="5528423" y="1452229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C0D49A7-6CCF-426B-8091-C01C6C2ECD14}"/>
                </a:ext>
              </a:extLst>
            </p:cNvPr>
            <p:cNvSpPr txBox="1"/>
            <p:nvPr/>
          </p:nvSpPr>
          <p:spPr>
            <a:xfrm>
              <a:off x="5528423" y="2017995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1" name="직사각형 23">
              <a:extLst>
                <a:ext uri="{FF2B5EF4-FFF2-40B4-BE49-F238E27FC236}">
                  <a16:creationId xmlns:a16="http://schemas.microsoft.com/office/drawing/2014/main" id="{C73161B4-D41D-4243-AA36-EB1493C3B35E}"/>
                </a:ext>
              </a:extLst>
            </p:cNvPr>
            <p:cNvSpPr/>
            <p:nvPr/>
          </p:nvSpPr>
          <p:spPr>
            <a:xfrm>
              <a:off x="6151062" y="1618931"/>
              <a:ext cx="1537601" cy="55295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직사각형 24">
              <a:extLst>
                <a:ext uri="{FF2B5EF4-FFF2-40B4-BE49-F238E27FC236}">
                  <a16:creationId xmlns:a16="http://schemas.microsoft.com/office/drawing/2014/main" id="{7A86D5C1-DF13-4607-B290-D7F471FBE14E}"/>
                </a:ext>
              </a:extLst>
            </p:cNvPr>
            <p:cNvSpPr/>
            <p:nvPr/>
          </p:nvSpPr>
          <p:spPr>
            <a:xfrm>
              <a:off x="6151062" y="2171883"/>
              <a:ext cx="1537601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43" name="직사각형 26">
              <a:extLst>
                <a:ext uri="{FF2B5EF4-FFF2-40B4-BE49-F238E27FC236}">
                  <a16:creationId xmlns:a16="http://schemas.microsoft.com/office/drawing/2014/main" id="{7879716C-C4C4-4314-91DF-EF9909BC2461}"/>
                </a:ext>
              </a:extLst>
            </p:cNvPr>
            <p:cNvSpPr/>
            <p:nvPr/>
          </p:nvSpPr>
          <p:spPr>
            <a:xfrm>
              <a:off x="6151062" y="5708889"/>
              <a:ext cx="1537277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0ED57B2-60F9-4198-A67E-8BE89992BE7D}"/>
                </a:ext>
              </a:extLst>
            </p:cNvPr>
            <p:cNvSpPr txBox="1"/>
            <p:nvPr/>
          </p:nvSpPr>
          <p:spPr>
            <a:xfrm>
              <a:off x="5528423" y="2576584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154BBD2-4DCD-4AB0-B0E5-0B07E0B12603}"/>
                </a:ext>
              </a:extLst>
            </p:cNvPr>
            <p:cNvSpPr txBox="1"/>
            <p:nvPr/>
          </p:nvSpPr>
          <p:spPr>
            <a:xfrm>
              <a:off x="5436096" y="5839643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DDFDB2E-7190-438D-89A8-6D70ADF91CD7}"/>
                </a:ext>
              </a:extLst>
            </p:cNvPr>
            <p:cNvSpPr txBox="1"/>
            <p:nvPr/>
          </p:nvSpPr>
          <p:spPr>
            <a:xfrm>
              <a:off x="5528423" y="2300107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9BBB27-FDF1-427F-950F-046E1E1EBBEE}"/>
                </a:ext>
              </a:extLst>
            </p:cNvPr>
            <p:cNvSpPr txBox="1"/>
            <p:nvPr/>
          </p:nvSpPr>
          <p:spPr>
            <a:xfrm>
              <a:off x="5528423" y="1741518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79F48CA-5917-478D-84E4-B2909636184F}"/>
                </a:ext>
              </a:extLst>
            </p:cNvPr>
            <p:cNvSpPr txBox="1"/>
            <p:nvPr/>
          </p:nvSpPr>
          <p:spPr>
            <a:xfrm>
              <a:off x="5528423" y="1198434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E075DA90-EA0C-452C-BE46-14F2154E2E8A}"/>
              </a:ext>
            </a:extLst>
          </p:cNvPr>
          <p:cNvSpPr txBox="1"/>
          <p:nvPr/>
        </p:nvSpPr>
        <p:spPr>
          <a:xfrm>
            <a:off x="325315" y="832238"/>
            <a:ext cx="75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Base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DD3CCB-F843-4188-B22F-A63BAC4E9B86}"/>
              </a:ext>
            </a:extLst>
          </p:cNvPr>
          <p:cNvSpPr txBox="1"/>
          <p:nvPr/>
        </p:nvSpPr>
        <p:spPr>
          <a:xfrm>
            <a:off x="237393" y="6002674"/>
            <a:ext cx="84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Bound</a:t>
            </a:r>
          </a:p>
        </p:txBody>
      </p:sp>
    </p:spTree>
    <p:extLst>
      <p:ext uri="{BB962C8B-B14F-4D97-AF65-F5344CB8AC3E}">
        <p14:creationId xmlns:p14="http://schemas.microsoft.com/office/powerpoint/2010/main" val="1136944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B072D7-DA1A-4743-A07C-2846B8B6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>
                <a:solidFill>
                  <a:prstClr val="black"/>
                </a:solidFill>
                <a:ea typeface="맑은 고딕" panose="020B0503020000020004" pitchFamily="50" charset="-127"/>
              </a:rPr>
              <a:t>Segmentation</a:t>
            </a:r>
            <a:endParaRPr lang="ko-KR" altLang="en-US" sz="2400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88DDE7-B6A1-4DB5-896B-A04DBD89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6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7C6A4830-1E44-42FD-AFA2-E75FA6C3F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DCCB69-7D22-4A31-A717-89969B161010}"/>
              </a:ext>
            </a:extLst>
          </p:cNvPr>
          <p:cNvSpPr txBox="1"/>
          <p:nvPr/>
        </p:nvSpPr>
        <p:spPr>
          <a:xfrm>
            <a:off x="2093516" y="145355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91265B-7A18-4435-A6F8-764587BE7F11}"/>
              </a:ext>
            </a:extLst>
          </p:cNvPr>
          <p:cNvSpPr txBox="1"/>
          <p:nvPr/>
        </p:nvSpPr>
        <p:spPr>
          <a:xfrm>
            <a:off x="2093523" y="234086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4EEB44-DB5E-40DE-8A97-6EB63262E943}"/>
              </a:ext>
            </a:extLst>
          </p:cNvPr>
          <p:cNvSpPr txBox="1"/>
          <p:nvPr/>
        </p:nvSpPr>
        <p:spPr>
          <a:xfrm>
            <a:off x="2051720" y="334738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ADE6E8-AE8E-4784-8747-2A99617199F3}"/>
              </a:ext>
            </a:extLst>
          </p:cNvPr>
          <p:cNvSpPr txBox="1"/>
          <p:nvPr/>
        </p:nvSpPr>
        <p:spPr>
          <a:xfrm>
            <a:off x="2089836" y="433597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30FE2A-CD42-4B71-B464-1C0273553383}"/>
              </a:ext>
            </a:extLst>
          </p:cNvPr>
          <p:cNvSpPr txBox="1"/>
          <p:nvPr/>
        </p:nvSpPr>
        <p:spPr>
          <a:xfrm>
            <a:off x="2089836" y="520519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10">
            <a:extLst>
              <a:ext uri="{FF2B5EF4-FFF2-40B4-BE49-F238E27FC236}">
                <a16:creationId xmlns:a16="http://schemas.microsoft.com/office/drawing/2014/main" id="{DB948E45-A662-4223-B373-C0F65B370287}"/>
              </a:ext>
            </a:extLst>
          </p:cNvPr>
          <p:cNvSpPr/>
          <p:nvPr/>
        </p:nvSpPr>
        <p:spPr>
          <a:xfrm>
            <a:off x="2736463" y="3490030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BF2DE9-127C-4F0F-8CD5-A92BAB0B05C5}"/>
              </a:ext>
            </a:extLst>
          </p:cNvPr>
          <p:cNvSpPr txBox="1"/>
          <p:nvPr/>
        </p:nvSpPr>
        <p:spPr>
          <a:xfrm>
            <a:off x="2627784" y="5360540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14">
            <a:extLst>
              <a:ext uri="{FF2B5EF4-FFF2-40B4-BE49-F238E27FC236}">
                <a16:creationId xmlns:a16="http://schemas.microsoft.com/office/drawing/2014/main" id="{D5D114E5-45C1-44AB-AEFA-82A82CF8021D}"/>
              </a:ext>
            </a:extLst>
          </p:cNvPr>
          <p:cNvSpPr/>
          <p:nvPr/>
        </p:nvSpPr>
        <p:spPr>
          <a:xfrm>
            <a:off x="2736464" y="2514770"/>
            <a:ext cx="1681939" cy="4904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직사각형 15">
            <a:extLst>
              <a:ext uri="{FF2B5EF4-FFF2-40B4-BE49-F238E27FC236}">
                <a16:creationId xmlns:a16="http://schemas.microsoft.com/office/drawing/2014/main" id="{FA6D9ED4-5CD1-4F8A-8F1F-BA370603E4E2}"/>
              </a:ext>
            </a:extLst>
          </p:cNvPr>
          <p:cNvSpPr/>
          <p:nvPr/>
        </p:nvSpPr>
        <p:spPr>
          <a:xfrm>
            <a:off x="2736458" y="3843430"/>
            <a:ext cx="1681939" cy="1517110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39" name="직사각형 16">
            <a:extLst>
              <a:ext uri="{FF2B5EF4-FFF2-40B4-BE49-F238E27FC236}">
                <a16:creationId xmlns:a16="http://schemas.microsoft.com/office/drawing/2014/main" id="{D73BA907-3D8D-4948-A34C-38BBA440B108}"/>
              </a:ext>
            </a:extLst>
          </p:cNvPr>
          <p:cNvSpPr/>
          <p:nvPr/>
        </p:nvSpPr>
        <p:spPr>
          <a:xfrm>
            <a:off x="2736462" y="3664232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40" name="직사각형 17">
            <a:extLst>
              <a:ext uri="{FF2B5EF4-FFF2-40B4-BE49-F238E27FC236}">
                <a16:creationId xmlns:a16="http://schemas.microsoft.com/office/drawing/2014/main" id="{C3707776-2DF0-4C9C-8796-E06A7E2792D6}"/>
              </a:ext>
            </a:extLst>
          </p:cNvPr>
          <p:cNvSpPr/>
          <p:nvPr/>
        </p:nvSpPr>
        <p:spPr>
          <a:xfrm>
            <a:off x="2736463" y="3005225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sp>
        <p:nvSpPr>
          <p:cNvPr id="41" name="직사각형 18">
            <a:extLst>
              <a:ext uri="{FF2B5EF4-FFF2-40B4-BE49-F238E27FC236}">
                <a16:creationId xmlns:a16="http://schemas.microsoft.com/office/drawing/2014/main" id="{7D233121-FD39-440F-93A2-2B3F89E040DE}"/>
              </a:ext>
            </a:extLst>
          </p:cNvPr>
          <p:cNvSpPr/>
          <p:nvPr/>
        </p:nvSpPr>
        <p:spPr>
          <a:xfrm>
            <a:off x="2736465" y="1533859"/>
            <a:ext cx="1681939" cy="9809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cxnSp>
        <p:nvCxnSpPr>
          <p:cNvPr id="42" name="직선 화살표 연결선 19">
            <a:extLst>
              <a:ext uri="{FF2B5EF4-FFF2-40B4-BE49-F238E27FC236}">
                <a16:creationId xmlns:a16="http://schemas.microsoft.com/office/drawing/2014/main" id="{FE2F4F18-F7AE-4877-9262-05D0711DC7F8}"/>
              </a:ext>
            </a:extLst>
          </p:cNvPr>
          <p:cNvCxnSpPr>
            <a:stCxn id="40" idx="0"/>
          </p:cNvCxnSpPr>
          <p:nvPr/>
        </p:nvCxnSpPr>
        <p:spPr>
          <a:xfrm flipH="1" flipV="1">
            <a:off x="3577427" y="2801225"/>
            <a:ext cx="6" cy="20400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20">
            <a:extLst>
              <a:ext uri="{FF2B5EF4-FFF2-40B4-BE49-F238E27FC236}">
                <a16:creationId xmlns:a16="http://schemas.microsoft.com/office/drawing/2014/main" id="{B298AB1D-451C-442E-83B2-4F96EEEE5986}"/>
              </a:ext>
            </a:extLst>
          </p:cNvPr>
          <p:cNvSpPr/>
          <p:nvPr/>
        </p:nvSpPr>
        <p:spPr>
          <a:xfrm>
            <a:off x="2736465" y="3175075"/>
            <a:ext cx="1681939" cy="32619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44" name="직선 화살표 연결선 12">
            <a:extLst>
              <a:ext uri="{FF2B5EF4-FFF2-40B4-BE49-F238E27FC236}">
                <a16:creationId xmlns:a16="http://schemas.microsoft.com/office/drawing/2014/main" id="{AF00C3CE-D18B-48CD-93BF-FCDE877FBC29}"/>
              </a:ext>
            </a:extLst>
          </p:cNvPr>
          <p:cNvCxnSpPr>
            <a:stCxn id="39" idx="2"/>
          </p:cNvCxnSpPr>
          <p:nvPr/>
        </p:nvCxnSpPr>
        <p:spPr>
          <a:xfrm flipH="1">
            <a:off x="3577427" y="3843430"/>
            <a:ext cx="5" cy="25393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8">
            <a:extLst>
              <a:ext uri="{FF2B5EF4-FFF2-40B4-BE49-F238E27FC236}">
                <a16:creationId xmlns:a16="http://schemas.microsoft.com/office/drawing/2014/main" id="{5AE3C610-B04B-40A6-9F6B-11C05655B56B}"/>
              </a:ext>
            </a:extLst>
          </p:cNvPr>
          <p:cNvGrpSpPr/>
          <p:nvPr/>
        </p:nvGrpSpPr>
        <p:grpSpPr>
          <a:xfrm>
            <a:off x="6885856" y="2648873"/>
            <a:ext cx="3096344" cy="1448496"/>
            <a:chOff x="1119210" y="1898889"/>
            <a:chExt cx="3096344" cy="1448496"/>
          </a:xfrm>
        </p:grpSpPr>
        <p:sp>
          <p:nvSpPr>
            <p:cNvPr id="46" name="직사각형 43">
              <a:extLst>
                <a:ext uri="{FF2B5EF4-FFF2-40B4-BE49-F238E27FC236}">
                  <a16:creationId xmlns:a16="http://schemas.microsoft.com/office/drawing/2014/main" id="{D4FAAD39-7870-4E76-A854-23BE52416CA5}"/>
                </a:ext>
              </a:extLst>
            </p:cNvPr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 Size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32K	 2K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	  34K	 2K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Stack	  28K	 2K</a:t>
              </a:r>
            </a:p>
          </p:txBody>
        </p:sp>
        <p:cxnSp>
          <p:nvCxnSpPr>
            <p:cNvPr id="47" name="직선 연결선 45">
              <a:extLst>
                <a:ext uri="{FF2B5EF4-FFF2-40B4-BE49-F238E27FC236}">
                  <a16:creationId xmlns:a16="http://schemas.microsoft.com/office/drawing/2014/main" id="{64B20833-5E83-44E0-885F-A2EC37428942}"/>
                </a:ext>
              </a:extLst>
            </p:cNvPr>
            <p:cNvCxnSpPr/>
            <p:nvPr/>
          </p:nvCxnSpPr>
          <p:spPr>
            <a:xfrm>
              <a:off x="1331640" y="2340865"/>
              <a:ext cx="2664296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7592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B072D7-DA1A-4743-A07C-2846B8B6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>
                <a:solidFill>
                  <a:prstClr val="black"/>
                </a:solidFill>
                <a:ea typeface="맑은 고딕" panose="020B0503020000020004" pitchFamily="50" charset="-127"/>
              </a:rPr>
              <a:t>Segmentation</a:t>
            </a:r>
            <a:endParaRPr lang="ko-KR" altLang="en-US" sz="2400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88DDE7-B6A1-4DB5-896B-A04DBD89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7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7C6A4830-1E44-42FD-AFA2-E75FA6C3F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DCCB69-7D22-4A31-A717-89969B161010}"/>
              </a:ext>
            </a:extLst>
          </p:cNvPr>
          <p:cNvSpPr txBox="1"/>
          <p:nvPr/>
        </p:nvSpPr>
        <p:spPr>
          <a:xfrm>
            <a:off x="2093516" y="145355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91265B-7A18-4435-A6F8-764587BE7F11}"/>
              </a:ext>
            </a:extLst>
          </p:cNvPr>
          <p:cNvSpPr txBox="1"/>
          <p:nvPr/>
        </p:nvSpPr>
        <p:spPr>
          <a:xfrm>
            <a:off x="2093523" y="234086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4EEB44-DB5E-40DE-8A97-6EB63262E943}"/>
              </a:ext>
            </a:extLst>
          </p:cNvPr>
          <p:cNvSpPr txBox="1"/>
          <p:nvPr/>
        </p:nvSpPr>
        <p:spPr>
          <a:xfrm>
            <a:off x="2051720" y="334738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ADE6E8-AE8E-4784-8747-2A99617199F3}"/>
              </a:ext>
            </a:extLst>
          </p:cNvPr>
          <p:cNvSpPr txBox="1"/>
          <p:nvPr/>
        </p:nvSpPr>
        <p:spPr>
          <a:xfrm>
            <a:off x="2089836" y="433597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30FE2A-CD42-4B71-B464-1C0273553383}"/>
              </a:ext>
            </a:extLst>
          </p:cNvPr>
          <p:cNvSpPr txBox="1"/>
          <p:nvPr/>
        </p:nvSpPr>
        <p:spPr>
          <a:xfrm>
            <a:off x="2089836" y="520519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10">
            <a:extLst>
              <a:ext uri="{FF2B5EF4-FFF2-40B4-BE49-F238E27FC236}">
                <a16:creationId xmlns:a16="http://schemas.microsoft.com/office/drawing/2014/main" id="{DB948E45-A662-4223-B373-C0F65B370287}"/>
              </a:ext>
            </a:extLst>
          </p:cNvPr>
          <p:cNvSpPr/>
          <p:nvPr/>
        </p:nvSpPr>
        <p:spPr>
          <a:xfrm>
            <a:off x="2736463" y="3490030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BF2DE9-127C-4F0F-8CD5-A92BAB0B05C5}"/>
              </a:ext>
            </a:extLst>
          </p:cNvPr>
          <p:cNvSpPr txBox="1"/>
          <p:nvPr/>
        </p:nvSpPr>
        <p:spPr>
          <a:xfrm>
            <a:off x="2627784" y="5360540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14">
            <a:extLst>
              <a:ext uri="{FF2B5EF4-FFF2-40B4-BE49-F238E27FC236}">
                <a16:creationId xmlns:a16="http://schemas.microsoft.com/office/drawing/2014/main" id="{D5D114E5-45C1-44AB-AEFA-82A82CF8021D}"/>
              </a:ext>
            </a:extLst>
          </p:cNvPr>
          <p:cNvSpPr/>
          <p:nvPr/>
        </p:nvSpPr>
        <p:spPr>
          <a:xfrm>
            <a:off x="2736464" y="2514770"/>
            <a:ext cx="1681939" cy="4904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직사각형 15">
            <a:extLst>
              <a:ext uri="{FF2B5EF4-FFF2-40B4-BE49-F238E27FC236}">
                <a16:creationId xmlns:a16="http://schemas.microsoft.com/office/drawing/2014/main" id="{FA6D9ED4-5CD1-4F8A-8F1F-BA370603E4E2}"/>
              </a:ext>
            </a:extLst>
          </p:cNvPr>
          <p:cNvSpPr/>
          <p:nvPr/>
        </p:nvSpPr>
        <p:spPr>
          <a:xfrm>
            <a:off x="2736458" y="3843430"/>
            <a:ext cx="1681939" cy="1517110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39" name="직사각형 16">
            <a:extLst>
              <a:ext uri="{FF2B5EF4-FFF2-40B4-BE49-F238E27FC236}">
                <a16:creationId xmlns:a16="http://schemas.microsoft.com/office/drawing/2014/main" id="{D73BA907-3D8D-4948-A34C-38BBA440B108}"/>
              </a:ext>
            </a:extLst>
          </p:cNvPr>
          <p:cNvSpPr/>
          <p:nvPr/>
        </p:nvSpPr>
        <p:spPr>
          <a:xfrm>
            <a:off x="2736462" y="3664232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40" name="직사각형 17">
            <a:extLst>
              <a:ext uri="{FF2B5EF4-FFF2-40B4-BE49-F238E27FC236}">
                <a16:creationId xmlns:a16="http://schemas.microsoft.com/office/drawing/2014/main" id="{C3707776-2DF0-4C9C-8796-E06A7E2792D6}"/>
              </a:ext>
            </a:extLst>
          </p:cNvPr>
          <p:cNvSpPr/>
          <p:nvPr/>
        </p:nvSpPr>
        <p:spPr>
          <a:xfrm>
            <a:off x="2736463" y="3005225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sp>
        <p:nvSpPr>
          <p:cNvPr id="41" name="직사각형 18">
            <a:extLst>
              <a:ext uri="{FF2B5EF4-FFF2-40B4-BE49-F238E27FC236}">
                <a16:creationId xmlns:a16="http://schemas.microsoft.com/office/drawing/2014/main" id="{7D233121-FD39-440F-93A2-2B3F89E040DE}"/>
              </a:ext>
            </a:extLst>
          </p:cNvPr>
          <p:cNvSpPr/>
          <p:nvPr/>
        </p:nvSpPr>
        <p:spPr>
          <a:xfrm>
            <a:off x="2736465" y="1533859"/>
            <a:ext cx="1681939" cy="9809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cxnSp>
        <p:nvCxnSpPr>
          <p:cNvPr id="42" name="직선 화살표 연결선 19">
            <a:extLst>
              <a:ext uri="{FF2B5EF4-FFF2-40B4-BE49-F238E27FC236}">
                <a16:creationId xmlns:a16="http://schemas.microsoft.com/office/drawing/2014/main" id="{FE2F4F18-F7AE-4877-9262-05D0711DC7F8}"/>
              </a:ext>
            </a:extLst>
          </p:cNvPr>
          <p:cNvCxnSpPr>
            <a:stCxn id="40" idx="0"/>
          </p:cNvCxnSpPr>
          <p:nvPr/>
        </p:nvCxnSpPr>
        <p:spPr>
          <a:xfrm flipH="1" flipV="1">
            <a:off x="3577427" y="2801225"/>
            <a:ext cx="6" cy="20400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20">
            <a:extLst>
              <a:ext uri="{FF2B5EF4-FFF2-40B4-BE49-F238E27FC236}">
                <a16:creationId xmlns:a16="http://schemas.microsoft.com/office/drawing/2014/main" id="{B298AB1D-451C-442E-83B2-4F96EEEE5986}"/>
              </a:ext>
            </a:extLst>
          </p:cNvPr>
          <p:cNvSpPr/>
          <p:nvPr/>
        </p:nvSpPr>
        <p:spPr>
          <a:xfrm>
            <a:off x="2736465" y="3175075"/>
            <a:ext cx="1681939" cy="32619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44" name="직선 화살표 연결선 12">
            <a:extLst>
              <a:ext uri="{FF2B5EF4-FFF2-40B4-BE49-F238E27FC236}">
                <a16:creationId xmlns:a16="http://schemas.microsoft.com/office/drawing/2014/main" id="{AF00C3CE-D18B-48CD-93BF-FCDE877FBC29}"/>
              </a:ext>
            </a:extLst>
          </p:cNvPr>
          <p:cNvCxnSpPr>
            <a:stCxn id="39" idx="2"/>
          </p:cNvCxnSpPr>
          <p:nvPr/>
        </p:nvCxnSpPr>
        <p:spPr>
          <a:xfrm flipH="1">
            <a:off x="3577427" y="3843430"/>
            <a:ext cx="5" cy="25393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8">
            <a:extLst>
              <a:ext uri="{FF2B5EF4-FFF2-40B4-BE49-F238E27FC236}">
                <a16:creationId xmlns:a16="http://schemas.microsoft.com/office/drawing/2014/main" id="{5AE3C610-B04B-40A6-9F6B-11C05655B56B}"/>
              </a:ext>
            </a:extLst>
          </p:cNvPr>
          <p:cNvGrpSpPr/>
          <p:nvPr/>
        </p:nvGrpSpPr>
        <p:grpSpPr>
          <a:xfrm>
            <a:off x="6885856" y="2648873"/>
            <a:ext cx="3096344" cy="1448496"/>
            <a:chOff x="1119210" y="1898889"/>
            <a:chExt cx="3096344" cy="1448496"/>
          </a:xfrm>
        </p:grpSpPr>
        <p:sp>
          <p:nvSpPr>
            <p:cNvPr id="46" name="직사각형 43">
              <a:extLst>
                <a:ext uri="{FF2B5EF4-FFF2-40B4-BE49-F238E27FC236}">
                  <a16:creationId xmlns:a16="http://schemas.microsoft.com/office/drawing/2014/main" id="{D4FAAD39-7870-4E76-A854-23BE52416CA5}"/>
                </a:ext>
              </a:extLst>
            </p:cNvPr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 </a:t>
              </a:r>
              <a:r>
                <a:rPr lang="en-US" altLang="ko-KR" b="1" dirty="0">
                  <a:solidFill>
                    <a:srgbClr val="FF000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Size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32K	 2K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	  34K	 2K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Stack	  28K	 2K</a:t>
              </a:r>
            </a:p>
          </p:txBody>
        </p:sp>
        <p:cxnSp>
          <p:nvCxnSpPr>
            <p:cNvPr id="47" name="직선 연결선 45">
              <a:extLst>
                <a:ext uri="{FF2B5EF4-FFF2-40B4-BE49-F238E27FC236}">
                  <a16:creationId xmlns:a16="http://schemas.microsoft.com/office/drawing/2014/main" id="{64B20833-5E83-44E0-885F-A2EC37428942}"/>
                </a:ext>
              </a:extLst>
            </p:cNvPr>
            <p:cNvCxnSpPr/>
            <p:nvPr/>
          </p:nvCxnSpPr>
          <p:spPr>
            <a:xfrm>
              <a:off x="1331640" y="2340865"/>
              <a:ext cx="2664296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E75968E-06B0-4632-8C02-3FC4D886E8DB}"/>
              </a:ext>
            </a:extLst>
          </p:cNvPr>
          <p:cNvSpPr txBox="1"/>
          <p:nvPr/>
        </p:nvSpPr>
        <p:spPr>
          <a:xfrm>
            <a:off x="8153400" y="3970399"/>
            <a:ext cx="2903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Same as the Bounds Register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2C46C0-97DA-43F1-8292-481381E0C0F6}"/>
              </a:ext>
            </a:extLst>
          </p:cNvPr>
          <p:cNvSpPr txBox="1"/>
          <p:nvPr/>
        </p:nvSpPr>
        <p:spPr>
          <a:xfrm>
            <a:off x="5325398" y="5335541"/>
            <a:ext cx="5081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Therefore, 3 segments require 3 (base, size) pairs.</a:t>
            </a:r>
          </a:p>
        </p:txBody>
      </p:sp>
    </p:spTree>
    <p:extLst>
      <p:ext uri="{BB962C8B-B14F-4D97-AF65-F5344CB8AC3E}">
        <p14:creationId xmlns:p14="http://schemas.microsoft.com/office/powerpoint/2010/main" val="517352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B072D7-DA1A-4743-A07C-2846B8B6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145" y="409919"/>
            <a:ext cx="3213840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>
                <a:solidFill>
                  <a:prstClr val="black"/>
                </a:solidFill>
                <a:ea typeface="맑은 고딕" panose="020B0503020000020004" pitchFamily="50" charset="-127"/>
              </a:rPr>
              <a:t>Segmentation </a:t>
            </a:r>
            <a:r>
              <a:rPr lang="en-US" altLang="ko-KR" sz="2400" b="1" dirty="0">
                <a:solidFill>
                  <a:srgbClr val="FF0000"/>
                </a:solidFill>
                <a:ea typeface="맑은 고딕" panose="020B0503020000020004" pitchFamily="50" charset="-127"/>
              </a:rPr>
              <a:t>Fault</a:t>
            </a:r>
            <a:endParaRPr lang="ko-KR" altLang="en-US" sz="2400" b="1" dirty="0">
              <a:solidFill>
                <a:srgbClr val="FF0000"/>
              </a:solidFill>
              <a:ea typeface="맑은 고딕" panose="020B0503020000020004" pitchFamily="50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88DDE7-B6A1-4DB5-896B-A04DBD89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8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7C6A4830-1E44-42FD-AFA2-E75FA6C3F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2B1D91B-0F27-42A7-8C8F-BA379616F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568" y="1431605"/>
            <a:ext cx="4652213" cy="4271611"/>
          </a:xfrm>
        </p:spPr>
        <p:txBody>
          <a:bodyPr>
            <a:noAutofit/>
          </a:bodyPr>
          <a:lstStyle/>
          <a:p>
            <a:pPr algn="just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term segmentation fault or violation arises from memory access on an illegal address.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r/ProgrammerHumor - My reaction to errors Syntax error Library not found Heap/Buffer overflow Segmentation fault">
            <a:extLst>
              <a:ext uri="{FF2B5EF4-FFF2-40B4-BE49-F238E27FC236}">
                <a16:creationId xmlns:a16="http://schemas.microsoft.com/office/drawing/2014/main" id="{1A23CAFD-7C03-4F14-A08B-82C41FC88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016" y="386655"/>
            <a:ext cx="4549698" cy="575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67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8F26D-2069-4D23-A476-1083331F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8055" y="2956732"/>
            <a:ext cx="6528146" cy="1950260"/>
          </a:xfrm>
        </p:spPr>
        <p:txBody>
          <a:bodyPr>
            <a:noAutofit/>
          </a:bodyPr>
          <a:lstStyle/>
          <a:p>
            <a:r>
              <a:rPr lang="en-US" altLang="ko-KR" sz="1800" dirty="0"/>
              <a:t>If an </a:t>
            </a:r>
            <a:r>
              <a:rPr lang="en-US" altLang="ko-KR" sz="1800" b="1" dirty="0"/>
              <a:t>illegal address</a:t>
            </a:r>
            <a:r>
              <a:rPr lang="en-US" altLang="ko-KR" sz="1800" dirty="0"/>
              <a:t> such as </a:t>
            </a:r>
            <a:r>
              <a:rPr lang="en-US" altLang="ko-KR" sz="1800" b="1" dirty="0">
                <a:solidFill>
                  <a:srgbClr val="FF0000"/>
                </a:solidFill>
              </a:rPr>
              <a:t>7KB</a:t>
            </a:r>
            <a:r>
              <a:rPr lang="en-US" altLang="ko-KR" sz="1800" dirty="0"/>
              <a:t> which is beyond the end of heap is referenced, the OS occurs </a:t>
            </a:r>
            <a:r>
              <a:rPr lang="en-US" altLang="ko-KR" sz="1800" b="1" dirty="0"/>
              <a:t>segmentation fault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The hardware detects that address is </a:t>
            </a:r>
            <a:r>
              <a:rPr lang="en-US" altLang="ko-KR" sz="1800" b="1" dirty="0"/>
              <a:t>out of bounds</a:t>
            </a:r>
            <a:r>
              <a:rPr lang="en-US" altLang="ko-KR" sz="1800" dirty="0"/>
              <a:t>. </a:t>
            </a:r>
            <a:endParaRPr lang="ko-KR" alt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B072D7-DA1A-4743-A07C-2846B8B6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>
                <a:solidFill>
                  <a:prstClr val="black"/>
                </a:solidFill>
                <a:ea typeface="맑은 고딕" panose="020B0503020000020004" pitchFamily="50" charset="-127"/>
              </a:rPr>
              <a:t>Segmentation fault</a:t>
            </a:r>
            <a:endParaRPr lang="ko-KR" altLang="en-US" sz="2400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C63E93-FB4C-4C42-A193-87C04D02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9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53E9A1EC-A94E-4BE8-9FC9-FB6D1022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6A10BC-01EB-4F1B-A25A-3BB381890B5F}"/>
              </a:ext>
            </a:extLst>
          </p:cNvPr>
          <p:cNvSpPr txBox="1"/>
          <p:nvPr/>
        </p:nvSpPr>
        <p:spPr>
          <a:xfrm>
            <a:off x="8610600" y="3366346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직사각형 7">
            <a:extLst>
              <a:ext uri="{FF2B5EF4-FFF2-40B4-BE49-F238E27FC236}">
                <a16:creationId xmlns:a16="http://schemas.microsoft.com/office/drawing/2014/main" id="{6B04D469-AF05-4E14-8B82-E7907D714E20}"/>
              </a:ext>
            </a:extLst>
          </p:cNvPr>
          <p:cNvSpPr/>
          <p:nvPr/>
        </p:nvSpPr>
        <p:spPr>
          <a:xfrm>
            <a:off x="9184173" y="2974775"/>
            <a:ext cx="1537600" cy="5288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cxnSp>
        <p:nvCxnSpPr>
          <p:cNvPr id="30" name="직선 연결선 8">
            <a:extLst>
              <a:ext uri="{FF2B5EF4-FFF2-40B4-BE49-F238E27FC236}">
                <a16:creationId xmlns:a16="http://schemas.microsoft.com/office/drawing/2014/main" id="{4CBF7AF5-1761-468B-80D2-F108ECD01E6A}"/>
              </a:ext>
            </a:extLst>
          </p:cNvPr>
          <p:cNvCxnSpPr/>
          <p:nvPr/>
        </p:nvCxnSpPr>
        <p:spPr>
          <a:xfrm>
            <a:off x="9184172" y="2264749"/>
            <a:ext cx="1318" cy="217862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9">
            <a:extLst>
              <a:ext uri="{FF2B5EF4-FFF2-40B4-BE49-F238E27FC236}">
                <a16:creationId xmlns:a16="http://schemas.microsoft.com/office/drawing/2014/main" id="{0DAD07E3-A2F8-4856-9C84-BFD8C24F5AFC}"/>
              </a:ext>
            </a:extLst>
          </p:cNvPr>
          <p:cNvSpPr/>
          <p:nvPr/>
        </p:nvSpPr>
        <p:spPr>
          <a:xfrm>
            <a:off x="9184172" y="2422274"/>
            <a:ext cx="1537601" cy="552953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E66BC2-A354-467B-80CE-9D7BAAB95F27}"/>
              </a:ext>
            </a:extLst>
          </p:cNvPr>
          <p:cNvSpPr txBox="1"/>
          <p:nvPr/>
        </p:nvSpPr>
        <p:spPr>
          <a:xfrm>
            <a:off x="8620824" y="2802844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3" name="직선 연결선 11">
            <a:extLst>
              <a:ext uri="{FF2B5EF4-FFF2-40B4-BE49-F238E27FC236}">
                <a16:creationId xmlns:a16="http://schemas.microsoft.com/office/drawing/2014/main" id="{1377CDF6-FD8C-4B8C-9826-4601A0DC7C49}"/>
              </a:ext>
            </a:extLst>
          </p:cNvPr>
          <p:cNvCxnSpPr/>
          <p:nvPr/>
        </p:nvCxnSpPr>
        <p:spPr>
          <a:xfrm flipH="1">
            <a:off x="10721772" y="2264749"/>
            <a:ext cx="1" cy="217862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12">
            <a:extLst>
              <a:ext uri="{FF2B5EF4-FFF2-40B4-BE49-F238E27FC236}">
                <a16:creationId xmlns:a16="http://schemas.microsoft.com/office/drawing/2014/main" id="{11C4F03D-A98C-41F6-AD07-5D882D403144}"/>
              </a:ext>
            </a:extLst>
          </p:cNvPr>
          <p:cNvSpPr/>
          <p:nvPr/>
        </p:nvSpPr>
        <p:spPr>
          <a:xfrm>
            <a:off x="9184171" y="3503584"/>
            <a:ext cx="1537601" cy="57974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35" name="직선 화살표 연결선 13">
            <a:extLst>
              <a:ext uri="{FF2B5EF4-FFF2-40B4-BE49-F238E27FC236}">
                <a16:creationId xmlns:a16="http://schemas.microsoft.com/office/drawing/2014/main" id="{4965D1D3-72AB-438E-ABF0-39111A0B5406}"/>
              </a:ext>
            </a:extLst>
          </p:cNvPr>
          <p:cNvCxnSpPr>
            <a:stCxn id="34" idx="0"/>
          </p:cNvCxnSpPr>
          <p:nvPr/>
        </p:nvCxnSpPr>
        <p:spPr>
          <a:xfrm>
            <a:off x="9952972" y="3503584"/>
            <a:ext cx="1" cy="22949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FEE4460-14F0-4597-AB4D-93B8EE7809A9}"/>
              </a:ext>
            </a:extLst>
          </p:cNvPr>
          <p:cNvSpPr txBox="1"/>
          <p:nvPr/>
        </p:nvSpPr>
        <p:spPr>
          <a:xfrm>
            <a:off x="9056926" y="4641487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74050A-26B9-42FE-85A4-700AD239B85F}"/>
              </a:ext>
            </a:extLst>
          </p:cNvPr>
          <p:cNvSpPr txBox="1"/>
          <p:nvPr/>
        </p:nvSpPr>
        <p:spPr>
          <a:xfrm>
            <a:off x="8610600" y="3639567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7KB</a:t>
            </a:r>
            <a:endParaRPr lang="ko-KR" altLang="en-US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573E69-E04D-49E8-83AF-A551378C90A5}"/>
              </a:ext>
            </a:extLst>
          </p:cNvPr>
          <p:cNvSpPr txBox="1"/>
          <p:nvPr/>
        </p:nvSpPr>
        <p:spPr>
          <a:xfrm>
            <a:off x="8610600" y="3929440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8743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B072D7-DA1A-4743-A07C-2846B8B6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/>
              <a:t>Address Translation – Code Segment</a:t>
            </a:r>
            <a:endParaRPr lang="ko-KR" altLang="en-US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41865352-FAB1-4680-8B42-6D838186F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07" y="3250026"/>
            <a:ext cx="2839279" cy="927612"/>
          </a:xfrm>
        </p:spPr>
        <p:txBody>
          <a:bodyPr>
            <a:normAutofit lnSpcReduction="10000"/>
          </a:bodyPr>
          <a:lstStyle/>
          <a:p>
            <a:r>
              <a:rPr lang="en-US" altLang="ko-KR" sz="1800" dirty="0"/>
              <a:t>Base Address is 0KB.</a:t>
            </a:r>
          </a:p>
          <a:p>
            <a:r>
              <a:rPr lang="en-US" altLang="ko-KR" sz="1800" dirty="0"/>
              <a:t>Offset of the instruction is </a:t>
            </a:r>
            <a:r>
              <a:rPr lang="en-US" altLang="ko-KR" sz="1800" b="1" dirty="0">
                <a:solidFill>
                  <a:srgbClr val="FF0000"/>
                </a:solidFill>
                <a:cs typeface="Courier New" pitchFamily="49" charset="0"/>
              </a:rPr>
              <a:t>100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grpSp>
        <p:nvGrpSpPr>
          <p:cNvPr id="31" name="그룹 5">
            <a:extLst>
              <a:ext uri="{FF2B5EF4-FFF2-40B4-BE49-F238E27FC236}">
                <a16:creationId xmlns:a16="http://schemas.microsoft.com/office/drawing/2014/main" id="{2097782A-FD62-4F98-A0DF-8A49DB0F8FA4}"/>
              </a:ext>
            </a:extLst>
          </p:cNvPr>
          <p:cNvGrpSpPr/>
          <p:nvPr/>
        </p:nvGrpSpPr>
        <p:grpSpPr>
          <a:xfrm>
            <a:off x="6638404" y="1229991"/>
            <a:ext cx="2377582" cy="570600"/>
            <a:chOff x="1117493" y="1898889"/>
            <a:chExt cx="3098061" cy="1448496"/>
          </a:xfrm>
        </p:grpSpPr>
        <p:sp>
          <p:nvSpPr>
            <p:cNvPr id="32" name="직사각형 6">
              <a:extLst>
                <a:ext uri="{FF2B5EF4-FFF2-40B4-BE49-F238E27FC236}">
                  <a16:creationId xmlns:a16="http://schemas.microsoft.com/office/drawing/2014/main" id="{362054D0-236E-4D6F-BEC3-3334D2A341B3}"/>
                </a:ext>
              </a:extLst>
            </p:cNvPr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  Base	 Size</a:t>
              </a:r>
            </a:p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32K	 2K</a:t>
              </a:r>
            </a:p>
          </p:txBody>
        </p:sp>
        <p:cxnSp>
          <p:nvCxnSpPr>
            <p:cNvPr id="33" name="직선 연결선 7">
              <a:extLst>
                <a:ext uri="{FF2B5EF4-FFF2-40B4-BE49-F238E27FC236}">
                  <a16:creationId xmlns:a16="http://schemas.microsoft.com/office/drawing/2014/main" id="{2F13A16A-EB29-476E-99CA-87FCC238CED5}"/>
                </a:ext>
              </a:extLst>
            </p:cNvPr>
            <p:cNvCxnSpPr/>
            <p:nvPr/>
          </p:nvCxnSpPr>
          <p:spPr>
            <a:xfrm>
              <a:off x="1117493" y="2623137"/>
              <a:ext cx="3096344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5">
            <a:extLst>
              <a:ext uri="{FF2B5EF4-FFF2-40B4-BE49-F238E27FC236}">
                <a16:creationId xmlns:a16="http://schemas.microsoft.com/office/drawing/2014/main" id="{83FE74A1-A248-4197-84F2-1D71F59487E8}"/>
              </a:ext>
            </a:extLst>
          </p:cNvPr>
          <p:cNvGrpSpPr/>
          <p:nvPr/>
        </p:nvGrpSpPr>
        <p:grpSpPr>
          <a:xfrm>
            <a:off x="3614325" y="3152324"/>
            <a:ext cx="2102267" cy="1801771"/>
            <a:chOff x="323528" y="1915261"/>
            <a:chExt cx="2102267" cy="180177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E210338-E4FB-4182-AB96-485F728F5BF9}"/>
                </a:ext>
              </a:extLst>
            </p:cNvPr>
            <p:cNvSpPr txBox="1"/>
            <p:nvPr/>
          </p:nvSpPr>
          <p:spPr>
            <a:xfrm>
              <a:off x="323528" y="191526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DB44D21-EE0F-4107-88D5-837C1181DAEC}"/>
                </a:ext>
              </a:extLst>
            </p:cNvPr>
            <p:cNvSpPr txBox="1"/>
            <p:nvPr/>
          </p:nvSpPr>
          <p:spPr>
            <a:xfrm>
              <a:off x="323528" y="243894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37" name="그룹 32">
              <a:extLst>
                <a:ext uri="{FF2B5EF4-FFF2-40B4-BE49-F238E27FC236}">
                  <a16:creationId xmlns:a16="http://schemas.microsoft.com/office/drawing/2014/main" id="{DA88AD9F-C4A8-425B-802D-55B2B8001FBA}"/>
                </a:ext>
              </a:extLst>
            </p:cNvPr>
            <p:cNvGrpSpPr/>
            <p:nvPr/>
          </p:nvGrpSpPr>
          <p:grpSpPr>
            <a:xfrm>
              <a:off x="888194" y="2057488"/>
              <a:ext cx="1537601" cy="1659544"/>
              <a:chOff x="1187624" y="2057488"/>
              <a:chExt cx="1537601" cy="1659544"/>
            </a:xfrm>
          </p:grpSpPr>
          <p:sp>
            <p:nvSpPr>
              <p:cNvPr id="40" name="직사각형 13">
                <a:extLst>
                  <a:ext uri="{FF2B5EF4-FFF2-40B4-BE49-F238E27FC236}">
                    <a16:creationId xmlns:a16="http://schemas.microsoft.com/office/drawing/2014/main" id="{69002211-7ADB-4991-BFA6-46A4010E9303}"/>
                  </a:ext>
                </a:extLst>
              </p:cNvPr>
              <p:cNvSpPr/>
              <p:nvPr/>
            </p:nvSpPr>
            <p:spPr>
              <a:xfrm>
                <a:off x="1187624" y="2057488"/>
                <a:ext cx="1537601" cy="55295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algn="ctr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 anchorCtr="0"/>
              <a:lstStyle/>
              <a:p>
                <a:pPr algn="ctr"/>
                <a:endPara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  <a:cs typeface="Courier New" pitchFamily="49" charset="0"/>
                  </a:rPr>
                  <a:t>Program Code</a:t>
                </a:r>
              </a:p>
            </p:txBody>
          </p:sp>
          <p:cxnSp>
            <p:nvCxnSpPr>
              <p:cNvPr id="41" name="직선 연결선 30">
                <a:extLst>
                  <a:ext uri="{FF2B5EF4-FFF2-40B4-BE49-F238E27FC236}">
                    <a16:creationId xmlns:a16="http://schemas.microsoft.com/office/drawing/2014/main" id="{78BAD62A-F0C2-46AF-96FE-08B0A73E4CF1}"/>
                  </a:ext>
                </a:extLst>
              </p:cNvPr>
              <p:cNvCxnSpPr/>
              <p:nvPr/>
            </p:nvCxnSpPr>
            <p:spPr>
              <a:xfrm>
                <a:off x="1187624" y="2592829"/>
                <a:ext cx="0" cy="1124203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31">
                <a:extLst>
                  <a:ext uri="{FF2B5EF4-FFF2-40B4-BE49-F238E27FC236}">
                    <a16:creationId xmlns:a16="http://schemas.microsoft.com/office/drawing/2014/main" id="{E5239C4C-8C42-4F0A-97BF-5C9371056BFE}"/>
                  </a:ext>
                </a:extLst>
              </p:cNvPr>
              <p:cNvCxnSpPr/>
              <p:nvPr/>
            </p:nvCxnSpPr>
            <p:spPr>
              <a:xfrm>
                <a:off x="2725225" y="2592829"/>
                <a:ext cx="0" cy="1124203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직사각형 33">
              <a:extLst>
                <a:ext uri="{FF2B5EF4-FFF2-40B4-BE49-F238E27FC236}">
                  <a16:creationId xmlns:a16="http://schemas.microsoft.com/office/drawing/2014/main" id="{E71FE8DF-0FBA-44A9-A025-718572CF44A7}"/>
                </a:ext>
              </a:extLst>
            </p:cNvPr>
            <p:cNvSpPr/>
            <p:nvPr/>
          </p:nvSpPr>
          <p:spPr>
            <a:xfrm>
              <a:off x="888194" y="2601977"/>
              <a:ext cx="1537601" cy="528587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02C49FF-3E33-43BE-A2C2-6608C7CA101F}"/>
                </a:ext>
              </a:extLst>
            </p:cNvPr>
            <p:cNvSpPr txBox="1"/>
            <p:nvPr/>
          </p:nvSpPr>
          <p:spPr>
            <a:xfrm>
              <a:off x="323528" y="300104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860D6E1-8FB4-4FEB-A471-FF28D5AC5A8E}"/>
              </a:ext>
            </a:extLst>
          </p:cNvPr>
          <p:cNvSpPr txBox="1"/>
          <p:nvPr/>
        </p:nvSpPr>
        <p:spPr>
          <a:xfrm>
            <a:off x="8668920" y="216650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2EEC43-713F-4CE2-97AF-0F2389837DD1}"/>
              </a:ext>
            </a:extLst>
          </p:cNvPr>
          <p:cNvSpPr txBox="1"/>
          <p:nvPr/>
        </p:nvSpPr>
        <p:spPr>
          <a:xfrm>
            <a:off x="8668920" y="315232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5" name="직선 연결선 71">
            <a:extLst>
              <a:ext uri="{FF2B5EF4-FFF2-40B4-BE49-F238E27FC236}">
                <a16:creationId xmlns:a16="http://schemas.microsoft.com/office/drawing/2014/main" id="{EA2E6AF3-6CE0-4966-8634-8B6646953EBC}"/>
              </a:ext>
            </a:extLst>
          </p:cNvPr>
          <p:cNvCxnSpPr/>
          <p:nvPr/>
        </p:nvCxnSpPr>
        <p:spPr>
          <a:xfrm>
            <a:off x="5716592" y="3293174"/>
            <a:ext cx="1270389" cy="7208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C0D8DDF-27C1-4C16-BF8E-AB7436750CFA}"/>
              </a:ext>
            </a:extLst>
          </p:cNvPr>
          <p:cNvSpPr txBox="1"/>
          <p:nvPr/>
        </p:nvSpPr>
        <p:spPr>
          <a:xfrm>
            <a:off x="3786411" y="3364348"/>
            <a:ext cx="410215" cy="246221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E8DF85-661D-45C7-BB71-936F86451D20}"/>
              </a:ext>
            </a:extLst>
          </p:cNvPr>
          <p:cNvSpPr txBox="1"/>
          <p:nvPr/>
        </p:nvSpPr>
        <p:spPr>
          <a:xfrm>
            <a:off x="4121018" y="3381855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instruction</a:t>
            </a:r>
          </a:p>
        </p:txBody>
      </p:sp>
      <p:sp>
        <p:nvSpPr>
          <p:cNvPr id="48" name="직사각형 96">
            <a:extLst>
              <a:ext uri="{FF2B5EF4-FFF2-40B4-BE49-F238E27FC236}">
                <a16:creationId xmlns:a16="http://schemas.microsoft.com/office/drawing/2014/main" id="{D030B891-B813-4261-A294-DC9DF5E7880B}"/>
              </a:ext>
            </a:extLst>
          </p:cNvPr>
          <p:cNvSpPr/>
          <p:nvPr/>
        </p:nvSpPr>
        <p:spPr>
          <a:xfrm>
            <a:off x="6986227" y="3828750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49" name="직사각형 97">
            <a:extLst>
              <a:ext uri="{FF2B5EF4-FFF2-40B4-BE49-F238E27FC236}">
                <a16:creationId xmlns:a16="http://schemas.microsoft.com/office/drawing/2014/main" id="{F48A25D8-D26D-4ED9-860B-16D4962E6EB2}"/>
              </a:ext>
            </a:extLst>
          </p:cNvPr>
          <p:cNvSpPr/>
          <p:nvPr/>
        </p:nvSpPr>
        <p:spPr>
          <a:xfrm>
            <a:off x="6986227" y="3285966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50" name="직사각형 98">
            <a:extLst>
              <a:ext uri="{FF2B5EF4-FFF2-40B4-BE49-F238E27FC236}">
                <a16:creationId xmlns:a16="http://schemas.microsoft.com/office/drawing/2014/main" id="{F757C440-EF6B-4CC7-A775-DE3B86010272}"/>
              </a:ext>
            </a:extLst>
          </p:cNvPr>
          <p:cNvSpPr/>
          <p:nvPr/>
        </p:nvSpPr>
        <p:spPr>
          <a:xfrm>
            <a:off x="6986227" y="2306560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51" name="직사각형 100">
            <a:extLst>
              <a:ext uri="{FF2B5EF4-FFF2-40B4-BE49-F238E27FC236}">
                <a16:creationId xmlns:a16="http://schemas.microsoft.com/office/drawing/2014/main" id="{B7366087-D5A4-4C89-A203-CC2DCFF11B30}"/>
              </a:ext>
            </a:extLst>
          </p:cNvPr>
          <p:cNvSpPr/>
          <p:nvPr/>
        </p:nvSpPr>
        <p:spPr>
          <a:xfrm>
            <a:off x="6986227" y="4367627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52" name="직선 화살표 연결선 48">
            <a:extLst>
              <a:ext uri="{FF2B5EF4-FFF2-40B4-BE49-F238E27FC236}">
                <a16:creationId xmlns:a16="http://schemas.microsoft.com/office/drawing/2014/main" id="{F30FDFA3-0C05-4FC7-BA84-5E4E146A085C}"/>
              </a:ext>
            </a:extLst>
          </p:cNvPr>
          <p:cNvCxnSpPr>
            <a:stCxn id="51" idx="0"/>
          </p:cNvCxnSpPr>
          <p:nvPr/>
        </p:nvCxnSpPr>
        <p:spPr>
          <a:xfrm>
            <a:off x="7827197" y="4367627"/>
            <a:ext cx="0" cy="36360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103">
            <a:extLst>
              <a:ext uri="{FF2B5EF4-FFF2-40B4-BE49-F238E27FC236}">
                <a16:creationId xmlns:a16="http://schemas.microsoft.com/office/drawing/2014/main" id="{4BB9B0DA-D101-4ABE-9051-C805B4819B77}"/>
              </a:ext>
            </a:extLst>
          </p:cNvPr>
          <p:cNvCxnSpPr/>
          <p:nvPr/>
        </p:nvCxnSpPr>
        <p:spPr>
          <a:xfrm flipH="1">
            <a:off x="6986227" y="2044970"/>
            <a:ext cx="754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104">
            <a:extLst>
              <a:ext uri="{FF2B5EF4-FFF2-40B4-BE49-F238E27FC236}">
                <a16:creationId xmlns:a16="http://schemas.microsoft.com/office/drawing/2014/main" id="{A37E2D74-7234-48E7-A293-A55D7DCBBA17}"/>
              </a:ext>
            </a:extLst>
          </p:cNvPr>
          <p:cNvCxnSpPr/>
          <p:nvPr/>
        </p:nvCxnSpPr>
        <p:spPr>
          <a:xfrm>
            <a:off x="8668920" y="2044970"/>
            <a:ext cx="0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105">
            <a:extLst>
              <a:ext uri="{FF2B5EF4-FFF2-40B4-BE49-F238E27FC236}">
                <a16:creationId xmlns:a16="http://schemas.microsoft.com/office/drawing/2014/main" id="{EC153392-E473-4EFB-86A1-344613E4D7AA}"/>
              </a:ext>
            </a:extLst>
          </p:cNvPr>
          <p:cNvCxnSpPr/>
          <p:nvPr/>
        </p:nvCxnSpPr>
        <p:spPr>
          <a:xfrm>
            <a:off x="6986227" y="5352125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107">
            <a:extLst>
              <a:ext uri="{FF2B5EF4-FFF2-40B4-BE49-F238E27FC236}">
                <a16:creationId xmlns:a16="http://schemas.microsoft.com/office/drawing/2014/main" id="{B7D7B01A-A0FB-485C-9978-CF62CD23402B}"/>
              </a:ext>
            </a:extLst>
          </p:cNvPr>
          <p:cNvCxnSpPr/>
          <p:nvPr/>
        </p:nvCxnSpPr>
        <p:spPr>
          <a:xfrm>
            <a:off x="8668165" y="5352125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117">
            <a:extLst>
              <a:ext uri="{FF2B5EF4-FFF2-40B4-BE49-F238E27FC236}">
                <a16:creationId xmlns:a16="http://schemas.microsoft.com/office/drawing/2014/main" id="{D51320D6-04A3-487E-B97D-5889124E6A68}"/>
              </a:ext>
            </a:extLst>
          </p:cNvPr>
          <p:cNvCxnSpPr/>
          <p:nvPr/>
        </p:nvCxnSpPr>
        <p:spPr>
          <a:xfrm>
            <a:off x="5716592" y="3834198"/>
            <a:ext cx="1269635" cy="4843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0B33CDD-F494-4700-AA87-B5151AD24FD4}"/>
              </a:ext>
            </a:extLst>
          </p:cNvPr>
          <p:cNvSpPr txBox="1"/>
          <p:nvPr/>
        </p:nvSpPr>
        <p:spPr>
          <a:xfrm>
            <a:off x="8668920" y="3680310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9" name="직선 화살표 연결선 121">
            <a:extLst>
              <a:ext uri="{FF2B5EF4-FFF2-40B4-BE49-F238E27FC236}">
                <a16:creationId xmlns:a16="http://schemas.microsoft.com/office/drawing/2014/main" id="{329FBBC1-1D48-4161-B88A-98CC38E9AF59}"/>
              </a:ext>
            </a:extLst>
          </p:cNvPr>
          <p:cNvCxnSpPr/>
          <p:nvPr/>
        </p:nvCxnSpPr>
        <p:spPr>
          <a:xfrm flipH="1">
            <a:off x="8668920" y="3482262"/>
            <a:ext cx="72008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모서리가 둥근 직사각형 133">
                <a:extLst>
                  <a:ext uri="{FF2B5EF4-FFF2-40B4-BE49-F238E27FC236}">
                    <a16:creationId xmlns:a16="http://schemas.microsoft.com/office/drawing/2014/main" id="{2FFD956A-F05A-4D19-9B97-6F9B0BD0FD25}"/>
                  </a:ext>
                </a:extLst>
              </p:cNvPr>
              <p:cNvSpPr/>
              <p:nvPr/>
            </p:nvSpPr>
            <p:spPr>
              <a:xfrm>
                <a:off x="9388999" y="2044970"/>
                <a:ext cx="2677307" cy="3111489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Base</m:t>
                    </m:r>
                    <m:r>
                      <a:rPr lang="en-US" altLang="ko-KR" sz="1600" b="0" i="0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:32</m:t>
                    </m:r>
                    <m:r>
                      <m:rPr>
                        <m:sty m:val="p"/>
                      </m:rPr>
                      <a:rPr lang="en-US" altLang="ko-KR" sz="1600" b="0" i="0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KB</m:t>
                    </m:r>
                    <m:r>
                      <a:rPr lang="en-US" altLang="ko-KR" sz="1600" b="0" i="0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=32,768</m:t>
                    </m:r>
                  </m:oMath>
                </a14:m>
                <a:endParaRPr lang="en-US" altLang="ko-KR" sz="1600" b="0" i="0" dirty="0">
                  <a:solidFill>
                    <a:srgbClr val="4F81BD"/>
                  </a:solidFill>
                  <a:latin typeface="Cambria Math" panose="02040503050406030204" pitchFamily="18" charset="0"/>
                  <a:ea typeface="맑은 고딕" pitchFamily="50" charset="-127"/>
                  <a:cs typeface="Courier New" pitchFamily="49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0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Offset: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100</m:t>
                    </m:r>
                  </m:oMath>
                </a14:m>
                <a:endParaRPr lang="en-US" altLang="ko-KR" sz="1600" b="0" i="0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b="0" dirty="0">
                  <a:solidFill>
                    <a:srgbClr val="4F81BD"/>
                  </a:solidFill>
                  <a:ea typeface="맑은 고딕" pitchFamily="50" charset="-127"/>
                  <a:cs typeface="Courier New" pitchFamily="49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0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Physical Address </a:t>
                </a:r>
              </a:p>
              <a:p>
                <a:r>
                  <a:rPr lang="en-US" altLang="ko-KR" sz="1600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      </a:t>
                </a:r>
                <a:r>
                  <a:rPr lang="en-US" altLang="ko-KR" sz="1600" b="0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= Base + Offset</a:t>
                </a:r>
              </a:p>
              <a:p>
                <a:r>
                  <a:rPr lang="en-US" altLang="ko-KR" sz="1600" b="0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      = 32K + 100 </a:t>
                </a:r>
              </a:p>
              <a:p>
                <a:r>
                  <a:rPr lang="en-US" altLang="ko-KR" sz="1600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      = </a:t>
                </a:r>
                <a14:m>
                  <m:oMath xmlns:m="http://schemas.openxmlformats.org/officeDocument/2006/math">
                    <m:r>
                      <a:rPr lang="en-US" altLang="ko-KR" sz="1600" b="0" i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32</m:t>
                    </m:r>
                    <m:r>
                      <a:rPr lang="en-US" altLang="ko-KR" sz="1600" b="0" i="0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,768+100</m:t>
                    </m:r>
                  </m:oMath>
                </a14:m>
                <a:endParaRPr lang="en-US" altLang="ko-KR" sz="1600" b="0" i="0" dirty="0">
                  <a:solidFill>
                    <a:srgbClr val="4F81BD"/>
                  </a:solidFill>
                  <a:latin typeface="Cambria Math" panose="02040503050406030204" pitchFamily="18" charset="0"/>
                  <a:ea typeface="맑은 고딕" pitchFamily="50" charset="-127"/>
                  <a:cs typeface="Courier New" pitchFamily="49" charset="0"/>
                </a:endParaRPr>
              </a:p>
              <a:p>
                <a:r>
                  <a:rPr lang="en-US" altLang="ko-KR" sz="1600" b="0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      =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32</m:t>
                    </m:r>
                    <m:r>
                      <a:rPr lang="en-US" altLang="ko-KR" sz="1600" b="0" i="0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,</m:t>
                    </m:r>
                    <m:r>
                      <a:rPr lang="en-US" altLang="ko-KR" sz="1600" b="0" i="0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868</m:t>
                    </m:r>
                  </m:oMath>
                </a14:m>
                <a:endParaRPr lang="en-US" altLang="ko-KR" sz="1600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60" name="모서리가 둥근 직사각형 133">
                <a:extLst>
                  <a:ext uri="{FF2B5EF4-FFF2-40B4-BE49-F238E27FC236}">
                    <a16:creationId xmlns:a16="http://schemas.microsoft.com/office/drawing/2014/main" id="{2FFD956A-F05A-4D19-9B97-6F9B0BD0FD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999" y="2044970"/>
                <a:ext cx="2677307" cy="3111489"/>
              </a:xfrm>
              <a:prstGeom prst="roundRect">
                <a:avLst>
                  <a:gd name="adj" fmla="val 1458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2D0DB762-2276-46AE-927F-B53A898D843F}"/>
              </a:ext>
            </a:extLst>
          </p:cNvPr>
          <p:cNvSpPr txBox="1"/>
          <p:nvPr/>
        </p:nvSpPr>
        <p:spPr>
          <a:xfrm>
            <a:off x="4051744" y="5471336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E444FD-8958-4837-A846-1B9CF9309B2C}"/>
              </a:ext>
            </a:extLst>
          </p:cNvPr>
          <p:cNvSpPr txBox="1"/>
          <p:nvPr/>
        </p:nvSpPr>
        <p:spPr>
          <a:xfrm>
            <a:off x="6931149" y="5514969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Footer Placeholder 23">
            <a:extLst>
              <a:ext uri="{FF2B5EF4-FFF2-40B4-BE49-F238E27FC236}">
                <a16:creationId xmlns:a16="http://schemas.microsoft.com/office/drawing/2014/main" id="{FE4B3D2B-E35C-4ACE-A74B-D6BE38C03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64" name="Slide Number Placeholder 1">
            <a:extLst>
              <a:ext uri="{FF2B5EF4-FFF2-40B4-BE49-F238E27FC236}">
                <a16:creationId xmlns:a16="http://schemas.microsoft.com/office/drawing/2014/main" id="{9B658F6E-8479-43EB-A732-96776D4A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58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B072D7-DA1A-4743-A07C-2846B8B6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/>
              <a:t>Address Translation – Heap Segment</a:t>
            </a:r>
            <a:endParaRPr lang="ko-KR" altLang="en-US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grpSp>
        <p:nvGrpSpPr>
          <p:cNvPr id="61" name="그룹 5">
            <a:extLst>
              <a:ext uri="{FF2B5EF4-FFF2-40B4-BE49-F238E27FC236}">
                <a16:creationId xmlns:a16="http://schemas.microsoft.com/office/drawing/2014/main" id="{BA121F7E-6D73-4BA9-BEBB-A42A29ED111F}"/>
              </a:ext>
            </a:extLst>
          </p:cNvPr>
          <p:cNvGrpSpPr/>
          <p:nvPr/>
        </p:nvGrpSpPr>
        <p:grpSpPr>
          <a:xfrm>
            <a:off x="6046979" y="1127511"/>
            <a:ext cx="2377582" cy="570600"/>
            <a:chOff x="1117493" y="1898889"/>
            <a:chExt cx="3098061" cy="1448496"/>
          </a:xfrm>
        </p:grpSpPr>
        <p:sp>
          <p:nvSpPr>
            <p:cNvPr id="62" name="직사각형 6">
              <a:extLst>
                <a:ext uri="{FF2B5EF4-FFF2-40B4-BE49-F238E27FC236}">
                  <a16:creationId xmlns:a16="http://schemas.microsoft.com/office/drawing/2014/main" id="{F179F222-69B3-4ED5-AC38-B3E3405C42C8}"/>
                </a:ext>
              </a:extLst>
            </p:cNvPr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  Base	 Size</a:t>
              </a:r>
            </a:p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	  34K	 2K</a:t>
              </a:r>
            </a:p>
          </p:txBody>
        </p:sp>
        <p:cxnSp>
          <p:nvCxnSpPr>
            <p:cNvPr id="63" name="직선 연결선 7">
              <a:extLst>
                <a:ext uri="{FF2B5EF4-FFF2-40B4-BE49-F238E27FC236}">
                  <a16:creationId xmlns:a16="http://schemas.microsoft.com/office/drawing/2014/main" id="{EC1BCD6C-52A7-402A-BF26-398379D7D6FE}"/>
                </a:ext>
              </a:extLst>
            </p:cNvPr>
            <p:cNvCxnSpPr/>
            <p:nvPr/>
          </p:nvCxnSpPr>
          <p:spPr>
            <a:xfrm>
              <a:off x="1117493" y="2623137"/>
              <a:ext cx="3096344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172460E-6296-4F6C-9D7B-8C08F2D4A14C}"/>
              </a:ext>
            </a:extLst>
          </p:cNvPr>
          <p:cNvSpPr txBox="1"/>
          <p:nvPr/>
        </p:nvSpPr>
        <p:spPr>
          <a:xfrm>
            <a:off x="8103090" y="299146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5" name="직선 연결선 71">
            <a:extLst>
              <a:ext uri="{FF2B5EF4-FFF2-40B4-BE49-F238E27FC236}">
                <a16:creationId xmlns:a16="http://schemas.microsoft.com/office/drawing/2014/main" id="{97EC44D3-E676-4643-96AB-5D0AB0589476}"/>
              </a:ext>
            </a:extLst>
          </p:cNvPr>
          <p:cNvCxnSpPr/>
          <p:nvPr/>
        </p:nvCxnSpPr>
        <p:spPr>
          <a:xfrm>
            <a:off x="5150762" y="3709207"/>
            <a:ext cx="1270389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96">
            <a:extLst>
              <a:ext uri="{FF2B5EF4-FFF2-40B4-BE49-F238E27FC236}">
                <a16:creationId xmlns:a16="http://schemas.microsoft.com/office/drawing/2014/main" id="{4FFCD89C-BE0C-4519-A504-73A619413731}"/>
              </a:ext>
            </a:extLst>
          </p:cNvPr>
          <p:cNvSpPr/>
          <p:nvPr/>
        </p:nvSpPr>
        <p:spPr>
          <a:xfrm>
            <a:off x="6420397" y="3691422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67" name="직사각형 97">
            <a:extLst>
              <a:ext uri="{FF2B5EF4-FFF2-40B4-BE49-F238E27FC236}">
                <a16:creationId xmlns:a16="http://schemas.microsoft.com/office/drawing/2014/main" id="{FBCAA263-B216-4CE9-A176-A646F32079FC}"/>
              </a:ext>
            </a:extLst>
          </p:cNvPr>
          <p:cNvSpPr/>
          <p:nvPr/>
        </p:nvSpPr>
        <p:spPr>
          <a:xfrm>
            <a:off x="6420397" y="3148638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68" name="직사각형 98">
            <a:extLst>
              <a:ext uri="{FF2B5EF4-FFF2-40B4-BE49-F238E27FC236}">
                <a16:creationId xmlns:a16="http://schemas.microsoft.com/office/drawing/2014/main" id="{492C7EC9-8E3F-4863-81CD-9457B7E96FF6}"/>
              </a:ext>
            </a:extLst>
          </p:cNvPr>
          <p:cNvSpPr/>
          <p:nvPr/>
        </p:nvSpPr>
        <p:spPr>
          <a:xfrm>
            <a:off x="6420397" y="2169232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69" name="직사각형 100">
            <a:extLst>
              <a:ext uri="{FF2B5EF4-FFF2-40B4-BE49-F238E27FC236}">
                <a16:creationId xmlns:a16="http://schemas.microsoft.com/office/drawing/2014/main" id="{1B9C5927-76F3-4367-BDF9-66B6C1A28482}"/>
              </a:ext>
            </a:extLst>
          </p:cNvPr>
          <p:cNvSpPr/>
          <p:nvPr/>
        </p:nvSpPr>
        <p:spPr>
          <a:xfrm>
            <a:off x="6420397" y="4230299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70" name="직선 화살표 연결선 48">
            <a:extLst>
              <a:ext uri="{FF2B5EF4-FFF2-40B4-BE49-F238E27FC236}">
                <a16:creationId xmlns:a16="http://schemas.microsoft.com/office/drawing/2014/main" id="{783FE205-1D10-4C5D-9A75-C3099A620C7F}"/>
              </a:ext>
            </a:extLst>
          </p:cNvPr>
          <p:cNvCxnSpPr>
            <a:stCxn id="69" idx="0"/>
          </p:cNvCxnSpPr>
          <p:nvPr/>
        </p:nvCxnSpPr>
        <p:spPr>
          <a:xfrm>
            <a:off x="7261367" y="4230299"/>
            <a:ext cx="0" cy="36360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103">
            <a:extLst>
              <a:ext uri="{FF2B5EF4-FFF2-40B4-BE49-F238E27FC236}">
                <a16:creationId xmlns:a16="http://schemas.microsoft.com/office/drawing/2014/main" id="{E535FB5D-4969-46B5-AFF3-6C5CDE02A9DF}"/>
              </a:ext>
            </a:extLst>
          </p:cNvPr>
          <p:cNvCxnSpPr/>
          <p:nvPr/>
        </p:nvCxnSpPr>
        <p:spPr>
          <a:xfrm flipH="1">
            <a:off x="6420397" y="1907642"/>
            <a:ext cx="754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104">
            <a:extLst>
              <a:ext uri="{FF2B5EF4-FFF2-40B4-BE49-F238E27FC236}">
                <a16:creationId xmlns:a16="http://schemas.microsoft.com/office/drawing/2014/main" id="{5304D74F-B43B-4942-A221-E488234C579E}"/>
              </a:ext>
            </a:extLst>
          </p:cNvPr>
          <p:cNvCxnSpPr/>
          <p:nvPr/>
        </p:nvCxnSpPr>
        <p:spPr>
          <a:xfrm>
            <a:off x="8103090" y="1907642"/>
            <a:ext cx="0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105">
            <a:extLst>
              <a:ext uri="{FF2B5EF4-FFF2-40B4-BE49-F238E27FC236}">
                <a16:creationId xmlns:a16="http://schemas.microsoft.com/office/drawing/2014/main" id="{154F01C2-AD3E-4BF3-8491-F7C7C538AD3F}"/>
              </a:ext>
            </a:extLst>
          </p:cNvPr>
          <p:cNvCxnSpPr/>
          <p:nvPr/>
        </p:nvCxnSpPr>
        <p:spPr>
          <a:xfrm>
            <a:off x="6420397" y="5214797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107">
            <a:extLst>
              <a:ext uri="{FF2B5EF4-FFF2-40B4-BE49-F238E27FC236}">
                <a16:creationId xmlns:a16="http://schemas.microsoft.com/office/drawing/2014/main" id="{23F6F0B1-4DAB-44E9-B573-5DF414E0F32F}"/>
              </a:ext>
            </a:extLst>
          </p:cNvPr>
          <p:cNvCxnSpPr/>
          <p:nvPr/>
        </p:nvCxnSpPr>
        <p:spPr>
          <a:xfrm>
            <a:off x="8102335" y="5214797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117">
            <a:extLst>
              <a:ext uri="{FF2B5EF4-FFF2-40B4-BE49-F238E27FC236}">
                <a16:creationId xmlns:a16="http://schemas.microsoft.com/office/drawing/2014/main" id="{30427180-24F7-48C4-93DB-FF0A0AB20463}"/>
              </a:ext>
            </a:extLst>
          </p:cNvPr>
          <p:cNvCxnSpPr/>
          <p:nvPr/>
        </p:nvCxnSpPr>
        <p:spPr>
          <a:xfrm flipV="1">
            <a:off x="5150762" y="4230299"/>
            <a:ext cx="1270389" cy="1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1096274F-FE39-4A0A-9B3B-85C274B24FC6}"/>
              </a:ext>
            </a:extLst>
          </p:cNvPr>
          <p:cNvSpPr txBox="1"/>
          <p:nvPr/>
        </p:nvSpPr>
        <p:spPr>
          <a:xfrm>
            <a:off x="8103090" y="354298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7" name="직선 화살표 연결선 121">
            <a:extLst>
              <a:ext uri="{FF2B5EF4-FFF2-40B4-BE49-F238E27FC236}">
                <a16:creationId xmlns:a16="http://schemas.microsoft.com/office/drawing/2014/main" id="{5D7A5929-B603-43DB-B0D3-D33D7DA61B2A}"/>
              </a:ext>
            </a:extLst>
          </p:cNvPr>
          <p:cNvCxnSpPr/>
          <p:nvPr/>
        </p:nvCxnSpPr>
        <p:spPr>
          <a:xfrm flipH="1">
            <a:off x="8103090" y="3884977"/>
            <a:ext cx="72008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모서리가 둥근 직사각형 125">
                <a:extLst>
                  <a:ext uri="{FF2B5EF4-FFF2-40B4-BE49-F238E27FC236}">
                    <a16:creationId xmlns:a16="http://schemas.microsoft.com/office/drawing/2014/main" id="{4AA45B32-D9F0-47FE-97F5-2296E7380A3F}"/>
                  </a:ext>
                </a:extLst>
              </p:cNvPr>
              <p:cNvSpPr/>
              <p:nvPr/>
            </p:nvSpPr>
            <p:spPr>
              <a:xfrm>
                <a:off x="8823169" y="2318996"/>
                <a:ext cx="2790653" cy="3289582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Base</m:t>
                    </m:r>
                    <m:r>
                      <a:rPr lang="en-US" altLang="ko-KR" sz="1600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:34</m:t>
                    </m:r>
                    <m:r>
                      <m:rPr>
                        <m:sty m:val="p"/>
                      </m:rPr>
                      <a:rPr lang="en-US" altLang="ko-KR" sz="1600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KB</m:t>
                    </m:r>
                    <m:r>
                      <a:rPr lang="en-US" altLang="ko-KR" sz="1600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=34,816</m:t>
                    </m:r>
                  </m:oMath>
                </a14:m>
                <a:r>
                  <a:rPr lang="en-US" altLang="ko-KR" sz="1600" b="0" i="0" dirty="0">
                    <a:solidFill>
                      <a:srgbClr val="4F81BD"/>
                    </a:solidFill>
                    <a:latin typeface="Cambria Math" panose="02040503050406030204" pitchFamily="18" charset="0"/>
                    <a:ea typeface="맑은 고딕" pitchFamily="50" charset="-127"/>
                    <a:cs typeface="Courier New" pitchFamily="49" charset="0"/>
                  </a:rPr>
                  <a:t> bytes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0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Offset: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10</m:t>
                    </m:r>
                    <m:r>
                      <a:rPr lang="en-US" altLang="ko-KR" sz="1600" b="0" i="0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4</m:t>
                    </m:r>
                  </m:oMath>
                </a14:m>
                <a:endParaRPr lang="en-US" altLang="ko-KR" sz="1600" b="0" i="0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b="0" i="1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0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Physical address =  </a:t>
                </a:r>
              </a:p>
              <a:p>
                <a:r>
                  <a:rPr lang="en-US" altLang="ko-KR" sz="1600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            =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104</m:t>
                    </m:r>
                    <m:r>
                      <a:rPr lang="en-US" altLang="ko-KR" sz="1600" b="0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+34</m:t>
                    </m:r>
                    <m:r>
                      <a:rPr lang="en-US" altLang="ko-KR" sz="1600" b="0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𝐾</m:t>
                    </m:r>
                    <m:r>
                      <a:rPr lang="en-US" altLang="ko-KR" sz="1600" b="0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</m:oMath>
                </a14:m>
                <a:endParaRPr lang="en-US" altLang="ko-KR" sz="1600" b="0" i="1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r>
                  <a:rPr lang="en-US" altLang="ko-KR" sz="1600" i="1" dirty="0">
                    <a:solidFill>
                      <a:srgbClr val="4F81BD"/>
                    </a:solidFill>
                    <a:latin typeface="Cambria Math"/>
                    <a:ea typeface="맑은 고딕" pitchFamily="50" charset="-127"/>
                    <a:cs typeface="Courier New" pitchFamily="49" charset="0"/>
                  </a:rPr>
                  <a:t>            </a:t>
                </a:r>
                <a:r>
                  <a:rPr lang="en-US" altLang="ko-KR" sz="1600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104</m:t>
                    </m:r>
                    <m:r>
                      <a:rPr lang="en-US" altLang="ko-KR" sz="1600" b="0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</m:t>
                    </m:r>
                    <m:r>
                      <a:rPr lang="en-US" altLang="ko-KR" sz="1600" b="0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34</m:t>
                    </m:r>
                    <m:r>
                      <a:rPr lang="en-US" altLang="ko-KR" sz="1600" b="0" i="1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,816</m:t>
                    </m:r>
                  </m:oMath>
                </a14:m>
                <a:endParaRPr lang="en-US" altLang="ko-KR" sz="1600" b="0" i="1" dirty="0">
                  <a:solidFill>
                    <a:srgbClr val="4F81BD"/>
                  </a:solidFill>
                  <a:latin typeface="Cambria Math" panose="02040503050406030204" pitchFamily="18" charset="0"/>
                  <a:ea typeface="맑은 고딕" pitchFamily="50" charset="-127"/>
                  <a:cs typeface="Courier New" pitchFamily="49" charset="0"/>
                </a:endParaRPr>
              </a:p>
              <a:p>
                <a:r>
                  <a:rPr lang="en-US" altLang="ko-KR" sz="1600" b="0" dirty="0">
                    <a:solidFill>
                      <a:srgbClr val="4F81BD"/>
                    </a:solidFill>
                    <a:ea typeface="맑은 고딕" pitchFamily="50" charset="-127"/>
                    <a:cs typeface="Courier New" pitchFamily="49" charset="0"/>
                  </a:rPr>
                  <a:t>            =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34,</m:t>
                    </m:r>
                    <m:r>
                      <a:rPr lang="en-US" altLang="ko-KR" sz="1600" b="0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920</m:t>
                    </m:r>
                  </m:oMath>
                </a14:m>
                <a:endParaRPr lang="en-US" altLang="ko-KR" sz="1600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78" name="모서리가 둥근 직사각형 125">
                <a:extLst>
                  <a:ext uri="{FF2B5EF4-FFF2-40B4-BE49-F238E27FC236}">
                    <a16:creationId xmlns:a16="http://schemas.microsoft.com/office/drawing/2014/main" id="{4AA45B32-D9F0-47FE-97F5-2296E7380A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3169" y="2318996"/>
                <a:ext cx="2790653" cy="3289582"/>
              </a:xfrm>
              <a:prstGeom prst="roundRect">
                <a:avLst>
                  <a:gd name="adj" fmla="val 1458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그룹 24">
            <a:extLst>
              <a:ext uri="{FF2B5EF4-FFF2-40B4-BE49-F238E27FC236}">
                <a16:creationId xmlns:a16="http://schemas.microsoft.com/office/drawing/2014/main" id="{47AD3CED-6920-4759-890D-A922C864DF3F}"/>
              </a:ext>
            </a:extLst>
          </p:cNvPr>
          <p:cNvGrpSpPr/>
          <p:nvPr/>
        </p:nvGrpSpPr>
        <p:grpSpPr>
          <a:xfrm>
            <a:off x="3039589" y="2991464"/>
            <a:ext cx="2111173" cy="1718590"/>
            <a:chOff x="307604" y="3935826"/>
            <a:chExt cx="2111173" cy="171859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E4D97FB-1627-4C35-A82E-C0CAF0091BDA}"/>
                </a:ext>
              </a:extLst>
            </p:cNvPr>
            <p:cNvSpPr txBox="1"/>
            <p:nvPr/>
          </p:nvSpPr>
          <p:spPr>
            <a:xfrm>
              <a:off x="307604" y="5037423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1" name="직사각형 13">
              <a:extLst>
                <a:ext uri="{FF2B5EF4-FFF2-40B4-BE49-F238E27FC236}">
                  <a16:creationId xmlns:a16="http://schemas.microsoft.com/office/drawing/2014/main" id="{D57AB327-6431-4383-9652-00CEC859ED2D}"/>
                </a:ext>
              </a:extLst>
            </p:cNvPr>
            <p:cNvSpPr/>
            <p:nvPr/>
          </p:nvSpPr>
          <p:spPr>
            <a:xfrm>
              <a:off x="881177" y="4645852"/>
              <a:ext cx="1537600" cy="5288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cxnSp>
          <p:nvCxnSpPr>
            <p:cNvPr id="82" name="직선 연결선 30">
              <a:extLst>
                <a:ext uri="{FF2B5EF4-FFF2-40B4-BE49-F238E27FC236}">
                  <a16:creationId xmlns:a16="http://schemas.microsoft.com/office/drawing/2014/main" id="{4D40AD5D-03C9-48E0-8FBF-2A35650F4FC6}"/>
                </a:ext>
              </a:extLst>
            </p:cNvPr>
            <p:cNvCxnSpPr/>
            <p:nvPr/>
          </p:nvCxnSpPr>
          <p:spPr>
            <a:xfrm>
              <a:off x="881176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직사각형 33">
              <a:extLst>
                <a:ext uri="{FF2B5EF4-FFF2-40B4-BE49-F238E27FC236}">
                  <a16:creationId xmlns:a16="http://schemas.microsoft.com/office/drawing/2014/main" id="{DBA8A989-959C-41A2-B83B-DB660BD78B7C}"/>
                </a:ext>
              </a:extLst>
            </p:cNvPr>
            <p:cNvSpPr/>
            <p:nvPr/>
          </p:nvSpPr>
          <p:spPr>
            <a:xfrm>
              <a:off x="881176" y="4093351"/>
              <a:ext cx="1537601" cy="55295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7B29592-5461-410D-8AB6-985B353C7B98}"/>
                </a:ext>
              </a:extLst>
            </p:cNvPr>
            <p:cNvSpPr txBox="1"/>
            <p:nvPr/>
          </p:nvSpPr>
          <p:spPr>
            <a:xfrm>
              <a:off x="317828" y="447392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85" name="직선 연결선 43">
              <a:extLst>
                <a:ext uri="{FF2B5EF4-FFF2-40B4-BE49-F238E27FC236}">
                  <a16:creationId xmlns:a16="http://schemas.microsoft.com/office/drawing/2014/main" id="{3AB18BBB-8906-4350-97D0-1B1E55A8CA08}"/>
                </a:ext>
              </a:extLst>
            </p:cNvPr>
            <p:cNvCxnSpPr/>
            <p:nvPr/>
          </p:nvCxnSpPr>
          <p:spPr>
            <a:xfrm>
              <a:off x="2418777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직사각형 44">
              <a:extLst>
                <a:ext uri="{FF2B5EF4-FFF2-40B4-BE49-F238E27FC236}">
                  <a16:creationId xmlns:a16="http://schemas.microsoft.com/office/drawing/2014/main" id="{55457757-58CF-44DE-83A7-FA6B234EFDBA}"/>
                </a:ext>
              </a:extLst>
            </p:cNvPr>
            <p:cNvSpPr/>
            <p:nvPr/>
          </p:nvSpPr>
          <p:spPr>
            <a:xfrm>
              <a:off x="881175" y="5174661"/>
              <a:ext cx="1537601" cy="335739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87" name="직선 화살표 연결선 45">
              <a:extLst>
                <a:ext uri="{FF2B5EF4-FFF2-40B4-BE49-F238E27FC236}">
                  <a16:creationId xmlns:a16="http://schemas.microsoft.com/office/drawing/2014/main" id="{57341CF0-45BB-47EC-ADF8-2E51500E4120}"/>
                </a:ext>
              </a:extLst>
            </p:cNvPr>
            <p:cNvCxnSpPr>
              <a:stCxn id="86" idx="0"/>
            </p:cNvCxnSpPr>
            <p:nvPr/>
          </p:nvCxnSpPr>
          <p:spPr>
            <a:xfrm>
              <a:off x="1649976" y="5174661"/>
              <a:ext cx="1" cy="2294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ECF36F8C-C03B-43B1-B99F-A68EA6899942}"/>
              </a:ext>
            </a:extLst>
          </p:cNvPr>
          <p:cNvSpPr txBox="1"/>
          <p:nvPr/>
        </p:nvSpPr>
        <p:spPr>
          <a:xfrm>
            <a:off x="3485915" y="4752065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F5DEAE1-EDE1-402A-97ED-275626D66F1A}"/>
              </a:ext>
            </a:extLst>
          </p:cNvPr>
          <p:cNvSpPr txBox="1"/>
          <p:nvPr/>
        </p:nvSpPr>
        <p:spPr>
          <a:xfrm>
            <a:off x="6391723" y="5300802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F8A48C6-1CD6-4EAA-ADA1-1ECAEAE84A56}"/>
              </a:ext>
            </a:extLst>
          </p:cNvPr>
          <p:cNvSpPr txBox="1"/>
          <p:nvPr/>
        </p:nvSpPr>
        <p:spPr>
          <a:xfrm>
            <a:off x="3237786" y="3749653"/>
            <a:ext cx="496258" cy="246221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4200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431B486-4D47-4B2C-85E8-A165D16A8C7E}"/>
              </a:ext>
            </a:extLst>
          </p:cNvPr>
          <p:cNvSpPr txBox="1"/>
          <p:nvPr/>
        </p:nvSpPr>
        <p:spPr>
          <a:xfrm>
            <a:off x="3578199" y="37496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C6439CA-8B09-4B66-A24F-7C2E8A4F5463}"/>
              </a:ext>
            </a:extLst>
          </p:cNvPr>
          <p:cNvSpPr txBox="1"/>
          <p:nvPr/>
        </p:nvSpPr>
        <p:spPr>
          <a:xfrm>
            <a:off x="8103090" y="4076410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3" name="내용 개체 틀 2">
            <a:extLst>
              <a:ext uri="{FF2B5EF4-FFF2-40B4-BE49-F238E27FC236}">
                <a16:creationId xmlns:a16="http://schemas.microsoft.com/office/drawing/2014/main" id="{C519F9B4-57D7-4912-AE23-93287CB3B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96" y="2517613"/>
            <a:ext cx="2839279" cy="3150895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Base Address is 4KB.</a:t>
            </a:r>
          </a:p>
          <a:p>
            <a:r>
              <a:rPr lang="en-US" altLang="ko-KR" sz="1800" dirty="0"/>
              <a:t>Specific data is present at address </a:t>
            </a:r>
            <a:r>
              <a:rPr lang="en-US" altLang="ko-KR" sz="1800" b="1" dirty="0">
                <a:solidFill>
                  <a:srgbClr val="FF0000"/>
                </a:solidFill>
              </a:rPr>
              <a:t>42</a:t>
            </a:r>
            <a:r>
              <a:rPr lang="en-US" altLang="ko-KR" sz="1800" b="1" dirty="0">
                <a:solidFill>
                  <a:srgbClr val="FF0000"/>
                </a:solidFill>
                <a:cs typeface="Courier New" pitchFamily="49" charset="0"/>
              </a:rPr>
              <a:t>00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Address = Base + Offset</a:t>
            </a:r>
          </a:p>
          <a:p>
            <a:pPr marL="0" indent="0">
              <a:buNone/>
            </a:pPr>
            <a:r>
              <a:rPr lang="en-US" altLang="ko-KR" sz="1800" dirty="0"/>
              <a:t>     4200      = 4KB + Offset</a:t>
            </a:r>
          </a:p>
          <a:p>
            <a:r>
              <a:rPr lang="en-US" altLang="ko-KR" sz="1800" dirty="0"/>
              <a:t>Offset = 4200 – 4KB</a:t>
            </a:r>
          </a:p>
          <a:p>
            <a:pPr marL="0" indent="0">
              <a:buNone/>
            </a:pPr>
            <a:r>
              <a:rPr lang="en-US" altLang="ko-KR" sz="1800" dirty="0"/>
              <a:t>                = 4200 – 4096</a:t>
            </a:r>
          </a:p>
          <a:p>
            <a:pPr marL="0" indent="0">
              <a:buNone/>
            </a:pPr>
            <a:r>
              <a:rPr lang="en-US" altLang="ko-KR" sz="1800" dirty="0"/>
              <a:t>                = </a:t>
            </a:r>
            <a:r>
              <a:rPr lang="en-US" altLang="ko-KR" sz="1800" b="1" dirty="0">
                <a:solidFill>
                  <a:srgbClr val="FF0000"/>
                </a:solidFill>
              </a:rPr>
              <a:t>104 </a:t>
            </a:r>
          </a:p>
          <a:p>
            <a:endParaRPr lang="ko-KR" altLang="en-US" sz="1800" dirty="0"/>
          </a:p>
        </p:txBody>
      </p:sp>
      <p:sp>
        <p:nvSpPr>
          <p:cNvPr id="36" name="Footer Placeholder 23">
            <a:extLst>
              <a:ext uri="{FF2B5EF4-FFF2-40B4-BE49-F238E27FC236}">
                <a16:creationId xmlns:a16="http://schemas.microsoft.com/office/drawing/2014/main" id="{D1A9E4EF-C422-49C8-B213-09143A03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37" name="Slide Number Placeholder 1">
            <a:extLst>
              <a:ext uri="{FF2B5EF4-FFF2-40B4-BE49-F238E27FC236}">
                <a16:creationId xmlns:a16="http://schemas.microsoft.com/office/drawing/2014/main" id="{21B585EE-F4B9-4529-B077-48C83E67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45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B072D7-DA1A-4743-A07C-2846B8B6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/>
              <a:t>Referring to a Segment</a:t>
            </a:r>
            <a:endParaRPr lang="ko-KR" altLang="en-US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내용 개체 틀 127">
                <a:extLst>
                  <a:ext uri="{FF2B5EF4-FFF2-40B4-BE49-F238E27FC236}">
                    <a16:creationId xmlns:a16="http://schemas.microsoft.com/office/drawing/2014/main" id="{42CF7505-3F57-4388-8F24-183BB11D0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4385" y="1475516"/>
                <a:ext cx="11743225" cy="3562476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1800" dirty="0"/>
                  <a:t>Virtual address space is 16 KB. </a:t>
                </a:r>
              </a:p>
              <a:p>
                <a:r>
                  <a:rPr lang="en-US" altLang="ko-KR" sz="1800" dirty="0"/>
                  <a:t>16 KB = 16,384 bytes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endParaRPr lang="en-US" altLang="ko-KR" sz="1800" dirty="0"/>
              </a:p>
              <a:p>
                <a:r>
                  <a:rPr lang="en-US" altLang="ko-KR" sz="1800" dirty="0"/>
                  <a:t>Therefore, for a 16 KB address space, you need 14 bits of address.</a:t>
                </a:r>
              </a:p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endParaRPr lang="en-US" altLang="ko-KR" sz="1800" dirty="0"/>
              </a:p>
            </p:txBody>
          </p:sp>
        </mc:Choice>
        <mc:Fallback xmlns="">
          <p:sp>
            <p:nvSpPr>
              <p:cNvPr id="38" name="내용 개체 틀 127">
                <a:extLst>
                  <a:ext uri="{FF2B5EF4-FFF2-40B4-BE49-F238E27FC236}">
                    <a16:creationId xmlns:a16="http://schemas.microsoft.com/office/drawing/2014/main" id="{42CF7505-3F57-4388-8F24-183BB11D0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4385" y="1475516"/>
                <a:ext cx="11743225" cy="3562476"/>
              </a:xfrm>
              <a:blipFill>
                <a:blip r:embed="rId2"/>
                <a:stretch>
                  <a:fillRect l="-363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그룹 139">
            <a:extLst>
              <a:ext uri="{FF2B5EF4-FFF2-40B4-BE49-F238E27FC236}">
                <a16:creationId xmlns:a16="http://schemas.microsoft.com/office/drawing/2014/main" id="{CFDCF072-93E7-40CF-8063-832EF3C2512C}"/>
              </a:ext>
            </a:extLst>
          </p:cNvPr>
          <p:cNvGrpSpPr/>
          <p:nvPr/>
        </p:nvGrpSpPr>
        <p:grpSpPr>
          <a:xfrm>
            <a:off x="3395440" y="3256754"/>
            <a:ext cx="5401114" cy="1353118"/>
            <a:chOff x="1485064" y="1787850"/>
            <a:chExt cx="5401114" cy="1353118"/>
          </a:xfrm>
        </p:grpSpPr>
        <p:grpSp>
          <p:nvGrpSpPr>
            <p:cNvPr id="40" name="그룹 126">
              <a:extLst>
                <a:ext uri="{FF2B5EF4-FFF2-40B4-BE49-F238E27FC236}">
                  <a16:creationId xmlns:a16="http://schemas.microsoft.com/office/drawing/2014/main" id="{A0A09318-9C0C-4BEE-B324-D1E34104D4F2}"/>
                </a:ext>
              </a:extLst>
            </p:cNvPr>
            <p:cNvGrpSpPr/>
            <p:nvPr/>
          </p:nvGrpSpPr>
          <p:grpSpPr>
            <a:xfrm>
              <a:off x="1831554" y="1787850"/>
              <a:ext cx="5054624" cy="648071"/>
              <a:chOff x="1831554" y="3501008"/>
              <a:chExt cx="5054624" cy="648071"/>
            </a:xfrm>
          </p:grpSpPr>
          <p:grpSp>
            <p:nvGrpSpPr>
              <p:cNvPr id="49" name="그룹 125">
                <a:extLst>
                  <a:ext uri="{FF2B5EF4-FFF2-40B4-BE49-F238E27FC236}">
                    <a16:creationId xmlns:a16="http://schemas.microsoft.com/office/drawing/2014/main" id="{66936546-10F8-4B05-9ED5-9BA47499095F}"/>
                  </a:ext>
                </a:extLst>
              </p:cNvPr>
              <p:cNvGrpSpPr/>
              <p:nvPr/>
            </p:nvGrpSpPr>
            <p:grpSpPr>
              <a:xfrm>
                <a:off x="1831554" y="3501008"/>
                <a:ext cx="5044702" cy="360040"/>
                <a:chOff x="1831554" y="3501008"/>
                <a:chExt cx="5044702" cy="360040"/>
              </a:xfrm>
            </p:grpSpPr>
            <p:sp>
              <p:nvSpPr>
                <p:cNvPr id="98" name="직사각형 48">
                  <a:extLst>
                    <a:ext uri="{FF2B5EF4-FFF2-40B4-BE49-F238E27FC236}">
                      <a16:creationId xmlns:a16="http://schemas.microsoft.com/office/drawing/2014/main" id="{584FCCDB-8063-4B7B-B75E-9FB6D99ED0E1}"/>
                    </a:ext>
                  </a:extLst>
                </p:cNvPr>
                <p:cNvSpPr/>
                <p:nvPr/>
              </p:nvSpPr>
              <p:spPr>
                <a:xfrm>
                  <a:off x="651621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0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99" name="직사각형 49">
                  <a:extLst>
                    <a:ext uri="{FF2B5EF4-FFF2-40B4-BE49-F238E27FC236}">
                      <a16:creationId xmlns:a16="http://schemas.microsoft.com/office/drawing/2014/main" id="{8AD14874-1BE6-44ED-936F-736673B077B1}"/>
                    </a:ext>
                  </a:extLst>
                </p:cNvPr>
                <p:cNvSpPr/>
                <p:nvPr/>
              </p:nvSpPr>
              <p:spPr>
                <a:xfrm>
                  <a:off x="1831554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13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0" name="직사각형 50">
                  <a:extLst>
                    <a:ext uri="{FF2B5EF4-FFF2-40B4-BE49-F238E27FC236}">
                      <a16:creationId xmlns:a16="http://schemas.microsoft.com/office/drawing/2014/main" id="{DFA3E273-BD2C-425D-9B80-D15B6DDF7857}"/>
                    </a:ext>
                  </a:extLst>
                </p:cNvPr>
                <p:cNvSpPr/>
                <p:nvPr/>
              </p:nvSpPr>
              <p:spPr>
                <a:xfrm>
                  <a:off x="615697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1" name="직사각형 51">
                  <a:extLst>
                    <a:ext uri="{FF2B5EF4-FFF2-40B4-BE49-F238E27FC236}">
                      <a16:creationId xmlns:a16="http://schemas.microsoft.com/office/drawing/2014/main" id="{1DE01174-3543-424A-89EF-4FB953E8D991}"/>
                    </a:ext>
                  </a:extLst>
                </p:cNvPr>
                <p:cNvSpPr/>
                <p:nvPr/>
              </p:nvSpPr>
              <p:spPr>
                <a:xfrm>
                  <a:off x="2191594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12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2" name="직사각형 52">
                  <a:extLst>
                    <a:ext uri="{FF2B5EF4-FFF2-40B4-BE49-F238E27FC236}">
                      <a16:creationId xmlns:a16="http://schemas.microsoft.com/office/drawing/2014/main" id="{556FF303-350E-4E9B-8B30-57EE3CBF8667}"/>
                    </a:ext>
                  </a:extLst>
                </p:cNvPr>
                <p:cNvSpPr/>
                <p:nvPr/>
              </p:nvSpPr>
              <p:spPr>
                <a:xfrm>
                  <a:off x="579693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2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3" name="직사각형 53">
                  <a:extLst>
                    <a:ext uri="{FF2B5EF4-FFF2-40B4-BE49-F238E27FC236}">
                      <a16:creationId xmlns:a16="http://schemas.microsoft.com/office/drawing/2014/main" id="{AEC557EE-990F-4315-A0D9-C4E9EA3DBAE9}"/>
                    </a:ext>
                  </a:extLst>
                </p:cNvPr>
                <p:cNvSpPr/>
                <p:nvPr/>
              </p:nvSpPr>
              <p:spPr>
                <a:xfrm>
                  <a:off x="255546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11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4" name="직사각형 54">
                  <a:extLst>
                    <a:ext uri="{FF2B5EF4-FFF2-40B4-BE49-F238E27FC236}">
                      <a16:creationId xmlns:a16="http://schemas.microsoft.com/office/drawing/2014/main" id="{C9773513-1C01-4F10-8198-77FF58554824}"/>
                    </a:ext>
                  </a:extLst>
                </p:cNvPr>
                <p:cNvSpPr/>
                <p:nvPr/>
              </p:nvSpPr>
              <p:spPr>
                <a:xfrm>
                  <a:off x="543689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3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5" name="직사각형 55">
                  <a:extLst>
                    <a:ext uri="{FF2B5EF4-FFF2-40B4-BE49-F238E27FC236}">
                      <a16:creationId xmlns:a16="http://schemas.microsoft.com/office/drawing/2014/main" id="{D38DA4B6-B7B9-486F-9769-44D51D9A2B9D}"/>
                    </a:ext>
                  </a:extLst>
                </p:cNvPr>
                <p:cNvSpPr/>
                <p:nvPr/>
              </p:nvSpPr>
              <p:spPr>
                <a:xfrm>
                  <a:off x="291550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10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6" name="직사각형 56">
                  <a:extLst>
                    <a:ext uri="{FF2B5EF4-FFF2-40B4-BE49-F238E27FC236}">
                      <a16:creationId xmlns:a16="http://schemas.microsoft.com/office/drawing/2014/main" id="{5F86AC0D-477F-425B-824F-18DBD915F8AF}"/>
                    </a:ext>
                  </a:extLst>
                </p:cNvPr>
                <p:cNvSpPr/>
                <p:nvPr/>
              </p:nvSpPr>
              <p:spPr>
                <a:xfrm>
                  <a:off x="507574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4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7" name="직사각형 57">
                  <a:extLst>
                    <a:ext uri="{FF2B5EF4-FFF2-40B4-BE49-F238E27FC236}">
                      <a16:creationId xmlns:a16="http://schemas.microsoft.com/office/drawing/2014/main" id="{3FB3BAEF-C6B6-45D6-A227-58A644275A0C}"/>
                    </a:ext>
                  </a:extLst>
                </p:cNvPr>
                <p:cNvSpPr/>
                <p:nvPr/>
              </p:nvSpPr>
              <p:spPr>
                <a:xfrm>
                  <a:off x="3277208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9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8" name="직사각형 58">
                  <a:extLst>
                    <a:ext uri="{FF2B5EF4-FFF2-40B4-BE49-F238E27FC236}">
                      <a16:creationId xmlns:a16="http://schemas.microsoft.com/office/drawing/2014/main" id="{20655B85-ADD7-49BC-BCF6-67D2C8803226}"/>
                    </a:ext>
                  </a:extLst>
                </p:cNvPr>
                <p:cNvSpPr/>
                <p:nvPr/>
              </p:nvSpPr>
              <p:spPr>
                <a:xfrm>
                  <a:off x="3637248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8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9" name="직사각형 59">
                  <a:extLst>
                    <a:ext uri="{FF2B5EF4-FFF2-40B4-BE49-F238E27FC236}">
                      <a16:creationId xmlns:a16="http://schemas.microsoft.com/office/drawing/2014/main" id="{57BD9737-BA3D-4A73-93F1-FC05625963A7}"/>
                    </a:ext>
                  </a:extLst>
                </p:cNvPr>
                <p:cNvSpPr/>
                <p:nvPr/>
              </p:nvSpPr>
              <p:spPr>
                <a:xfrm>
                  <a:off x="399562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7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10" name="직사각형 60">
                  <a:extLst>
                    <a:ext uri="{FF2B5EF4-FFF2-40B4-BE49-F238E27FC236}">
                      <a16:creationId xmlns:a16="http://schemas.microsoft.com/office/drawing/2014/main" id="{A2461ED2-EE56-406B-908D-5E8CF1A552EF}"/>
                    </a:ext>
                  </a:extLst>
                </p:cNvPr>
                <p:cNvSpPr/>
                <p:nvPr/>
              </p:nvSpPr>
              <p:spPr>
                <a:xfrm>
                  <a:off x="435566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6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11" name="직사각형 61">
                  <a:extLst>
                    <a:ext uri="{FF2B5EF4-FFF2-40B4-BE49-F238E27FC236}">
                      <a16:creationId xmlns:a16="http://schemas.microsoft.com/office/drawing/2014/main" id="{DBD57F3B-EA9F-4484-AF58-C8BDBC9E4036}"/>
                    </a:ext>
                  </a:extLst>
                </p:cNvPr>
                <p:cNvSpPr/>
                <p:nvPr/>
              </p:nvSpPr>
              <p:spPr>
                <a:xfrm>
                  <a:off x="471570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5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</p:grpSp>
          <p:grpSp>
            <p:nvGrpSpPr>
              <p:cNvPr id="50" name="그룹 124">
                <a:extLst>
                  <a:ext uri="{FF2B5EF4-FFF2-40B4-BE49-F238E27FC236}">
                    <a16:creationId xmlns:a16="http://schemas.microsoft.com/office/drawing/2014/main" id="{06314284-CCEB-4DF5-BBCB-A2918475A0E5}"/>
                  </a:ext>
                </a:extLst>
              </p:cNvPr>
              <p:cNvGrpSpPr/>
              <p:nvPr/>
            </p:nvGrpSpPr>
            <p:grpSpPr>
              <a:xfrm>
                <a:off x="1845308" y="3789038"/>
                <a:ext cx="5040870" cy="360041"/>
                <a:chOff x="1845308" y="3789038"/>
                <a:chExt cx="5040870" cy="360041"/>
              </a:xfrm>
            </p:grpSpPr>
            <p:cxnSp>
              <p:nvCxnSpPr>
                <p:cNvPr id="51" name="직선 연결선 95">
                  <a:extLst>
                    <a:ext uri="{FF2B5EF4-FFF2-40B4-BE49-F238E27FC236}">
                      <a16:creationId xmlns:a16="http://schemas.microsoft.com/office/drawing/2014/main" id="{E9E14A79-9799-41CA-9F66-074FEA999B01}"/>
                    </a:ext>
                  </a:extLst>
                </p:cNvPr>
                <p:cNvCxnSpPr/>
                <p:nvPr/>
              </p:nvCxnSpPr>
              <p:spPr>
                <a:xfrm>
                  <a:off x="2200635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99">
                  <a:extLst>
                    <a:ext uri="{FF2B5EF4-FFF2-40B4-BE49-F238E27FC236}">
                      <a16:creationId xmlns:a16="http://schemas.microsoft.com/office/drawing/2014/main" id="{549FF1CB-8102-4D95-8A9F-2A2214E84FC1}"/>
                    </a:ext>
                  </a:extLst>
                </p:cNvPr>
                <p:cNvCxnSpPr/>
                <p:nvPr/>
              </p:nvCxnSpPr>
              <p:spPr>
                <a:xfrm>
                  <a:off x="2554672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100">
                  <a:extLst>
                    <a:ext uri="{FF2B5EF4-FFF2-40B4-BE49-F238E27FC236}">
                      <a16:creationId xmlns:a16="http://schemas.microsoft.com/office/drawing/2014/main" id="{3BF1956A-00DB-4E1E-B71A-65EBF0BB2AD8}"/>
                    </a:ext>
                  </a:extLst>
                </p:cNvPr>
                <p:cNvCxnSpPr/>
                <p:nvPr/>
              </p:nvCxnSpPr>
              <p:spPr>
                <a:xfrm>
                  <a:off x="2914712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101">
                  <a:extLst>
                    <a:ext uri="{FF2B5EF4-FFF2-40B4-BE49-F238E27FC236}">
                      <a16:creationId xmlns:a16="http://schemas.microsoft.com/office/drawing/2014/main" id="{8FD8418F-2075-43D9-85E1-751A24D8ACC6}"/>
                    </a:ext>
                  </a:extLst>
                </p:cNvPr>
                <p:cNvCxnSpPr/>
                <p:nvPr/>
              </p:nvCxnSpPr>
              <p:spPr>
                <a:xfrm>
                  <a:off x="3276414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102">
                  <a:extLst>
                    <a:ext uri="{FF2B5EF4-FFF2-40B4-BE49-F238E27FC236}">
                      <a16:creationId xmlns:a16="http://schemas.microsoft.com/office/drawing/2014/main" id="{1ABE3BD1-DFCA-4F6F-AE80-03D6C3720881}"/>
                    </a:ext>
                  </a:extLst>
                </p:cNvPr>
                <p:cNvCxnSpPr/>
                <p:nvPr/>
              </p:nvCxnSpPr>
              <p:spPr>
                <a:xfrm>
                  <a:off x="3636454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103">
                  <a:extLst>
                    <a:ext uri="{FF2B5EF4-FFF2-40B4-BE49-F238E27FC236}">
                      <a16:creationId xmlns:a16="http://schemas.microsoft.com/office/drawing/2014/main" id="{965F1874-0147-4CE2-9AFC-BDDB31FF153F}"/>
                    </a:ext>
                  </a:extLst>
                </p:cNvPr>
                <p:cNvCxnSpPr/>
                <p:nvPr/>
              </p:nvCxnSpPr>
              <p:spPr>
                <a:xfrm flipH="1">
                  <a:off x="3994832" y="3789040"/>
                  <a:ext cx="2022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104">
                  <a:extLst>
                    <a:ext uri="{FF2B5EF4-FFF2-40B4-BE49-F238E27FC236}">
                      <a16:creationId xmlns:a16="http://schemas.microsoft.com/office/drawing/2014/main" id="{A47FFB80-49EF-4503-A2D8-F93EA810CC47}"/>
                    </a:ext>
                  </a:extLst>
                </p:cNvPr>
                <p:cNvCxnSpPr>
                  <a:endCxn id="97" idx="2"/>
                </p:cNvCxnSpPr>
                <p:nvPr/>
              </p:nvCxnSpPr>
              <p:spPr>
                <a:xfrm>
                  <a:off x="4365743" y="3789038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105">
                  <a:extLst>
                    <a:ext uri="{FF2B5EF4-FFF2-40B4-BE49-F238E27FC236}">
                      <a16:creationId xmlns:a16="http://schemas.microsoft.com/office/drawing/2014/main" id="{A1AD9660-D654-4532-99FF-CD19A3E9C3C2}"/>
                    </a:ext>
                  </a:extLst>
                </p:cNvPr>
                <p:cNvCxnSpPr/>
                <p:nvPr/>
              </p:nvCxnSpPr>
              <p:spPr>
                <a:xfrm>
                  <a:off x="4721622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106">
                  <a:extLst>
                    <a:ext uri="{FF2B5EF4-FFF2-40B4-BE49-F238E27FC236}">
                      <a16:creationId xmlns:a16="http://schemas.microsoft.com/office/drawing/2014/main" id="{BD1B367A-BA9F-4044-A2BF-2FF497052687}"/>
                    </a:ext>
                  </a:extLst>
                </p:cNvPr>
                <p:cNvCxnSpPr/>
                <p:nvPr/>
              </p:nvCxnSpPr>
              <p:spPr>
                <a:xfrm>
                  <a:off x="5076056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직선 연결선 107">
                  <a:extLst>
                    <a:ext uri="{FF2B5EF4-FFF2-40B4-BE49-F238E27FC236}">
                      <a16:creationId xmlns:a16="http://schemas.microsoft.com/office/drawing/2014/main" id="{5CB774C0-2AAA-4784-8AFE-0483EE1D20B2}"/>
                    </a:ext>
                  </a:extLst>
                </p:cNvPr>
                <p:cNvCxnSpPr/>
                <p:nvPr/>
              </p:nvCxnSpPr>
              <p:spPr>
                <a:xfrm flipH="1">
                  <a:off x="5434992" y="3789040"/>
                  <a:ext cx="1464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직선 연결선 108">
                  <a:extLst>
                    <a:ext uri="{FF2B5EF4-FFF2-40B4-BE49-F238E27FC236}">
                      <a16:creationId xmlns:a16="http://schemas.microsoft.com/office/drawing/2014/main" id="{AE1D253A-2CCF-46BB-B02E-0BDBC3993554}"/>
                    </a:ext>
                  </a:extLst>
                </p:cNvPr>
                <p:cNvCxnSpPr/>
                <p:nvPr/>
              </p:nvCxnSpPr>
              <p:spPr>
                <a:xfrm>
                  <a:off x="5796136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직선 연결선 109">
                  <a:extLst>
                    <a:ext uri="{FF2B5EF4-FFF2-40B4-BE49-F238E27FC236}">
                      <a16:creationId xmlns:a16="http://schemas.microsoft.com/office/drawing/2014/main" id="{39752E2B-66CC-482C-820C-61E6FFD8442E}"/>
                    </a:ext>
                  </a:extLst>
                </p:cNvPr>
                <p:cNvCxnSpPr/>
                <p:nvPr/>
              </p:nvCxnSpPr>
              <p:spPr>
                <a:xfrm>
                  <a:off x="6156176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직선 연결선 110">
                  <a:extLst>
                    <a:ext uri="{FF2B5EF4-FFF2-40B4-BE49-F238E27FC236}">
                      <a16:creationId xmlns:a16="http://schemas.microsoft.com/office/drawing/2014/main" id="{6CB79FD0-8D36-459D-B73E-82694D384967}"/>
                    </a:ext>
                  </a:extLst>
                </p:cNvPr>
                <p:cNvCxnSpPr/>
                <p:nvPr/>
              </p:nvCxnSpPr>
              <p:spPr>
                <a:xfrm>
                  <a:off x="6516216" y="3798566"/>
                  <a:ext cx="0" cy="350513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직사각형 93">
                  <a:extLst>
                    <a:ext uri="{FF2B5EF4-FFF2-40B4-BE49-F238E27FC236}">
                      <a16:creationId xmlns:a16="http://schemas.microsoft.com/office/drawing/2014/main" id="{EFE578B1-FD57-4103-AD96-0E588CCFC5C2}"/>
                    </a:ext>
                  </a:extLst>
                </p:cNvPr>
                <p:cNvSpPr/>
                <p:nvPr/>
              </p:nvSpPr>
              <p:spPr>
                <a:xfrm>
                  <a:off x="1845308" y="3789039"/>
                  <a:ext cx="5040870" cy="36003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252000" rtlCol="0" anchor="ctr">
                  <a:noAutofit/>
                </a:bodyPr>
                <a:lstStyle/>
                <a:p>
                  <a:pPr algn="ctr"/>
                  <a:endParaRPr lang="ko-KR" altLang="en-US" sz="1600" dirty="0">
                    <a:solidFill>
                      <a:prstClr val="black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30297D4-9180-481D-83BF-8B924FB67C19}"/>
                </a:ext>
              </a:extLst>
            </p:cNvPr>
            <p:cNvSpPr txBox="1"/>
            <p:nvPr/>
          </p:nvSpPr>
          <p:spPr>
            <a:xfrm>
              <a:off x="1485064" y="2833191"/>
              <a:ext cx="1432904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Segment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42" name="그룹 135">
              <a:extLst>
                <a:ext uri="{FF2B5EF4-FFF2-40B4-BE49-F238E27FC236}">
                  <a16:creationId xmlns:a16="http://schemas.microsoft.com/office/drawing/2014/main" id="{E7514C40-B473-4CAC-A7F1-DD5F8DD80578}"/>
                </a:ext>
              </a:extLst>
            </p:cNvPr>
            <p:cNvGrpSpPr/>
            <p:nvPr/>
          </p:nvGrpSpPr>
          <p:grpSpPr>
            <a:xfrm>
              <a:off x="2575309" y="2520004"/>
              <a:ext cx="4310869" cy="304518"/>
              <a:chOff x="2575309" y="2576978"/>
              <a:chExt cx="4310869" cy="304518"/>
            </a:xfrm>
          </p:grpSpPr>
          <p:sp>
            <p:nvSpPr>
              <p:cNvPr id="47" name="왼쪽 대괄호 129">
                <a:extLst>
                  <a:ext uri="{FF2B5EF4-FFF2-40B4-BE49-F238E27FC236}">
                    <a16:creationId xmlns:a16="http://schemas.microsoft.com/office/drawing/2014/main" id="{0A0E06C1-157E-4BD8-A195-331ABC038AF1}"/>
                  </a:ext>
                </a:extLst>
              </p:cNvPr>
              <p:cNvSpPr/>
              <p:nvPr/>
            </p:nvSpPr>
            <p:spPr>
              <a:xfrm rot="16200000">
                <a:off x="4636213" y="516074"/>
                <a:ext cx="189061" cy="4310869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8" name="직선 연결선 132">
                <a:extLst>
                  <a:ext uri="{FF2B5EF4-FFF2-40B4-BE49-F238E27FC236}">
                    <a16:creationId xmlns:a16="http://schemas.microsoft.com/office/drawing/2014/main" id="{8C733C37-BB3D-43F0-A67B-0137E1550092}"/>
                  </a:ext>
                </a:extLst>
              </p:cNvPr>
              <p:cNvCxnSpPr/>
              <p:nvPr/>
            </p:nvCxnSpPr>
            <p:spPr>
              <a:xfrm>
                <a:off x="4559784" y="2766040"/>
                <a:ext cx="0" cy="115456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137">
              <a:extLst>
                <a:ext uri="{FF2B5EF4-FFF2-40B4-BE49-F238E27FC236}">
                  <a16:creationId xmlns:a16="http://schemas.microsoft.com/office/drawing/2014/main" id="{8872B9F0-F4C3-4144-907C-BAD6BB180D1A}"/>
                </a:ext>
              </a:extLst>
            </p:cNvPr>
            <p:cNvGrpSpPr/>
            <p:nvPr/>
          </p:nvGrpSpPr>
          <p:grpSpPr>
            <a:xfrm>
              <a:off x="1851398" y="2520005"/>
              <a:ext cx="700237" cy="304517"/>
              <a:chOff x="1851398" y="2576979"/>
              <a:chExt cx="700237" cy="304517"/>
            </a:xfrm>
          </p:grpSpPr>
          <p:sp>
            <p:nvSpPr>
              <p:cNvPr id="45" name="왼쪽 대괄호 128">
                <a:extLst>
                  <a:ext uri="{FF2B5EF4-FFF2-40B4-BE49-F238E27FC236}">
                    <a16:creationId xmlns:a16="http://schemas.microsoft.com/office/drawing/2014/main" id="{32CB0D3E-70E8-43BE-B8B2-0C2211B9A506}"/>
                  </a:ext>
                </a:extLst>
              </p:cNvPr>
              <p:cNvSpPr/>
              <p:nvPr/>
            </p:nvSpPr>
            <p:spPr>
              <a:xfrm rot="16200000">
                <a:off x="2106986" y="2321391"/>
                <a:ext cx="189061" cy="700237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6" name="직선 연결선 136">
                <a:extLst>
                  <a:ext uri="{FF2B5EF4-FFF2-40B4-BE49-F238E27FC236}">
                    <a16:creationId xmlns:a16="http://schemas.microsoft.com/office/drawing/2014/main" id="{F7E8A84C-7FBF-4706-BF22-0741A13252B1}"/>
                  </a:ext>
                </a:extLst>
              </p:cNvPr>
              <p:cNvCxnSpPr/>
              <p:nvPr/>
            </p:nvCxnSpPr>
            <p:spPr>
              <a:xfrm>
                <a:off x="2201516" y="2766040"/>
                <a:ext cx="0" cy="115456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438128B-D9D0-4DE0-A8B8-E06E3BDB5004}"/>
                </a:ext>
              </a:extLst>
            </p:cNvPr>
            <p:cNvSpPr txBox="1"/>
            <p:nvPr/>
          </p:nvSpPr>
          <p:spPr>
            <a:xfrm>
              <a:off x="3843332" y="2833191"/>
              <a:ext cx="1432904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Offset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70" name="Footer Placeholder 23">
            <a:extLst>
              <a:ext uri="{FF2B5EF4-FFF2-40B4-BE49-F238E27FC236}">
                <a16:creationId xmlns:a16="http://schemas.microsoft.com/office/drawing/2014/main" id="{01230728-572D-4ABD-8323-CACE802A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61" name="Slide Number Placeholder 1">
            <a:extLst>
              <a:ext uri="{FF2B5EF4-FFF2-40B4-BE49-F238E27FC236}">
                <a16:creationId xmlns:a16="http://schemas.microsoft.com/office/drawing/2014/main" id="{BC329C9F-F72B-4573-9648-40D34B465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76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B072D7-DA1A-4743-A07C-2846B8B6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/>
              <a:t>Referring to a Segment</a:t>
            </a:r>
            <a:endParaRPr lang="ko-KR" altLang="en-US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내용 개체 틀 127">
                <a:extLst>
                  <a:ext uri="{FF2B5EF4-FFF2-40B4-BE49-F238E27FC236}">
                    <a16:creationId xmlns:a16="http://schemas.microsoft.com/office/drawing/2014/main" id="{42CF7505-3F57-4388-8F24-183BB11D0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4385" y="1018316"/>
                <a:ext cx="11743225" cy="550125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1800" b="1" dirty="0"/>
                  <a:t>Explicit approach: </a:t>
                </a:r>
                <a:r>
                  <a:rPr lang="en-US" altLang="ko-KR" sz="1800" dirty="0"/>
                  <a:t>Chop up the address space into segments based on the </a:t>
                </a:r>
                <a:r>
                  <a:rPr lang="en-US" altLang="ko-KR" sz="1800" b="1" dirty="0"/>
                  <a:t>top few bits </a:t>
                </a:r>
                <a:r>
                  <a:rPr lang="en-US" altLang="ko-KR" sz="1800" dirty="0"/>
                  <a:t>of virtual address.</a:t>
                </a:r>
              </a:p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r>
                  <a:rPr lang="en-US" altLang="ko-KR" sz="1800" dirty="0"/>
                  <a:t>Example: virtual address 4200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altLang="ko-KR" sz="1800" dirty="0"/>
                  <a:t> Physical address with (Base: 34KB) and (Offset: 104)</a:t>
                </a:r>
              </a:p>
              <a:p>
                <a:pPr lvl="1"/>
                <a:r>
                  <a:rPr lang="en-US" altLang="ko-KR" sz="1600" dirty="0"/>
                  <a:t>Therefore, 4200 Virtual address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altLang="ko-KR" sz="1600" dirty="0"/>
                  <a:t> Within Heap (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01</a:t>
                </a:r>
                <a:r>
                  <a:rPr lang="en-US" altLang="ko-KR" sz="1600" dirty="0"/>
                  <a:t>) and offset of 104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≡ ×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ko-KR" sz="16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altLang="ko-KR" sz="1600" dirty="0"/>
                  <a:t>H = (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0000</a:t>
                </a:r>
                <a:r>
                  <a:rPr lang="en-US" altLang="ko-KR" sz="1600" b="1" dirty="0">
                    <a:solidFill>
                      <a:srgbClr val="0070C0"/>
                    </a:solidFill>
                  </a:rPr>
                  <a:t>0110</a:t>
                </a:r>
                <a:r>
                  <a:rPr lang="en-US" altLang="ko-KR" sz="1600" b="1" dirty="0">
                    <a:solidFill>
                      <a:srgbClr val="00B050"/>
                    </a:solidFill>
                  </a:rPr>
                  <a:t>1000</a:t>
                </a:r>
                <a:r>
                  <a:rPr lang="en-US" altLang="ko-KR" sz="1600" dirty="0"/>
                  <a:t>)  </a:t>
                </a:r>
              </a:p>
            </p:txBody>
          </p:sp>
        </mc:Choice>
        <mc:Fallback xmlns="">
          <p:sp>
            <p:nvSpPr>
              <p:cNvPr id="38" name="내용 개체 틀 127">
                <a:extLst>
                  <a:ext uri="{FF2B5EF4-FFF2-40B4-BE49-F238E27FC236}">
                    <a16:creationId xmlns:a16="http://schemas.microsoft.com/office/drawing/2014/main" id="{42CF7505-3F57-4388-8F24-183BB11D0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4385" y="1018316"/>
                <a:ext cx="11743225" cy="5501258"/>
              </a:xfrm>
              <a:blipFill>
                <a:blip r:embed="rId2"/>
                <a:stretch>
                  <a:fillRect l="-363" t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그룹 139">
            <a:extLst>
              <a:ext uri="{FF2B5EF4-FFF2-40B4-BE49-F238E27FC236}">
                <a16:creationId xmlns:a16="http://schemas.microsoft.com/office/drawing/2014/main" id="{CFDCF072-93E7-40CF-8063-832EF3C2512C}"/>
              </a:ext>
            </a:extLst>
          </p:cNvPr>
          <p:cNvGrpSpPr/>
          <p:nvPr/>
        </p:nvGrpSpPr>
        <p:grpSpPr>
          <a:xfrm>
            <a:off x="3395440" y="1595176"/>
            <a:ext cx="5401114" cy="1353118"/>
            <a:chOff x="1485064" y="1787850"/>
            <a:chExt cx="5401114" cy="1353118"/>
          </a:xfrm>
        </p:grpSpPr>
        <p:grpSp>
          <p:nvGrpSpPr>
            <p:cNvPr id="40" name="그룹 126">
              <a:extLst>
                <a:ext uri="{FF2B5EF4-FFF2-40B4-BE49-F238E27FC236}">
                  <a16:creationId xmlns:a16="http://schemas.microsoft.com/office/drawing/2014/main" id="{A0A09318-9C0C-4BEE-B324-D1E34104D4F2}"/>
                </a:ext>
              </a:extLst>
            </p:cNvPr>
            <p:cNvGrpSpPr/>
            <p:nvPr/>
          </p:nvGrpSpPr>
          <p:grpSpPr>
            <a:xfrm>
              <a:off x="1831554" y="1787850"/>
              <a:ext cx="5054624" cy="648071"/>
              <a:chOff x="1831554" y="3501008"/>
              <a:chExt cx="5054624" cy="648071"/>
            </a:xfrm>
          </p:grpSpPr>
          <p:grpSp>
            <p:nvGrpSpPr>
              <p:cNvPr id="49" name="그룹 125">
                <a:extLst>
                  <a:ext uri="{FF2B5EF4-FFF2-40B4-BE49-F238E27FC236}">
                    <a16:creationId xmlns:a16="http://schemas.microsoft.com/office/drawing/2014/main" id="{66936546-10F8-4B05-9ED5-9BA47499095F}"/>
                  </a:ext>
                </a:extLst>
              </p:cNvPr>
              <p:cNvGrpSpPr/>
              <p:nvPr/>
            </p:nvGrpSpPr>
            <p:grpSpPr>
              <a:xfrm>
                <a:off x="1831554" y="3501008"/>
                <a:ext cx="5044702" cy="360040"/>
                <a:chOff x="1831554" y="3501008"/>
                <a:chExt cx="5044702" cy="360040"/>
              </a:xfrm>
            </p:grpSpPr>
            <p:sp>
              <p:nvSpPr>
                <p:cNvPr id="98" name="직사각형 48">
                  <a:extLst>
                    <a:ext uri="{FF2B5EF4-FFF2-40B4-BE49-F238E27FC236}">
                      <a16:creationId xmlns:a16="http://schemas.microsoft.com/office/drawing/2014/main" id="{584FCCDB-8063-4B7B-B75E-9FB6D99ED0E1}"/>
                    </a:ext>
                  </a:extLst>
                </p:cNvPr>
                <p:cNvSpPr/>
                <p:nvPr/>
              </p:nvSpPr>
              <p:spPr>
                <a:xfrm>
                  <a:off x="651621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0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99" name="직사각형 49">
                  <a:extLst>
                    <a:ext uri="{FF2B5EF4-FFF2-40B4-BE49-F238E27FC236}">
                      <a16:creationId xmlns:a16="http://schemas.microsoft.com/office/drawing/2014/main" id="{8AD14874-1BE6-44ED-936F-736673B077B1}"/>
                    </a:ext>
                  </a:extLst>
                </p:cNvPr>
                <p:cNvSpPr/>
                <p:nvPr/>
              </p:nvSpPr>
              <p:spPr>
                <a:xfrm>
                  <a:off x="1831554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13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0" name="직사각형 50">
                  <a:extLst>
                    <a:ext uri="{FF2B5EF4-FFF2-40B4-BE49-F238E27FC236}">
                      <a16:creationId xmlns:a16="http://schemas.microsoft.com/office/drawing/2014/main" id="{DFA3E273-BD2C-425D-9B80-D15B6DDF7857}"/>
                    </a:ext>
                  </a:extLst>
                </p:cNvPr>
                <p:cNvSpPr/>
                <p:nvPr/>
              </p:nvSpPr>
              <p:spPr>
                <a:xfrm>
                  <a:off x="615697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1" name="직사각형 51">
                  <a:extLst>
                    <a:ext uri="{FF2B5EF4-FFF2-40B4-BE49-F238E27FC236}">
                      <a16:creationId xmlns:a16="http://schemas.microsoft.com/office/drawing/2014/main" id="{1DE01174-3543-424A-89EF-4FB953E8D991}"/>
                    </a:ext>
                  </a:extLst>
                </p:cNvPr>
                <p:cNvSpPr/>
                <p:nvPr/>
              </p:nvSpPr>
              <p:spPr>
                <a:xfrm>
                  <a:off x="2191594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12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2" name="직사각형 52">
                  <a:extLst>
                    <a:ext uri="{FF2B5EF4-FFF2-40B4-BE49-F238E27FC236}">
                      <a16:creationId xmlns:a16="http://schemas.microsoft.com/office/drawing/2014/main" id="{556FF303-350E-4E9B-8B30-57EE3CBF8667}"/>
                    </a:ext>
                  </a:extLst>
                </p:cNvPr>
                <p:cNvSpPr/>
                <p:nvPr/>
              </p:nvSpPr>
              <p:spPr>
                <a:xfrm>
                  <a:off x="579693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2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3" name="직사각형 53">
                  <a:extLst>
                    <a:ext uri="{FF2B5EF4-FFF2-40B4-BE49-F238E27FC236}">
                      <a16:creationId xmlns:a16="http://schemas.microsoft.com/office/drawing/2014/main" id="{AEC557EE-990F-4315-A0D9-C4E9EA3DBAE9}"/>
                    </a:ext>
                  </a:extLst>
                </p:cNvPr>
                <p:cNvSpPr/>
                <p:nvPr/>
              </p:nvSpPr>
              <p:spPr>
                <a:xfrm>
                  <a:off x="255546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11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4" name="직사각형 54">
                  <a:extLst>
                    <a:ext uri="{FF2B5EF4-FFF2-40B4-BE49-F238E27FC236}">
                      <a16:creationId xmlns:a16="http://schemas.microsoft.com/office/drawing/2014/main" id="{C9773513-1C01-4F10-8198-77FF58554824}"/>
                    </a:ext>
                  </a:extLst>
                </p:cNvPr>
                <p:cNvSpPr/>
                <p:nvPr/>
              </p:nvSpPr>
              <p:spPr>
                <a:xfrm>
                  <a:off x="543689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3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5" name="직사각형 55">
                  <a:extLst>
                    <a:ext uri="{FF2B5EF4-FFF2-40B4-BE49-F238E27FC236}">
                      <a16:creationId xmlns:a16="http://schemas.microsoft.com/office/drawing/2014/main" id="{D38DA4B6-B7B9-486F-9769-44D51D9A2B9D}"/>
                    </a:ext>
                  </a:extLst>
                </p:cNvPr>
                <p:cNvSpPr/>
                <p:nvPr/>
              </p:nvSpPr>
              <p:spPr>
                <a:xfrm>
                  <a:off x="291550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10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6" name="직사각형 56">
                  <a:extLst>
                    <a:ext uri="{FF2B5EF4-FFF2-40B4-BE49-F238E27FC236}">
                      <a16:creationId xmlns:a16="http://schemas.microsoft.com/office/drawing/2014/main" id="{5F86AC0D-477F-425B-824F-18DBD915F8AF}"/>
                    </a:ext>
                  </a:extLst>
                </p:cNvPr>
                <p:cNvSpPr/>
                <p:nvPr/>
              </p:nvSpPr>
              <p:spPr>
                <a:xfrm>
                  <a:off x="507574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4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7" name="직사각형 57">
                  <a:extLst>
                    <a:ext uri="{FF2B5EF4-FFF2-40B4-BE49-F238E27FC236}">
                      <a16:creationId xmlns:a16="http://schemas.microsoft.com/office/drawing/2014/main" id="{3FB3BAEF-C6B6-45D6-A227-58A644275A0C}"/>
                    </a:ext>
                  </a:extLst>
                </p:cNvPr>
                <p:cNvSpPr/>
                <p:nvPr/>
              </p:nvSpPr>
              <p:spPr>
                <a:xfrm>
                  <a:off x="3277208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9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8" name="직사각형 58">
                  <a:extLst>
                    <a:ext uri="{FF2B5EF4-FFF2-40B4-BE49-F238E27FC236}">
                      <a16:creationId xmlns:a16="http://schemas.microsoft.com/office/drawing/2014/main" id="{20655B85-ADD7-49BC-BCF6-67D2C8803226}"/>
                    </a:ext>
                  </a:extLst>
                </p:cNvPr>
                <p:cNvSpPr/>
                <p:nvPr/>
              </p:nvSpPr>
              <p:spPr>
                <a:xfrm>
                  <a:off x="3637248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8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09" name="직사각형 59">
                  <a:extLst>
                    <a:ext uri="{FF2B5EF4-FFF2-40B4-BE49-F238E27FC236}">
                      <a16:creationId xmlns:a16="http://schemas.microsoft.com/office/drawing/2014/main" id="{57BD9737-BA3D-4A73-93F1-FC05625963A7}"/>
                    </a:ext>
                  </a:extLst>
                </p:cNvPr>
                <p:cNvSpPr/>
                <p:nvPr/>
              </p:nvSpPr>
              <p:spPr>
                <a:xfrm>
                  <a:off x="399562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7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10" name="직사각형 60">
                  <a:extLst>
                    <a:ext uri="{FF2B5EF4-FFF2-40B4-BE49-F238E27FC236}">
                      <a16:creationId xmlns:a16="http://schemas.microsoft.com/office/drawing/2014/main" id="{A2461ED2-EE56-406B-908D-5E8CF1A552EF}"/>
                    </a:ext>
                  </a:extLst>
                </p:cNvPr>
                <p:cNvSpPr/>
                <p:nvPr/>
              </p:nvSpPr>
              <p:spPr>
                <a:xfrm>
                  <a:off x="435566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6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111" name="직사각형 61">
                  <a:extLst>
                    <a:ext uri="{FF2B5EF4-FFF2-40B4-BE49-F238E27FC236}">
                      <a16:creationId xmlns:a16="http://schemas.microsoft.com/office/drawing/2014/main" id="{DBD57F3B-EA9F-4484-AF58-C8BDBC9E4036}"/>
                    </a:ext>
                  </a:extLst>
                </p:cNvPr>
                <p:cNvSpPr/>
                <p:nvPr/>
              </p:nvSpPr>
              <p:spPr>
                <a:xfrm>
                  <a:off x="471570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5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</p:grpSp>
          <p:grpSp>
            <p:nvGrpSpPr>
              <p:cNvPr id="50" name="그룹 124">
                <a:extLst>
                  <a:ext uri="{FF2B5EF4-FFF2-40B4-BE49-F238E27FC236}">
                    <a16:creationId xmlns:a16="http://schemas.microsoft.com/office/drawing/2014/main" id="{06314284-CCEB-4DF5-BBCB-A2918475A0E5}"/>
                  </a:ext>
                </a:extLst>
              </p:cNvPr>
              <p:cNvGrpSpPr/>
              <p:nvPr/>
            </p:nvGrpSpPr>
            <p:grpSpPr>
              <a:xfrm>
                <a:off x="1845308" y="3789038"/>
                <a:ext cx="5040870" cy="360041"/>
                <a:chOff x="1845308" y="3789038"/>
                <a:chExt cx="5040870" cy="360041"/>
              </a:xfrm>
            </p:grpSpPr>
            <p:cxnSp>
              <p:nvCxnSpPr>
                <p:cNvPr id="51" name="직선 연결선 95">
                  <a:extLst>
                    <a:ext uri="{FF2B5EF4-FFF2-40B4-BE49-F238E27FC236}">
                      <a16:creationId xmlns:a16="http://schemas.microsoft.com/office/drawing/2014/main" id="{E9E14A79-9799-41CA-9F66-074FEA999B01}"/>
                    </a:ext>
                  </a:extLst>
                </p:cNvPr>
                <p:cNvCxnSpPr/>
                <p:nvPr/>
              </p:nvCxnSpPr>
              <p:spPr>
                <a:xfrm>
                  <a:off x="2200635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99">
                  <a:extLst>
                    <a:ext uri="{FF2B5EF4-FFF2-40B4-BE49-F238E27FC236}">
                      <a16:creationId xmlns:a16="http://schemas.microsoft.com/office/drawing/2014/main" id="{549FF1CB-8102-4D95-8A9F-2A2214E84FC1}"/>
                    </a:ext>
                  </a:extLst>
                </p:cNvPr>
                <p:cNvCxnSpPr/>
                <p:nvPr/>
              </p:nvCxnSpPr>
              <p:spPr>
                <a:xfrm>
                  <a:off x="2554672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100">
                  <a:extLst>
                    <a:ext uri="{FF2B5EF4-FFF2-40B4-BE49-F238E27FC236}">
                      <a16:creationId xmlns:a16="http://schemas.microsoft.com/office/drawing/2014/main" id="{3BF1956A-00DB-4E1E-B71A-65EBF0BB2AD8}"/>
                    </a:ext>
                  </a:extLst>
                </p:cNvPr>
                <p:cNvCxnSpPr/>
                <p:nvPr/>
              </p:nvCxnSpPr>
              <p:spPr>
                <a:xfrm>
                  <a:off x="2914712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101">
                  <a:extLst>
                    <a:ext uri="{FF2B5EF4-FFF2-40B4-BE49-F238E27FC236}">
                      <a16:creationId xmlns:a16="http://schemas.microsoft.com/office/drawing/2014/main" id="{8FD8418F-2075-43D9-85E1-751A24D8ACC6}"/>
                    </a:ext>
                  </a:extLst>
                </p:cNvPr>
                <p:cNvCxnSpPr/>
                <p:nvPr/>
              </p:nvCxnSpPr>
              <p:spPr>
                <a:xfrm>
                  <a:off x="3276414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102">
                  <a:extLst>
                    <a:ext uri="{FF2B5EF4-FFF2-40B4-BE49-F238E27FC236}">
                      <a16:creationId xmlns:a16="http://schemas.microsoft.com/office/drawing/2014/main" id="{1ABE3BD1-DFCA-4F6F-AE80-03D6C3720881}"/>
                    </a:ext>
                  </a:extLst>
                </p:cNvPr>
                <p:cNvCxnSpPr/>
                <p:nvPr/>
              </p:nvCxnSpPr>
              <p:spPr>
                <a:xfrm>
                  <a:off x="3636454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103">
                  <a:extLst>
                    <a:ext uri="{FF2B5EF4-FFF2-40B4-BE49-F238E27FC236}">
                      <a16:creationId xmlns:a16="http://schemas.microsoft.com/office/drawing/2014/main" id="{965F1874-0147-4CE2-9AFC-BDDB31FF153F}"/>
                    </a:ext>
                  </a:extLst>
                </p:cNvPr>
                <p:cNvCxnSpPr/>
                <p:nvPr/>
              </p:nvCxnSpPr>
              <p:spPr>
                <a:xfrm flipH="1">
                  <a:off x="3994832" y="3789040"/>
                  <a:ext cx="2022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104">
                  <a:extLst>
                    <a:ext uri="{FF2B5EF4-FFF2-40B4-BE49-F238E27FC236}">
                      <a16:creationId xmlns:a16="http://schemas.microsoft.com/office/drawing/2014/main" id="{A47FFB80-49EF-4503-A2D8-F93EA810CC47}"/>
                    </a:ext>
                  </a:extLst>
                </p:cNvPr>
                <p:cNvCxnSpPr>
                  <a:endCxn id="97" idx="2"/>
                </p:cNvCxnSpPr>
                <p:nvPr/>
              </p:nvCxnSpPr>
              <p:spPr>
                <a:xfrm>
                  <a:off x="4365743" y="3789038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105">
                  <a:extLst>
                    <a:ext uri="{FF2B5EF4-FFF2-40B4-BE49-F238E27FC236}">
                      <a16:creationId xmlns:a16="http://schemas.microsoft.com/office/drawing/2014/main" id="{A1AD9660-D654-4532-99FF-CD19A3E9C3C2}"/>
                    </a:ext>
                  </a:extLst>
                </p:cNvPr>
                <p:cNvCxnSpPr/>
                <p:nvPr/>
              </p:nvCxnSpPr>
              <p:spPr>
                <a:xfrm>
                  <a:off x="4721622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106">
                  <a:extLst>
                    <a:ext uri="{FF2B5EF4-FFF2-40B4-BE49-F238E27FC236}">
                      <a16:creationId xmlns:a16="http://schemas.microsoft.com/office/drawing/2014/main" id="{BD1B367A-BA9F-4044-A2BF-2FF497052687}"/>
                    </a:ext>
                  </a:extLst>
                </p:cNvPr>
                <p:cNvCxnSpPr/>
                <p:nvPr/>
              </p:nvCxnSpPr>
              <p:spPr>
                <a:xfrm>
                  <a:off x="5076056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직선 연결선 107">
                  <a:extLst>
                    <a:ext uri="{FF2B5EF4-FFF2-40B4-BE49-F238E27FC236}">
                      <a16:creationId xmlns:a16="http://schemas.microsoft.com/office/drawing/2014/main" id="{5CB774C0-2AAA-4784-8AFE-0483EE1D20B2}"/>
                    </a:ext>
                  </a:extLst>
                </p:cNvPr>
                <p:cNvCxnSpPr/>
                <p:nvPr/>
              </p:nvCxnSpPr>
              <p:spPr>
                <a:xfrm flipH="1">
                  <a:off x="5434992" y="3789040"/>
                  <a:ext cx="1464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직선 연결선 108">
                  <a:extLst>
                    <a:ext uri="{FF2B5EF4-FFF2-40B4-BE49-F238E27FC236}">
                      <a16:creationId xmlns:a16="http://schemas.microsoft.com/office/drawing/2014/main" id="{AE1D253A-2CCF-46BB-B02E-0BDBC3993554}"/>
                    </a:ext>
                  </a:extLst>
                </p:cNvPr>
                <p:cNvCxnSpPr/>
                <p:nvPr/>
              </p:nvCxnSpPr>
              <p:spPr>
                <a:xfrm>
                  <a:off x="5796136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직선 연결선 109">
                  <a:extLst>
                    <a:ext uri="{FF2B5EF4-FFF2-40B4-BE49-F238E27FC236}">
                      <a16:creationId xmlns:a16="http://schemas.microsoft.com/office/drawing/2014/main" id="{39752E2B-66CC-482C-820C-61E6FFD8442E}"/>
                    </a:ext>
                  </a:extLst>
                </p:cNvPr>
                <p:cNvCxnSpPr/>
                <p:nvPr/>
              </p:nvCxnSpPr>
              <p:spPr>
                <a:xfrm>
                  <a:off x="6156176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직선 연결선 110">
                  <a:extLst>
                    <a:ext uri="{FF2B5EF4-FFF2-40B4-BE49-F238E27FC236}">
                      <a16:creationId xmlns:a16="http://schemas.microsoft.com/office/drawing/2014/main" id="{6CB79FD0-8D36-459D-B73E-82694D384967}"/>
                    </a:ext>
                  </a:extLst>
                </p:cNvPr>
                <p:cNvCxnSpPr/>
                <p:nvPr/>
              </p:nvCxnSpPr>
              <p:spPr>
                <a:xfrm>
                  <a:off x="6516216" y="3798566"/>
                  <a:ext cx="0" cy="350513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직사각형 93">
                  <a:extLst>
                    <a:ext uri="{FF2B5EF4-FFF2-40B4-BE49-F238E27FC236}">
                      <a16:creationId xmlns:a16="http://schemas.microsoft.com/office/drawing/2014/main" id="{EFE578B1-FD57-4103-AD96-0E588CCFC5C2}"/>
                    </a:ext>
                  </a:extLst>
                </p:cNvPr>
                <p:cNvSpPr/>
                <p:nvPr/>
              </p:nvSpPr>
              <p:spPr>
                <a:xfrm>
                  <a:off x="1845308" y="3789039"/>
                  <a:ext cx="5040870" cy="36003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252000" rtlCol="0" anchor="ctr">
                  <a:noAutofit/>
                </a:bodyPr>
                <a:lstStyle/>
                <a:p>
                  <a:pPr algn="ctr"/>
                  <a:endParaRPr lang="ko-KR" altLang="en-US" sz="1600" dirty="0">
                    <a:solidFill>
                      <a:prstClr val="black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30297D4-9180-481D-83BF-8B924FB67C19}"/>
                </a:ext>
              </a:extLst>
            </p:cNvPr>
            <p:cNvSpPr txBox="1"/>
            <p:nvPr/>
          </p:nvSpPr>
          <p:spPr>
            <a:xfrm>
              <a:off x="1485064" y="2833191"/>
              <a:ext cx="1432904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Segment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42" name="그룹 135">
              <a:extLst>
                <a:ext uri="{FF2B5EF4-FFF2-40B4-BE49-F238E27FC236}">
                  <a16:creationId xmlns:a16="http://schemas.microsoft.com/office/drawing/2014/main" id="{E7514C40-B473-4CAC-A7F1-DD5F8DD80578}"/>
                </a:ext>
              </a:extLst>
            </p:cNvPr>
            <p:cNvGrpSpPr/>
            <p:nvPr/>
          </p:nvGrpSpPr>
          <p:grpSpPr>
            <a:xfrm>
              <a:off x="2575309" y="2520004"/>
              <a:ext cx="4310869" cy="304518"/>
              <a:chOff x="2575309" y="2576978"/>
              <a:chExt cx="4310869" cy="304518"/>
            </a:xfrm>
          </p:grpSpPr>
          <p:sp>
            <p:nvSpPr>
              <p:cNvPr id="47" name="왼쪽 대괄호 129">
                <a:extLst>
                  <a:ext uri="{FF2B5EF4-FFF2-40B4-BE49-F238E27FC236}">
                    <a16:creationId xmlns:a16="http://schemas.microsoft.com/office/drawing/2014/main" id="{0A0E06C1-157E-4BD8-A195-331ABC038AF1}"/>
                  </a:ext>
                </a:extLst>
              </p:cNvPr>
              <p:cNvSpPr/>
              <p:nvPr/>
            </p:nvSpPr>
            <p:spPr>
              <a:xfrm rot="16200000">
                <a:off x="4636213" y="516074"/>
                <a:ext cx="189061" cy="4310869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8" name="직선 연결선 132">
                <a:extLst>
                  <a:ext uri="{FF2B5EF4-FFF2-40B4-BE49-F238E27FC236}">
                    <a16:creationId xmlns:a16="http://schemas.microsoft.com/office/drawing/2014/main" id="{8C733C37-BB3D-43F0-A67B-0137E1550092}"/>
                  </a:ext>
                </a:extLst>
              </p:cNvPr>
              <p:cNvCxnSpPr/>
              <p:nvPr/>
            </p:nvCxnSpPr>
            <p:spPr>
              <a:xfrm>
                <a:off x="4559784" y="2766040"/>
                <a:ext cx="0" cy="115456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137">
              <a:extLst>
                <a:ext uri="{FF2B5EF4-FFF2-40B4-BE49-F238E27FC236}">
                  <a16:creationId xmlns:a16="http://schemas.microsoft.com/office/drawing/2014/main" id="{8872B9F0-F4C3-4144-907C-BAD6BB180D1A}"/>
                </a:ext>
              </a:extLst>
            </p:cNvPr>
            <p:cNvGrpSpPr/>
            <p:nvPr/>
          </p:nvGrpSpPr>
          <p:grpSpPr>
            <a:xfrm>
              <a:off x="1851398" y="2520005"/>
              <a:ext cx="700237" cy="304517"/>
              <a:chOff x="1851398" y="2576979"/>
              <a:chExt cx="700237" cy="304517"/>
            </a:xfrm>
          </p:grpSpPr>
          <p:sp>
            <p:nvSpPr>
              <p:cNvPr id="45" name="왼쪽 대괄호 128">
                <a:extLst>
                  <a:ext uri="{FF2B5EF4-FFF2-40B4-BE49-F238E27FC236}">
                    <a16:creationId xmlns:a16="http://schemas.microsoft.com/office/drawing/2014/main" id="{32CB0D3E-70E8-43BE-B8B2-0C2211B9A506}"/>
                  </a:ext>
                </a:extLst>
              </p:cNvPr>
              <p:cNvSpPr/>
              <p:nvPr/>
            </p:nvSpPr>
            <p:spPr>
              <a:xfrm rot="16200000">
                <a:off x="2106986" y="2321391"/>
                <a:ext cx="189061" cy="700237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6" name="직선 연결선 136">
                <a:extLst>
                  <a:ext uri="{FF2B5EF4-FFF2-40B4-BE49-F238E27FC236}">
                    <a16:creationId xmlns:a16="http://schemas.microsoft.com/office/drawing/2014/main" id="{F7E8A84C-7FBF-4706-BF22-0741A13252B1}"/>
                  </a:ext>
                </a:extLst>
              </p:cNvPr>
              <p:cNvCxnSpPr/>
              <p:nvPr/>
            </p:nvCxnSpPr>
            <p:spPr>
              <a:xfrm>
                <a:off x="2201516" y="2766040"/>
                <a:ext cx="0" cy="115456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438128B-D9D0-4DE0-A8B8-E06E3BDB5004}"/>
                </a:ext>
              </a:extLst>
            </p:cNvPr>
            <p:cNvSpPr txBox="1"/>
            <p:nvPr/>
          </p:nvSpPr>
          <p:spPr>
            <a:xfrm>
              <a:off x="3843332" y="2833191"/>
              <a:ext cx="1432904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Offset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12" name="그룹 194">
            <a:extLst>
              <a:ext uri="{FF2B5EF4-FFF2-40B4-BE49-F238E27FC236}">
                <a16:creationId xmlns:a16="http://schemas.microsoft.com/office/drawing/2014/main" id="{49E0EB06-15A7-480F-90D5-6D9974D8AEC9}"/>
              </a:ext>
            </a:extLst>
          </p:cNvPr>
          <p:cNvGrpSpPr/>
          <p:nvPr/>
        </p:nvGrpSpPr>
        <p:grpSpPr>
          <a:xfrm>
            <a:off x="4825088" y="4690640"/>
            <a:ext cx="5418145" cy="1353118"/>
            <a:chOff x="1608808" y="3501008"/>
            <a:chExt cx="5418145" cy="1353118"/>
          </a:xfrm>
        </p:grpSpPr>
        <p:grpSp>
          <p:nvGrpSpPr>
            <p:cNvPr id="113" name="그룹 140">
              <a:extLst>
                <a:ext uri="{FF2B5EF4-FFF2-40B4-BE49-F238E27FC236}">
                  <a16:creationId xmlns:a16="http://schemas.microsoft.com/office/drawing/2014/main" id="{CE41AAD2-EFE4-4135-83D4-01598908C2C2}"/>
                </a:ext>
              </a:extLst>
            </p:cNvPr>
            <p:cNvGrpSpPr/>
            <p:nvPr/>
          </p:nvGrpSpPr>
          <p:grpSpPr>
            <a:xfrm>
              <a:off x="1608808" y="3501008"/>
              <a:ext cx="5401114" cy="1353118"/>
              <a:chOff x="1485064" y="1787850"/>
              <a:chExt cx="5401114" cy="1353118"/>
            </a:xfrm>
          </p:grpSpPr>
          <p:grpSp>
            <p:nvGrpSpPr>
              <p:cNvPr id="128" name="그룹 141">
                <a:extLst>
                  <a:ext uri="{FF2B5EF4-FFF2-40B4-BE49-F238E27FC236}">
                    <a16:creationId xmlns:a16="http://schemas.microsoft.com/office/drawing/2014/main" id="{A3EB8F34-BFC4-487F-B8C2-EE0D46337B84}"/>
                  </a:ext>
                </a:extLst>
              </p:cNvPr>
              <p:cNvGrpSpPr/>
              <p:nvPr/>
            </p:nvGrpSpPr>
            <p:grpSpPr>
              <a:xfrm>
                <a:off x="1831554" y="1787850"/>
                <a:ext cx="5054624" cy="648071"/>
                <a:chOff x="1831554" y="3501008"/>
                <a:chExt cx="5054624" cy="648071"/>
              </a:xfrm>
            </p:grpSpPr>
            <p:grpSp>
              <p:nvGrpSpPr>
                <p:cNvPr id="137" name="그룹 150">
                  <a:extLst>
                    <a:ext uri="{FF2B5EF4-FFF2-40B4-BE49-F238E27FC236}">
                      <a16:creationId xmlns:a16="http://schemas.microsoft.com/office/drawing/2014/main" id="{F93A440D-D0F2-4E76-854A-48D84BA60525}"/>
                    </a:ext>
                  </a:extLst>
                </p:cNvPr>
                <p:cNvGrpSpPr/>
                <p:nvPr/>
              </p:nvGrpSpPr>
              <p:grpSpPr>
                <a:xfrm>
                  <a:off x="1831554" y="3501008"/>
                  <a:ext cx="5044702" cy="360040"/>
                  <a:chOff x="1831554" y="3501008"/>
                  <a:chExt cx="5044702" cy="360040"/>
                </a:xfrm>
              </p:grpSpPr>
              <p:sp>
                <p:nvSpPr>
                  <p:cNvPr id="153" name="직사각형 166">
                    <a:extLst>
                      <a:ext uri="{FF2B5EF4-FFF2-40B4-BE49-F238E27FC236}">
                        <a16:creationId xmlns:a16="http://schemas.microsoft.com/office/drawing/2014/main" id="{24C3AA94-CF0A-42F8-9E15-3F30EC6AC66C}"/>
                      </a:ext>
                    </a:extLst>
                  </p:cNvPr>
                  <p:cNvSpPr/>
                  <p:nvPr/>
                </p:nvSpPr>
                <p:spPr>
                  <a:xfrm>
                    <a:off x="651621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0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54" name="직사각형 167">
                    <a:extLst>
                      <a:ext uri="{FF2B5EF4-FFF2-40B4-BE49-F238E27FC236}">
                        <a16:creationId xmlns:a16="http://schemas.microsoft.com/office/drawing/2014/main" id="{1817C119-65FC-43CF-A0D4-CC118C901A21}"/>
                      </a:ext>
                    </a:extLst>
                  </p:cNvPr>
                  <p:cNvSpPr/>
                  <p:nvPr/>
                </p:nvSpPr>
                <p:spPr>
                  <a:xfrm>
                    <a:off x="1831554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13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55" name="직사각형 168">
                    <a:extLst>
                      <a:ext uri="{FF2B5EF4-FFF2-40B4-BE49-F238E27FC236}">
                        <a16:creationId xmlns:a16="http://schemas.microsoft.com/office/drawing/2014/main" id="{76896009-2474-4448-B7CA-9DA7C94B2E58}"/>
                      </a:ext>
                    </a:extLst>
                  </p:cNvPr>
                  <p:cNvSpPr/>
                  <p:nvPr/>
                </p:nvSpPr>
                <p:spPr>
                  <a:xfrm>
                    <a:off x="6156970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56" name="직사각형 169">
                    <a:extLst>
                      <a:ext uri="{FF2B5EF4-FFF2-40B4-BE49-F238E27FC236}">
                        <a16:creationId xmlns:a16="http://schemas.microsoft.com/office/drawing/2014/main" id="{FDA19977-8FFE-43A7-AEDB-E9D109D19016}"/>
                      </a:ext>
                    </a:extLst>
                  </p:cNvPr>
                  <p:cNvSpPr/>
                  <p:nvPr/>
                </p:nvSpPr>
                <p:spPr>
                  <a:xfrm>
                    <a:off x="2191594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12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57" name="직사각형 170">
                    <a:extLst>
                      <a:ext uri="{FF2B5EF4-FFF2-40B4-BE49-F238E27FC236}">
                        <a16:creationId xmlns:a16="http://schemas.microsoft.com/office/drawing/2014/main" id="{6C6C9F4B-46EC-483C-9E2B-03AD816BE48F}"/>
                      </a:ext>
                    </a:extLst>
                  </p:cNvPr>
                  <p:cNvSpPr/>
                  <p:nvPr/>
                </p:nvSpPr>
                <p:spPr>
                  <a:xfrm>
                    <a:off x="5796930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2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58" name="직사각형 171">
                    <a:extLst>
                      <a:ext uri="{FF2B5EF4-FFF2-40B4-BE49-F238E27FC236}">
                        <a16:creationId xmlns:a16="http://schemas.microsoft.com/office/drawing/2014/main" id="{F4BF9F82-4938-4804-8D64-26EB56CA71AF}"/>
                      </a:ext>
                    </a:extLst>
                  </p:cNvPr>
                  <p:cNvSpPr/>
                  <p:nvPr/>
                </p:nvSpPr>
                <p:spPr>
                  <a:xfrm>
                    <a:off x="255546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11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59" name="직사각형 172">
                    <a:extLst>
                      <a:ext uri="{FF2B5EF4-FFF2-40B4-BE49-F238E27FC236}">
                        <a16:creationId xmlns:a16="http://schemas.microsoft.com/office/drawing/2014/main" id="{8C551879-0085-41DD-9A55-1E72F9633DF3}"/>
                      </a:ext>
                    </a:extLst>
                  </p:cNvPr>
                  <p:cNvSpPr/>
                  <p:nvPr/>
                </p:nvSpPr>
                <p:spPr>
                  <a:xfrm>
                    <a:off x="5436890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3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0" name="직사각형 173">
                    <a:extLst>
                      <a:ext uri="{FF2B5EF4-FFF2-40B4-BE49-F238E27FC236}">
                        <a16:creationId xmlns:a16="http://schemas.microsoft.com/office/drawing/2014/main" id="{D448AE6A-A408-425D-A948-DF413A4AF6BB}"/>
                      </a:ext>
                    </a:extLst>
                  </p:cNvPr>
                  <p:cNvSpPr/>
                  <p:nvPr/>
                </p:nvSpPr>
                <p:spPr>
                  <a:xfrm>
                    <a:off x="291550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10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1" name="직사각형 174">
                    <a:extLst>
                      <a:ext uri="{FF2B5EF4-FFF2-40B4-BE49-F238E27FC236}">
                        <a16:creationId xmlns:a16="http://schemas.microsoft.com/office/drawing/2014/main" id="{844982BC-B547-4229-9EB0-197F8B172D83}"/>
                      </a:ext>
                    </a:extLst>
                  </p:cNvPr>
                  <p:cNvSpPr/>
                  <p:nvPr/>
                </p:nvSpPr>
                <p:spPr>
                  <a:xfrm>
                    <a:off x="507574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4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2" name="직사각형 175">
                    <a:extLst>
                      <a:ext uri="{FF2B5EF4-FFF2-40B4-BE49-F238E27FC236}">
                        <a16:creationId xmlns:a16="http://schemas.microsoft.com/office/drawing/2014/main" id="{2277202B-C117-4343-99C7-2401C0BA7E03}"/>
                      </a:ext>
                    </a:extLst>
                  </p:cNvPr>
                  <p:cNvSpPr/>
                  <p:nvPr/>
                </p:nvSpPr>
                <p:spPr>
                  <a:xfrm>
                    <a:off x="3277208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9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3" name="직사각형 176">
                    <a:extLst>
                      <a:ext uri="{FF2B5EF4-FFF2-40B4-BE49-F238E27FC236}">
                        <a16:creationId xmlns:a16="http://schemas.microsoft.com/office/drawing/2014/main" id="{2D3908BB-AC61-4398-9B05-7F2F1A78D136}"/>
                      </a:ext>
                    </a:extLst>
                  </p:cNvPr>
                  <p:cNvSpPr/>
                  <p:nvPr/>
                </p:nvSpPr>
                <p:spPr>
                  <a:xfrm>
                    <a:off x="3637248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8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4" name="직사각형 177">
                    <a:extLst>
                      <a:ext uri="{FF2B5EF4-FFF2-40B4-BE49-F238E27FC236}">
                        <a16:creationId xmlns:a16="http://schemas.microsoft.com/office/drawing/2014/main" id="{4B39818F-5226-466E-8182-74EC862DF079}"/>
                      </a:ext>
                    </a:extLst>
                  </p:cNvPr>
                  <p:cNvSpPr/>
                  <p:nvPr/>
                </p:nvSpPr>
                <p:spPr>
                  <a:xfrm>
                    <a:off x="399562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7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5" name="직사각형 178">
                    <a:extLst>
                      <a:ext uri="{FF2B5EF4-FFF2-40B4-BE49-F238E27FC236}">
                        <a16:creationId xmlns:a16="http://schemas.microsoft.com/office/drawing/2014/main" id="{90B9FE85-F355-43F6-AB09-7BE597AAA4FD}"/>
                      </a:ext>
                    </a:extLst>
                  </p:cNvPr>
                  <p:cNvSpPr/>
                  <p:nvPr/>
                </p:nvSpPr>
                <p:spPr>
                  <a:xfrm>
                    <a:off x="435566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6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6" name="직사각형 179">
                    <a:extLst>
                      <a:ext uri="{FF2B5EF4-FFF2-40B4-BE49-F238E27FC236}">
                        <a16:creationId xmlns:a16="http://schemas.microsoft.com/office/drawing/2014/main" id="{B44B8CFF-50AB-423A-B3E0-BEE8F850C758}"/>
                      </a:ext>
                    </a:extLst>
                  </p:cNvPr>
                  <p:cNvSpPr/>
                  <p:nvPr/>
                </p:nvSpPr>
                <p:spPr>
                  <a:xfrm>
                    <a:off x="471570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5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</p:grpSp>
            <p:grpSp>
              <p:nvGrpSpPr>
                <p:cNvPr id="138" name="그룹 151">
                  <a:extLst>
                    <a:ext uri="{FF2B5EF4-FFF2-40B4-BE49-F238E27FC236}">
                      <a16:creationId xmlns:a16="http://schemas.microsoft.com/office/drawing/2014/main" id="{F98E802B-7213-4C7F-9B6B-F129BA25AC56}"/>
                    </a:ext>
                  </a:extLst>
                </p:cNvPr>
                <p:cNvGrpSpPr/>
                <p:nvPr/>
              </p:nvGrpSpPr>
              <p:grpSpPr>
                <a:xfrm>
                  <a:off x="1845308" y="3789038"/>
                  <a:ext cx="5040870" cy="360041"/>
                  <a:chOff x="1845308" y="3789038"/>
                  <a:chExt cx="5040870" cy="360041"/>
                </a:xfrm>
              </p:grpSpPr>
              <p:cxnSp>
                <p:nvCxnSpPr>
                  <p:cNvPr id="139" name="직선 연결선 152">
                    <a:extLst>
                      <a:ext uri="{FF2B5EF4-FFF2-40B4-BE49-F238E27FC236}">
                        <a16:creationId xmlns:a16="http://schemas.microsoft.com/office/drawing/2014/main" id="{89431CD3-A672-473C-A44F-BDD33859825F}"/>
                      </a:ext>
                    </a:extLst>
                  </p:cNvPr>
                  <p:cNvCxnSpPr/>
                  <p:nvPr/>
                </p:nvCxnSpPr>
                <p:spPr>
                  <a:xfrm>
                    <a:off x="2200635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직선 연결선 153">
                    <a:extLst>
                      <a:ext uri="{FF2B5EF4-FFF2-40B4-BE49-F238E27FC236}">
                        <a16:creationId xmlns:a16="http://schemas.microsoft.com/office/drawing/2014/main" id="{DB1EB17D-1DFB-43C7-ACBB-45B9BC2A956A}"/>
                      </a:ext>
                    </a:extLst>
                  </p:cNvPr>
                  <p:cNvCxnSpPr/>
                  <p:nvPr/>
                </p:nvCxnSpPr>
                <p:spPr>
                  <a:xfrm>
                    <a:off x="2554672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직선 연결선 154">
                    <a:extLst>
                      <a:ext uri="{FF2B5EF4-FFF2-40B4-BE49-F238E27FC236}">
                        <a16:creationId xmlns:a16="http://schemas.microsoft.com/office/drawing/2014/main" id="{BDF05DCE-3AAA-46E7-B086-C8C2B76CF62F}"/>
                      </a:ext>
                    </a:extLst>
                  </p:cNvPr>
                  <p:cNvCxnSpPr/>
                  <p:nvPr/>
                </p:nvCxnSpPr>
                <p:spPr>
                  <a:xfrm>
                    <a:off x="2914712" y="3789039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직선 연결선 155">
                    <a:extLst>
                      <a:ext uri="{FF2B5EF4-FFF2-40B4-BE49-F238E27FC236}">
                        <a16:creationId xmlns:a16="http://schemas.microsoft.com/office/drawing/2014/main" id="{0F2E85BC-B00C-4165-9583-D8652822BBAB}"/>
                      </a:ext>
                    </a:extLst>
                  </p:cNvPr>
                  <p:cNvCxnSpPr/>
                  <p:nvPr/>
                </p:nvCxnSpPr>
                <p:spPr>
                  <a:xfrm>
                    <a:off x="3276414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직선 연결선 156">
                    <a:extLst>
                      <a:ext uri="{FF2B5EF4-FFF2-40B4-BE49-F238E27FC236}">
                        <a16:creationId xmlns:a16="http://schemas.microsoft.com/office/drawing/2014/main" id="{0E735548-D8B4-4244-9769-5035EB936328}"/>
                      </a:ext>
                    </a:extLst>
                  </p:cNvPr>
                  <p:cNvCxnSpPr/>
                  <p:nvPr/>
                </p:nvCxnSpPr>
                <p:spPr>
                  <a:xfrm>
                    <a:off x="3636454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직선 연결선 157">
                    <a:extLst>
                      <a:ext uri="{FF2B5EF4-FFF2-40B4-BE49-F238E27FC236}">
                        <a16:creationId xmlns:a16="http://schemas.microsoft.com/office/drawing/2014/main" id="{862B0243-2D69-48D7-AB43-0F6AF415C43C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994832" y="3789040"/>
                    <a:ext cx="2022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직선 연결선 158">
                    <a:extLst>
                      <a:ext uri="{FF2B5EF4-FFF2-40B4-BE49-F238E27FC236}">
                        <a16:creationId xmlns:a16="http://schemas.microsoft.com/office/drawing/2014/main" id="{0324AE11-22C2-473A-A981-1A70E1C1E9DE}"/>
                      </a:ext>
                    </a:extLst>
                  </p:cNvPr>
                  <p:cNvCxnSpPr>
                    <a:endCxn id="152" idx="2"/>
                  </p:cNvCxnSpPr>
                  <p:nvPr/>
                </p:nvCxnSpPr>
                <p:spPr>
                  <a:xfrm>
                    <a:off x="4365743" y="3789038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직선 연결선 159">
                    <a:extLst>
                      <a:ext uri="{FF2B5EF4-FFF2-40B4-BE49-F238E27FC236}">
                        <a16:creationId xmlns:a16="http://schemas.microsoft.com/office/drawing/2014/main" id="{46621BC9-81EE-43CD-BF31-A5F129FDA3B9}"/>
                      </a:ext>
                    </a:extLst>
                  </p:cNvPr>
                  <p:cNvCxnSpPr/>
                  <p:nvPr/>
                </p:nvCxnSpPr>
                <p:spPr>
                  <a:xfrm>
                    <a:off x="4721622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직선 연결선 160">
                    <a:extLst>
                      <a:ext uri="{FF2B5EF4-FFF2-40B4-BE49-F238E27FC236}">
                        <a16:creationId xmlns:a16="http://schemas.microsoft.com/office/drawing/2014/main" id="{13A33671-1E96-4BF1-8EEC-22D70086F6D4}"/>
                      </a:ext>
                    </a:extLst>
                  </p:cNvPr>
                  <p:cNvCxnSpPr/>
                  <p:nvPr/>
                </p:nvCxnSpPr>
                <p:spPr>
                  <a:xfrm>
                    <a:off x="5076056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직선 연결선 161">
                    <a:extLst>
                      <a:ext uri="{FF2B5EF4-FFF2-40B4-BE49-F238E27FC236}">
                        <a16:creationId xmlns:a16="http://schemas.microsoft.com/office/drawing/2014/main" id="{41721902-6923-4065-B388-E77E68A2A62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434992" y="3789040"/>
                    <a:ext cx="1464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직선 연결선 162">
                    <a:extLst>
                      <a:ext uri="{FF2B5EF4-FFF2-40B4-BE49-F238E27FC236}">
                        <a16:creationId xmlns:a16="http://schemas.microsoft.com/office/drawing/2014/main" id="{232C5F55-D9DE-40C6-BAB2-0065C0AA5922}"/>
                      </a:ext>
                    </a:extLst>
                  </p:cNvPr>
                  <p:cNvCxnSpPr/>
                  <p:nvPr/>
                </p:nvCxnSpPr>
                <p:spPr>
                  <a:xfrm>
                    <a:off x="5796136" y="3789039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직선 연결선 163">
                    <a:extLst>
                      <a:ext uri="{FF2B5EF4-FFF2-40B4-BE49-F238E27FC236}">
                        <a16:creationId xmlns:a16="http://schemas.microsoft.com/office/drawing/2014/main" id="{0453B82D-9453-434F-890B-AC09F415A68A}"/>
                      </a:ext>
                    </a:extLst>
                  </p:cNvPr>
                  <p:cNvCxnSpPr/>
                  <p:nvPr/>
                </p:nvCxnSpPr>
                <p:spPr>
                  <a:xfrm>
                    <a:off x="6156176" y="3789039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직선 연결선 164">
                    <a:extLst>
                      <a:ext uri="{FF2B5EF4-FFF2-40B4-BE49-F238E27FC236}">
                        <a16:creationId xmlns:a16="http://schemas.microsoft.com/office/drawing/2014/main" id="{BFBAE24D-9B09-4F96-97AF-99E318F971FD}"/>
                      </a:ext>
                    </a:extLst>
                  </p:cNvPr>
                  <p:cNvCxnSpPr/>
                  <p:nvPr/>
                </p:nvCxnSpPr>
                <p:spPr>
                  <a:xfrm>
                    <a:off x="6516216" y="3798566"/>
                    <a:ext cx="0" cy="350513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2" name="직사각형 165">
                    <a:extLst>
                      <a:ext uri="{FF2B5EF4-FFF2-40B4-BE49-F238E27FC236}">
                        <a16:creationId xmlns:a16="http://schemas.microsoft.com/office/drawing/2014/main" id="{684133A1-7968-45DC-A79C-68FA6F87719A}"/>
                      </a:ext>
                    </a:extLst>
                  </p:cNvPr>
                  <p:cNvSpPr/>
                  <p:nvPr/>
                </p:nvSpPr>
                <p:spPr>
                  <a:xfrm>
                    <a:off x="1845308" y="3789039"/>
                    <a:ext cx="5040870" cy="360039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252000" rtlCol="0" anchor="ctr">
                    <a:noAutofit/>
                  </a:bodyPr>
                  <a:lstStyle/>
                  <a:p>
                    <a:pPr algn="ctr"/>
                    <a:endParaRPr lang="ko-KR" altLang="en-US" sz="1600" dirty="0">
                      <a:solidFill>
                        <a:prstClr val="black"/>
                      </a:solidFill>
                      <a:latin typeface="Courier New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</p:grpSp>
          </p:grp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85564B2-9AF0-464F-9297-64AB7224D153}"/>
                  </a:ext>
                </a:extLst>
              </p:cNvPr>
              <p:cNvSpPr txBox="1"/>
              <p:nvPr/>
            </p:nvSpPr>
            <p:spPr>
              <a:xfrm>
                <a:off x="1485064" y="2833191"/>
                <a:ext cx="1432904" cy="307777"/>
              </a:xfrm>
              <a:prstGeom prst="rect">
                <a:avLst/>
              </a:prstGeom>
              <a:noFill/>
              <a:ln>
                <a:noFill/>
                <a:tailEnd type="stealt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Segment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130" name="그룹 143">
                <a:extLst>
                  <a:ext uri="{FF2B5EF4-FFF2-40B4-BE49-F238E27FC236}">
                    <a16:creationId xmlns:a16="http://schemas.microsoft.com/office/drawing/2014/main" id="{3BC122D9-B3E9-44B3-BD6C-169F1091D1AF}"/>
                  </a:ext>
                </a:extLst>
              </p:cNvPr>
              <p:cNvGrpSpPr/>
              <p:nvPr/>
            </p:nvGrpSpPr>
            <p:grpSpPr>
              <a:xfrm>
                <a:off x="2575309" y="2520004"/>
                <a:ext cx="4310869" cy="304518"/>
                <a:chOff x="2575309" y="2576978"/>
                <a:chExt cx="4310869" cy="304518"/>
              </a:xfrm>
            </p:grpSpPr>
            <p:sp>
              <p:nvSpPr>
                <p:cNvPr id="135" name="왼쪽 대괄호 148">
                  <a:extLst>
                    <a:ext uri="{FF2B5EF4-FFF2-40B4-BE49-F238E27FC236}">
                      <a16:creationId xmlns:a16="http://schemas.microsoft.com/office/drawing/2014/main" id="{61F976F7-FAA9-49D1-AFC2-6A51503C1192}"/>
                    </a:ext>
                  </a:extLst>
                </p:cNvPr>
                <p:cNvSpPr/>
                <p:nvPr/>
              </p:nvSpPr>
              <p:spPr>
                <a:xfrm rot="16200000">
                  <a:off x="4636213" y="516074"/>
                  <a:ext cx="189061" cy="4310869"/>
                </a:xfrm>
                <a:prstGeom prst="leftBracket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36" name="직선 연결선 149">
                  <a:extLst>
                    <a:ext uri="{FF2B5EF4-FFF2-40B4-BE49-F238E27FC236}">
                      <a16:creationId xmlns:a16="http://schemas.microsoft.com/office/drawing/2014/main" id="{ADBC4291-DB56-451D-AF09-FD47F2F9C324}"/>
                    </a:ext>
                  </a:extLst>
                </p:cNvPr>
                <p:cNvCxnSpPr/>
                <p:nvPr/>
              </p:nvCxnSpPr>
              <p:spPr>
                <a:xfrm>
                  <a:off x="4559784" y="2766040"/>
                  <a:ext cx="0" cy="1154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1" name="그룹 144">
                <a:extLst>
                  <a:ext uri="{FF2B5EF4-FFF2-40B4-BE49-F238E27FC236}">
                    <a16:creationId xmlns:a16="http://schemas.microsoft.com/office/drawing/2014/main" id="{70142F0B-6238-416B-8327-78DEE676723B}"/>
                  </a:ext>
                </a:extLst>
              </p:cNvPr>
              <p:cNvGrpSpPr/>
              <p:nvPr/>
            </p:nvGrpSpPr>
            <p:grpSpPr>
              <a:xfrm>
                <a:off x="1851398" y="2520005"/>
                <a:ext cx="700237" cy="304517"/>
                <a:chOff x="1851398" y="2576979"/>
                <a:chExt cx="700237" cy="304517"/>
              </a:xfrm>
            </p:grpSpPr>
            <p:sp>
              <p:nvSpPr>
                <p:cNvPr id="133" name="왼쪽 대괄호 146">
                  <a:extLst>
                    <a:ext uri="{FF2B5EF4-FFF2-40B4-BE49-F238E27FC236}">
                      <a16:creationId xmlns:a16="http://schemas.microsoft.com/office/drawing/2014/main" id="{737D3A81-3D02-4487-9C23-97CF13F63451}"/>
                    </a:ext>
                  </a:extLst>
                </p:cNvPr>
                <p:cNvSpPr/>
                <p:nvPr/>
              </p:nvSpPr>
              <p:spPr>
                <a:xfrm rot="16200000">
                  <a:off x="2106986" y="2321391"/>
                  <a:ext cx="189061" cy="700237"/>
                </a:xfrm>
                <a:prstGeom prst="leftBracket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34" name="직선 연결선 147">
                  <a:extLst>
                    <a:ext uri="{FF2B5EF4-FFF2-40B4-BE49-F238E27FC236}">
                      <a16:creationId xmlns:a16="http://schemas.microsoft.com/office/drawing/2014/main" id="{C6D085A8-A0BF-4A2B-B96E-2A53A52E393A}"/>
                    </a:ext>
                  </a:extLst>
                </p:cNvPr>
                <p:cNvCxnSpPr/>
                <p:nvPr/>
              </p:nvCxnSpPr>
              <p:spPr>
                <a:xfrm>
                  <a:off x="2201516" y="2766040"/>
                  <a:ext cx="0" cy="1154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B069FB6-9864-4092-8EF4-86C51ACBC890}"/>
                  </a:ext>
                </a:extLst>
              </p:cNvPr>
              <p:cNvSpPr txBox="1"/>
              <p:nvPr/>
            </p:nvSpPr>
            <p:spPr>
              <a:xfrm>
                <a:off x="3843332" y="2833191"/>
                <a:ext cx="1432904" cy="307777"/>
              </a:xfrm>
              <a:prstGeom prst="rect">
                <a:avLst/>
              </a:prstGeom>
              <a:noFill/>
              <a:ln>
                <a:noFill/>
                <a:tailEnd type="stealt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Offset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114" name="직사각형 180">
              <a:extLst>
                <a:ext uri="{FF2B5EF4-FFF2-40B4-BE49-F238E27FC236}">
                  <a16:creationId xmlns:a16="http://schemas.microsoft.com/office/drawing/2014/main" id="{C369DD53-084C-41A9-816E-288BA5C40C50}"/>
                </a:ext>
              </a:extLst>
            </p:cNvPr>
            <p:cNvSpPr/>
            <p:nvPr/>
          </p:nvSpPr>
          <p:spPr>
            <a:xfrm>
              <a:off x="666691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5" name="직사각형 181">
              <a:extLst>
                <a:ext uri="{FF2B5EF4-FFF2-40B4-BE49-F238E27FC236}">
                  <a16:creationId xmlns:a16="http://schemas.microsoft.com/office/drawing/2014/main" id="{D40CC438-AA37-4DF1-A163-FD42A2407794}"/>
                </a:ext>
              </a:extLst>
            </p:cNvPr>
            <p:cNvSpPr/>
            <p:nvPr/>
          </p:nvSpPr>
          <p:spPr>
            <a:xfrm>
              <a:off x="1982251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rgbClr val="FF0000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6" name="직사각형 182">
              <a:extLst>
                <a:ext uri="{FF2B5EF4-FFF2-40B4-BE49-F238E27FC236}">
                  <a16:creationId xmlns:a16="http://schemas.microsoft.com/office/drawing/2014/main" id="{BFC0A38E-9FC6-4430-9A65-C0EDCDB92E37}"/>
                </a:ext>
              </a:extLst>
            </p:cNvPr>
            <p:cNvSpPr/>
            <p:nvPr/>
          </p:nvSpPr>
          <p:spPr>
            <a:xfrm>
              <a:off x="6307667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7" name="직사각형 183">
              <a:extLst>
                <a:ext uri="{FF2B5EF4-FFF2-40B4-BE49-F238E27FC236}">
                  <a16:creationId xmlns:a16="http://schemas.microsoft.com/office/drawing/2014/main" id="{51D2493F-DB6F-4931-8678-82DB48059CC9}"/>
                </a:ext>
              </a:extLst>
            </p:cNvPr>
            <p:cNvSpPr/>
            <p:nvPr/>
          </p:nvSpPr>
          <p:spPr>
            <a:xfrm>
              <a:off x="2342291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rgbClr val="FF0000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8" name="직사각형 184">
              <a:extLst>
                <a:ext uri="{FF2B5EF4-FFF2-40B4-BE49-F238E27FC236}">
                  <a16:creationId xmlns:a16="http://schemas.microsoft.com/office/drawing/2014/main" id="{4E4D37F8-1D7F-4328-A1F3-C21243A84E51}"/>
                </a:ext>
              </a:extLst>
            </p:cNvPr>
            <p:cNvSpPr/>
            <p:nvPr/>
          </p:nvSpPr>
          <p:spPr>
            <a:xfrm>
              <a:off x="5947627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9" name="직사각형 185">
              <a:extLst>
                <a:ext uri="{FF2B5EF4-FFF2-40B4-BE49-F238E27FC236}">
                  <a16:creationId xmlns:a16="http://schemas.microsoft.com/office/drawing/2014/main" id="{C6EA86FE-B34E-4D4D-B8E6-A72824162FCC}"/>
                </a:ext>
              </a:extLst>
            </p:cNvPr>
            <p:cNvSpPr/>
            <p:nvPr/>
          </p:nvSpPr>
          <p:spPr>
            <a:xfrm>
              <a:off x="270616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0" name="직사각형 186">
              <a:extLst>
                <a:ext uri="{FF2B5EF4-FFF2-40B4-BE49-F238E27FC236}">
                  <a16:creationId xmlns:a16="http://schemas.microsoft.com/office/drawing/2014/main" id="{32968AB4-A278-4774-8A86-7C0E11B6D208}"/>
                </a:ext>
              </a:extLst>
            </p:cNvPr>
            <p:cNvSpPr/>
            <p:nvPr/>
          </p:nvSpPr>
          <p:spPr>
            <a:xfrm>
              <a:off x="5587587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1" name="직사각형 187">
              <a:extLst>
                <a:ext uri="{FF2B5EF4-FFF2-40B4-BE49-F238E27FC236}">
                  <a16:creationId xmlns:a16="http://schemas.microsoft.com/office/drawing/2014/main" id="{E5BBA3B8-224A-4274-AC68-B8803E46572E}"/>
                </a:ext>
              </a:extLst>
            </p:cNvPr>
            <p:cNvSpPr/>
            <p:nvPr/>
          </p:nvSpPr>
          <p:spPr>
            <a:xfrm>
              <a:off x="306620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2" name="직사각형 188">
              <a:extLst>
                <a:ext uri="{FF2B5EF4-FFF2-40B4-BE49-F238E27FC236}">
                  <a16:creationId xmlns:a16="http://schemas.microsoft.com/office/drawing/2014/main" id="{BF1DAA3B-D8B7-4BDE-A3DD-C8AA6162DFB9}"/>
                </a:ext>
              </a:extLst>
            </p:cNvPr>
            <p:cNvSpPr/>
            <p:nvPr/>
          </p:nvSpPr>
          <p:spPr>
            <a:xfrm>
              <a:off x="522644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3" name="직사각형 189">
              <a:extLst>
                <a:ext uri="{FF2B5EF4-FFF2-40B4-BE49-F238E27FC236}">
                  <a16:creationId xmlns:a16="http://schemas.microsoft.com/office/drawing/2014/main" id="{20BF0FE8-4CBC-401D-85BD-F84DB94D1F26}"/>
                </a:ext>
              </a:extLst>
            </p:cNvPr>
            <p:cNvSpPr/>
            <p:nvPr/>
          </p:nvSpPr>
          <p:spPr>
            <a:xfrm>
              <a:off x="3427905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4" name="직사각형 190">
              <a:extLst>
                <a:ext uri="{FF2B5EF4-FFF2-40B4-BE49-F238E27FC236}">
                  <a16:creationId xmlns:a16="http://schemas.microsoft.com/office/drawing/2014/main" id="{AF5F8694-5034-4676-A632-E0EB4061C9FC}"/>
                </a:ext>
              </a:extLst>
            </p:cNvPr>
            <p:cNvSpPr/>
            <p:nvPr/>
          </p:nvSpPr>
          <p:spPr>
            <a:xfrm>
              <a:off x="3787945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5" name="직사각형 191">
              <a:extLst>
                <a:ext uri="{FF2B5EF4-FFF2-40B4-BE49-F238E27FC236}">
                  <a16:creationId xmlns:a16="http://schemas.microsoft.com/office/drawing/2014/main" id="{0401EDBC-56B5-41E4-A1B7-93A939F5C278}"/>
                </a:ext>
              </a:extLst>
            </p:cNvPr>
            <p:cNvSpPr/>
            <p:nvPr/>
          </p:nvSpPr>
          <p:spPr>
            <a:xfrm>
              <a:off x="414632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6" name="직사각형 192">
              <a:extLst>
                <a:ext uri="{FF2B5EF4-FFF2-40B4-BE49-F238E27FC236}">
                  <a16:creationId xmlns:a16="http://schemas.microsoft.com/office/drawing/2014/main" id="{B2F972BA-39A1-4D18-80DF-E3AA3BA43FC6}"/>
                </a:ext>
              </a:extLst>
            </p:cNvPr>
            <p:cNvSpPr/>
            <p:nvPr/>
          </p:nvSpPr>
          <p:spPr>
            <a:xfrm>
              <a:off x="450636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7" name="직사각형 193">
              <a:extLst>
                <a:ext uri="{FF2B5EF4-FFF2-40B4-BE49-F238E27FC236}">
                  <a16:creationId xmlns:a16="http://schemas.microsoft.com/office/drawing/2014/main" id="{FE2559F8-C3E4-456C-9130-F07D58E2CCBF}"/>
                </a:ext>
              </a:extLst>
            </p:cNvPr>
            <p:cNvSpPr/>
            <p:nvPr/>
          </p:nvSpPr>
          <p:spPr>
            <a:xfrm>
              <a:off x="486640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grpSp>
        <p:nvGrpSpPr>
          <p:cNvPr id="167" name="그룹 203">
            <a:extLst>
              <a:ext uri="{FF2B5EF4-FFF2-40B4-BE49-F238E27FC236}">
                <a16:creationId xmlns:a16="http://schemas.microsoft.com/office/drawing/2014/main" id="{B9A3F470-5513-4B27-AB77-E6E9D22D2AFB}"/>
              </a:ext>
            </a:extLst>
          </p:cNvPr>
          <p:cNvGrpSpPr/>
          <p:nvPr/>
        </p:nvGrpSpPr>
        <p:grpSpPr>
          <a:xfrm>
            <a:off x="2250345" y="4695446"/>
            <a:ext cx="2219995" cy="1386744"/>
            <a:chOff x="395536" y="3698440"/>
            <a:chExt cx="2219995" cy="1386744"/>
          </a:xfrm>
        </p:grpSpPr>
        <p:sp>
          <p:nvSpPr>
            <p:cNvPr id="168" name="직사각형 196">
              <a:extLst>
                <a:ext uri="{FF2B5EF4-FFF2-40B4-BE49-F238E27FC236}">
                  <a16:creationId xmlns:a16="http://schemas.microsoft.com/office/drawing/2014/main" id="{40925FFA-4EB4-46DA-8B7E-DDA0E4349D14}"/>
                </a:ext>
              </a:extLst>
            </p:cNvPr>
            <p:cNvSpPr/>
            <p:nvPr/>
          </p:nvSpPr>
          <p:spPr>
            <a:xfrm>
              <a:off x="395536" y="3698440"/>
              <a:ext cx="2219995" cy="1386744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bits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00</a:t>
              </a:r>
            </a:p>
            <a:p>
              <a:pPr algn="ctr"/>
              <a:r>
                <a:rPr lang="en-US" altLang="ko-KR" b="1" dirty="0">
                  <a:solidFill>
                    <a:srgbClr val="FF000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</a:t>
              </a:r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	  </a:t>
              </a:r>
              <a:r>
                <a:rPr lang="en-US" altLang="ko-KR" b="1" dirty="0">
                  <a:solidFill>
                    <a:srgbClr val="FF000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01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Stack	  10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-	  11</a:t>
              </a:r>
            </a:p>
          </p:txBody>
        </p:sp>
        <p:cxnSp>
          <p:nvCxnSpPr>
            <p:cNvPr id="169" name="직선 연결선 197">
              <a:extLst>
                <a:ext uri="{FF2B5EF4-FFF2-40B4-BE49-F238E27FC236}">
                  <a16:creationId xmlns:a16="http://schemas.microsoft.com/office/drawing/2014/main" id="{FCCC2C51-C5BA-461B-BD50-CDF1274BC76A}"/>
                </a:ext>
              </a:extLst>
            </p:cNvPr>
            <p:cNvCxnSpPr/>
            <p:nvPr/>
          </p:nvCxnSpPr>
          <p:spPr>
            <a:xfrm>
              <a:off x="576064" y="4016738"/>
              <a:ext cx="1858937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" name="TextBox 169">
            <a:extLst>
              <a:ext uri="{FF2B5EF4-FFF2-40B4-BE49-F238E27FC236}">
                <a16:creationId xmlns:a16="http://schemas.microsoft.com/office/drawing/2014/main" id="{F21863F7-6B2B-410B-897C-35B61A916E78}"/>
              </a:ext>
            </a:extLst>
          </p:cNvPr>
          <p:cNvSpPr txBox="1"/>
          <p:nvPr/>
        </p:nvSpPr>
        <p:spPr>
          <a:xfrm>
            <a:off x="3048733" y="3244334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16,384 bytes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8D0B727-67A8-4B87-82FA-9EB7C73FC1BA}"/>
              </a:ext>
            </a:extLst>
          </p:cNvPr>
          <p:cNvSpPr txBox="1"/>
          <p:nvPr/>
        </p:nvSpPr>
        <p:spPr>
          <a:xfrm>
            <a:off x="3048733" y="3244334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16,384 bytes</a:t>
            </a:r>
          </a:p>
        </p:txBody>
      </p:sp>
      <p:sp>
        <p:nvSpPr>
          <p:cNvPr id="172" name="Footer Placeholder 23">
            <a:extLst>
              <a:ext uri="{FF2B5EF4-FFF2-40B4-BE49-F238E27FC236}">
                <a16:creationId xmlns:a16="http://schemas.microsoft.com/office/drawing/2014/main" id="{5DFF3F71-CF5B-4B2F-9AEF-6806D1C2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173" name="Slide Number Placeholder 1">
            <a:extLst>
              <a:ext uri="{FF2B5EF4-FFF2-40B4-BE49-F238E27FC236}">
                <a16:creationId xmlns:a16="http://schemas.microsoft.com/office/drawing/2014/main" id="{F59ECD31-DC62-47E8-91AB-6319894E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86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4031187"/>
            <a:ext cx="10515600" cy="2136532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SEG_MASK = 0x3000(11000000000000)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SEG_SHIFT = 12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OFFSET_MASK = 0xFFF (00111111111111)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819634" y="1307950"/>
            <a:ext cx="6552728" cy="232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 top 2 bits of 14-bit VA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Segment = 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SEG_MASK) &gt;&gt; SEG_SHIFT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now get offset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Offset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OFFSET_MASK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(Offset &gt;= Bounds[Segment])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(PROTECTION_FAULT)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Base[Segment] + Offset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Register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D6AE4C-A2EE-4460-AD3A-063D52CB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/>
              <a:t>Referring to a Segment</a:t>
            </a:r>
            <a:endParaRPr lang="ko-KR" altLang="en-US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10" name="Footer Placeholder 23">
            <a:extLst>
              <a:ext uri="{FF2B5EF4-FFF2-40B4-BE49-F238E27FC236}">
                <a16:creationId xmlns:a16="http://schemas.microsoft.com/office/drawing/2014/main" id="{5C796DAB-2660-4006-966C-F4EC9F444319}"/>
              </a:ext>
            </a:extLst>
          </p:cNvPr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B. Wajid</a:t>
            </a:r>
            <a:endParaRPr lang="en-US" dirty="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F64275C-BA1B-4386-949E-0A1DA51B0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8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327638"/>
            <a:ext cx="10515600" cy="4849325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Stack grows </a:t>
            </a:r>
            <a:r>
              <a:rPr lang="en-US" altLang="ko-KR" sz="1800" b="1" dirty="0"/>
              <a:t>backward</a:t>
            </a:r>
            <a:r>
              <a:rPr lang="en-US" altLang="ko-KR" sz="1800" dirty="0"/>
              <a:t>.</a:t>
            </a:r>
          </a:p>
          <a:p>
            <a:r>
              <a:rPr lang="en-US" altLang="ko-KR" sz="1800" b="1" dirty="0"/>
              <a:t>Extra hardware support</a:t>
            </a:r>
            <a:r>
              <a:rPr lang="en-US" altLang="ko-KR" sz="1800" dirty="0"/>
              <a:t> is need.</a:t>
            </a:r>
          </a:p>
          <a:p>
            <a:pPr lvl="1"/>
            <a:r>
              <a:rPr lang="en-US" altLang="ko-KR" sz="1800" dirty="0"/>
              <a:t>The hardware checks which way the segment grows.</a:t>
            </a:r>
          </a:p>
          <a:p>
            <a:pPr lvl="1"/>
            <a:r>
              <a:rPr lang="en-US" altLang="ko-KR" sz="1800" dirty="0"/>
              <a:t>1: positive direction, 0: negative direction </a:t>
            </a:r>
            <a:endParaRPr lang="ko-KR" altLang="en-US" sz="1800" dirty="0"/>
          </a:p>
        </p:txBody>
      </p:sp>
      <p:grpSp>
        <p:nvGrpSpPr>
          <p:cNvPr id="6" name="그룹 5"/>
          <p:cNvGrpSpPr/>
          <p:nvPr/>
        </p:nvGrpSpPr>
        <p:grpSpPr>
          <a:xfrm>
            <a:off x="5015880" y="3395048"/>
            <a:ext cx="4968552" cy="1448496"/>
            <a:chOff x="1164085" y="1898889"/>
            <a:chExt cx="3096344" cy="1448496"/>
          </a:xfrm>
        </p:grpSpPr>
        <p:sp>
          <p:nvSpPr>
            <p:cNvPr id="7" name="직사각형 6"/>
            <p:cNvSpPr/>
            <p:nvPr/>
          </p:nvSpPr>
          <p:spPr>
            <a:xfrm>
              <a:off x="1164085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Size  Grows Positive?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Code	  32K	 2K        1            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Heap	  34K	 2K        1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Stack	  28K	 2K        0</a:t>
              </a: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1164085" y="2374567"/>
              <a:ext cx="2831851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직사각형 17"/>
          <p:cNvSpPr/>
          <p:nvPr/>
        </p:nvSpPr>
        <p:spPr>
          <a:xfrm>
            <a:off x="2850511" y="4374455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850511" y="3395048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850511" y="4926084"/>
            <a:ext cx="1681939" cy="492249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21" name="직선 연결선 20"/>
          <p:cNvCxnSpPr/>
          <p:nvPr/>
        </p:nvCxnSpPr>
        <p:spPr>
          <a:xfrm flipH="1" flipV="1">
            <a:off x="2850508" y="3212976"/>
            <a:ext cx="2" cy="2592288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H="1" flipV="1">
            <a:off x="4532447" y="3212977"/>
            <a:ext cx="2" cy="256081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9" idx="2"/>
          </p:cNvCxnSpPr>
          <p:nvPr/>
        </p:nvCxnSpPr>
        <p:spPr>
          <a:xfrm flipH="1" flipV="1">
            <a:off x="3691480" y="4077072"/>
            <a:ext cx="1" cy="30247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07568" y="475176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07568" y="422056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50509" y="5773790"/>
            <a:ext cx="1681939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40959" y="3193232"/>
            <a:ext cx="4504430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Segment Register(with Negative-Growth Support)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8B018718-456E-437A-BA63-9CE2E88F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/>
              <a:t>Referring to a </a:t>
            </a:r>
            <a:r>
              <a:rPr lang="en-US" altLang="ko-KR" sz="2400" b="1" dirty="0">
                <a:solidFill>
                  <a:srgbClr val="FF0000"/>
                </a:solidFill>
              </a:rPr>
              <a:t>Stack</a:t>
            </a:r>
            <a:r>
              <a:rPr lang="en-US" altLang="ko-KR" sz="2400" dirty="0"/>
              <a:t> Segment</a:t>
            </a:r>
            <a:endParaRPr lang="ko-KR" altLang="en-US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25" name="Footer Placeholder 23">
            <a:extLst>
              <a:ext uri="{FF2B5EF4-FFF2-40B4-BE49-F238E27FC236}">
                <a16:creationId xmlns:a16="http://schemas.microsoft.com/office/drawing/2014/main" id="{38258AA1-9F16-45F4-BDB4-01902927A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26" name="Slide Number Placeholder 1">
            <a:extLst>
              <a:ext uri="{FF2B5EF4-FFF2-40B4-BE49-F238E27FC236}">
                <a16:creationId xmlns:a16="http://schemas.microsoft.com/office/drawing/2014/main" id="{A17ECC41-4C3C-45B7-887C-ABD2232C0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79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76448"/>
            <a:ext cx="10515600" cy="4700515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Segment can be </a:t>
            </a:r>
            <a:r>
              <a:rPr lang="en-US" altLang="ko-KR" sz="1800" b="1" dirty="0"/>
              <a:t>shared between address</a:t>
            </a:r>
            <a:r>
              <a:rPr lang="en-US" altLang="ko-KR" sz="1800" dirty="0"/>
              <a:t> space.</a:t>
            </a:r>
          </a:p>
          <a:p>
            <a:pPr lvl="1"/>
            <a:r>
              <a:rPr lang="en-US" altLang="ko-KR" sz="1800" b="1" dirty="0"/>
              <a:t>Code sharing </a:t>
            </a:r>
            <a:r>
              <a:rPr lang="en-US" altLang="ko-KR" sz="1800" dirty="0"/>
              <a:t>is still in use in systems today.</a:t>
            </a:r>
          </a:p>
          <a:p>
            <a:pPr lvl="1"/>
            <a:r>
              <a:rPr lang="en-US" altLang="ko-KR" sz="1800" dirty="0"/>
              <a:t> by extra hardware support.</a:t>
            </a:r>
          </a:p>
          <a:p>
            <a:r>
              <a:rPr lang="en-US" altLang="ko-KR" sz="1800" dirty="0"/>
              <a:t>Extra hardware support is need for form of </a:t>
            </a:r>
            <a:r>
              <a:rPr lang="en-US" altLang="ko-KR" sz="1800" b="1" dirty="0"/>
              <a:t>Protection bits. </a:t>
            </a:r>
          </a:p>
          <a:p>
            <a:pPr lvl="1"/>
            <a:r>
              <a:rPr lang="en-US" altLang="ko-KR" sz="1800" b="1" dirty="0"/>
              <a:t>A few more bits</a:t>
            </a:r>
            <a:r>
              <a:rPr lang="en-US" altLang="ko-KR" sz="1800" dirty="0"/>
              <a:t> per segment to indicate </a:t>
            </a:r>
            <a:r>
              <a:rPr lang="en-US" altLang="ko-KR" sz="1800" b="1" dirty="0"/>
              <a:t>permissions</a:t>
            </a:r>
            <a:r>
              <a:rPr lang="en-US" altLang="ko-KR" sz="1800" dirty="0"/>
              <a:t> of </a:t>
            </a:r>
            <a:r>
              <a:rPr lang="en-US" altLang="ko-KR" sz="1800" b="1" dirty="0"/>
              <a:t>read,</a:t>
            </a:r>
            <a:r>
              <a:rPr lang="en-US" altLang="ko-KR" sz="1800" dirty="0"/>
              <a:t> write and </a:t>
            </a:r>
            <a:r>
              <a:rPr lang="en-US" altLang="ko-KR" sz="1800" b="1" dirty="0"/>
              <a:t>execute</a:t>
            </a:r>
            <a:r>
              <a:rPr lang="en-US" altLang="ko-KR" sz="1800" dirty="0"/>
              <a:t>. </a:t>
            </a:r>
          </a:p>
          <a:p>
            <a:pPr lvl="1"/>
            <a:endParaRPr lang="ko-KR" altLang="en-US" sz="1800" dirty="0"/>
          </a:p>
        </p:txBody>
      </p:sp>
      <p:grpSp>
        <p:nvGrpSpPr>
          <p:cNvPr id="10" name="그룹 9"/>
          <p:cNvGrpSpPr/>
          <p:nvPr/>
        </p:nvGrpSpPr>
        <p:grpSpPr>
          <a:xfrm>
            <a:off x="2639618" y="3933056"/>
            <a:ext cx="6252497" cy="1448496"/>
            <a:chOff x="1164085" y="1898889"/>
            <a:chExt cx="3096344" cy="1448496"/>
          </a:xfrm>
        </p:grpSpPr>
        <p:sp>
          <p:nvSpPr>
            <p:cNvPr id="11" name="직사각형 10"/>
            <p:cNvSpPr/>
            <p:nvPr/>
          </p:nvSpPr>
          <p:spPr>
            <a:xfrm>
              <a:off x="1164085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Size  Grows Positive?  Protection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Code	  32K	 2K        1           Read-Execute            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Heap	  34K	 2K        1           Read-Write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Stack	  28K	 2K        0           Read-Write</a:t>
              </a: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1164085" y="2374567"/>
              <a:ext cx="3060685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3952633" y="3779168"/>
            <a:ext cx="362646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Segment Register Values(with Protection)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A486679-8CEF-4A95-ABB6-D9857DB04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/>
              <a:t>Support for Sharing</a:t>
            </a:r>
            <a:endParaRPr lang="ko-KR" altLang="en-US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14" name="Footer Placeholder 23">
            <a:extLst>
              <a:ext uri="{FF2B5EF4-FFF2-40B4-BE49-F238E27FC236}">
                <a16:creationId xmlns:a16="http://schemas.microsoft.com/office/drawing/2014/main" id="{4E8EC68D-BF58-479A-9B55-0AE21070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EAD32322-4852-40DF-8FFC-FCB9BF0B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84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b="1" dirty="0"/>
              <a:t>Coarse-Grained</a:t>
            </a:r>
            <a:r>
              <a:rPr lang="en-US" altLang="ko-KR" sz="1800" dirty="0"/>
              <a:t> means segmentation in a small number.</a:t>
            </a:r>
          </a:p>
          <a:p>
            <a:pPr lvl="1"/>
            <a:r>
              <a:rPr lang="en-US" altLang="ko-KR" sz="1800" dirty="0"/>
              <a:t> e.g., code, heap, stack.</a:t>
            </a:r>
          </a:p>
          <a:p>
            <a:endParaRPr lang="en-US" altLang="ko-KR" sz="1800" b="1" dirty="0"/>
          </a:p>
          <a:p>
            <a:endParaRPr lang="en-US" altLang="ko-KR" sz="1800" b="1" dirty="0"/>
          </a:p>
          <a:p>
            <a:endParaRPr lang="en-US" altLang="ko-KR" sz="1800" b="1" dirty="0"/>
          </a:p>
          <a:p>
            <a:endParaRPr lang="en-US" altLang="ko-KR" sz="1800" b="1" dirty="0"/>
          </a:p>
          <a:p>
            <a:endParaRPr lang="en-US" altLang="ko-KR" sz="1800" b="1" dirty="0"/>
          </a:p>
          <a:p>
            <a:r>
              <a:rPr lang="en-US" altLang="ko-KR" sz="1800" b="1" dirty="0"/>
              <a:t>Fine-Grained</a:t>
            </a:r>
            <a:r>
              <a:rPr lang="en-US" altLang="ko-KR" sz="1800" dirty="0"/>
              <a:t> segmentation allows </a:t>
            </a:r>
            <a:r>
              <a:rPr lang="en-US" altLang="ko-KR" sz="1800" b="1" dirty="0"/>
              <a:t>more flexibility</a:t>
            </a:r>
            <a:r>
              <a:rPr lang="en-US" altLang="ko-KR" sz="1800" dirty="0"/>
              <a:t> for address space in some early system.</a:t>
            </a:r>
          </a:p>
          <a:p>
            <a:pPr lvl="1"/>
            <a:r>
              <a:rPr lang="en-US" altLang="ko-KR" sz="1800" dirty="0"/>
              <a:t>To support many segments, Hardware support with a </a:t>
            </a:r>
            <a:r>
              <a:rPr lang="en-US" altLang="ko-KR" sz="1800" b="1" dirty="0"/>
              <a:t>segment table</a:t>
            </a:r>
            <a:r>
              <a:rPr lang="en-US" altLang="ko-KR" sz="1800" dirty="0"/>
              <a:t> is required. </a:t>
            </a:r>
          </a:p>
          <a:p>
            <a:endParaRPr lang="ko-KR" altLang="en-US" sz="1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683E8A-B03D-4F87-B1CF-39997EA9D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/>
              <a:t>Grained – Fine and Coarse</a:t>
            </a:r>
            <a:endParaRPr lang="ko-KR" altLang="en-US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9" name="Footer Placeholder 23">
            <a:extLst>
              <a:ext uri="{FF2B5EF4-FFF2-40B4-BE49-F238E27FC236}">
                <a16:creationId xmlns:a16="http://schemas.microsoft.com/office/drawing/2014/main" id="{93EB0C6B-12B2-4B43-AF2A-4AA93A958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7B04EC2-2492-4977-9D92-B7CA3A28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63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b="1" dirty="0"/>
              <a:t>External Fragmentation</a:t>
            </a:r>
            <a:r>
              <a:rPr lang="en-US" altLang="ko-KR" sz="1800" dirty="0"/>
              <a:t>: little holes of </a:t>
            </a:r>
            <a:r>
              <a:rPr lang="en-US" altLang="ko-KR" sz="1800" b="1" dirty="0"/>
              <a:t>free space</a:t>
            </a:r>
            <a:r>
              <a:rPr lang="en-US" altLang="ko-KR" sz="1800" dirty="0"/>
              <a:t> in physical memory that make difficulty to allocate new segments.</a:t>
            </a:r>
          </a:p>
          <a:p>
            <a:pPr lvl="1"/>
            <a:r>
              <a:rPr lang="en-US" altLang="ko-KR" sz="1800" dirty="0"/>
              <a:t>There is </a:t>
            </a:r>
            <a:r>
              <a:rPr lang="en-US" altLang="ko-KR" sz="1800" b="1" dirty="0"/>
              <a:t>24KB free</a:t>
            </a:r>
            <a:r>
              <a:rPr lang="en-US" altLang="ko-KR" sz="1800" dirty="0"/>
              <a:t>, but </a:t>
            </a:r>
            <a:r>
              <a:rPr lang="en-US" altLang="ko-KR" sz="1800" b="1" dirty="0"/>
              <a:t>not in one contiguous</a:t>
            </a:r>
            <a:r>
              <a:rPr lang="en-US" altLang="ko-KR" sz="1800" dirty="0"/>
              <a:t> segment.</a:t>
            </a:r>
          </a:p>
          <a:p>
            <a:pPr lvl="1"/>
            <a:r>
              <a:rPr lang="en-US" altLang="ko-KR" sz="1800" dirty="0"/>
              <a:t>The OS </a:t>
            </a:r>
            <a:r>
              <a:rPr lang="en-US" altLang="ko-KR" sz="1800" b="1" dirty="0"/>
              <a:t>cannot</a:t>
            </a:r>
            <a:r>
              <a:rPr lang="en-US" altLang="ko-KR" sz="1800" dirty="0"/>
              <a:t> satisfy the </a:t>
            </a:r>
            <a:r>
              <a:rPr lang="en-US" altLang="ko-KR" sz="1800" b="1" dirty="0"/>
              <a:t>20KB request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en-US" altLang="ko-KR" sz="1800" b="1" dirty="0"/>
              <a:t>Compaction</a:t>
            </a:r>
            <a:r>
              <a:rPr lang="en-US" altLang="ko-KR" sz="1800" dirty="0"/>
              <a:t>: </a:t>
            </a:r>
            <a:r>
              <a:rPr lang="en-US" altLang="ko-KR" sz="1800" b="1" dirty="0"/>
              <a:t>rearranging</a:t>
            </a:r>
            <a:r>
              <a:rPr lang="en-US" altLang="ko-KR" sz="1800" dirty="0"/>
              <a:t> the exiting segments in physical memory.</a:t>
            </a:r>
          </a:p>
          <a:p>
            <a:pPr lvl="1"/>
            <a:r>
              <a:rPr lang="en-US" altLang="ko-KR" sz="1800" dirty="0"/>
              <a:t>Compaction is </a:t>
            </a:r>
            <a:r>
              <a:rPr lang="en-US" altLang="ko-KR" sz="1800" b="1" dirty="0"/>
              <a:t>costly</a:t>
            </a:r>
            <a:r>
              <a:rPr lang="en-US" altLang="ko-KR" sz="1800" dirty="0"/>
              <a:t>.</a:t>
            </a:r>
          </a:p>
          <a:p>
            <a:pPr lvl="2"/>
            <a:r>
              <a:rPr lang="en-US" altLang="ko-KR" sz="1800" b="1" dirty="0"/>
              <a:t>Stop</a:t>
            </a:r>
            <a:r>
              <a:rPr lang="en-US" altLang="ko-KR" sz="1800" dirty="0"/>
              <a:t> running process.</a:t>
            </a:r>
          </a:p>
          <a:p>
            <a:pPr lvl="2"/>
            <a:r>
              <a:rPr lang="en-US" altLang="ko-KR" sz="1800" b="1" dirty="0"/>
              <a:t>Copy</a:t>
            </a:r>
            <a:r>
              <a:rPr lang="en-US" altLang="ko-KR" sz="1800" dirty="0"/>
              <a:t> data to somewhere.</a:t>
            </a:r>
          </a:p>
          <a:p>
            <a:pPr lvl="2"/>
            <a:r>
              <a:rPr lang="en-US" altLang="ko-KR" sz="1800" b="1" dirty="0"/>
              <a:t>Change</a:t>
            </a:r>
            <a:r>
              <a:rPr lang="en-US" altLang="ko-KR" sz="1800" dirty="0"/>
              <a:t> segment register value.</a:t>
            </a:r>
          </a:p>
          <a:p>
            <a:pPr marL="457200" lvl="1" indent="0">
              <a:buNone/>
            </a:pPr>
            <a:endParaRPr lang="ko-KR" altLang="en-US" sz="1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9E0BCB-A98E-4D2D-B850-932368854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/>
              <a:t>OS Support – Fragmentation </a:t>
            </a:r>
            <a:endParaRPr lang="ko-KR" altLang="en-US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9" name="Footer Placeholder 23">
            <a:extLst>
              <a:ext uri="{FF2B5EF4-FFF2-40B4-BE49-F238E27FC236}">
                <a16:creationId xmlns:a16="http://schemas.microsoft.com/office/drawing/2014/main" id="{80B537C6-A888-4A89-A1F5-0327F1D09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6C92330B-E031-49F3-A435-371E9D4F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25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34303" y="177383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29180" y="274143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4310" y="376929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30623" y="477740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30623" y="5785520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58246" y="1459381"/>
            <a:ext cx="1680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Not compacted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472123" y="1854137"/>
            <a:ext cx="1687069" cy="10300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4310" y="221528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30623" y="324549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30623" y="427335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16080" y="528146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56KB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473566" y="2884215"/>
            <a:ext cx="1687099" cy="1543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7472123" y="4427240"/>
            <a:ext cx="1688542" cy="1544254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3823" y="177383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508700" y="274143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513830" y="376929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510143" y="477740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510143" y="5785520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156766" y="1854137"/>
            <a:ext cx="1681946" cy="10300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3830" y="221528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10143" y="324549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510143" y="427335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95600" y="528146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56KB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159164" y="2884216"/>
            <a:ext cx="1679548" cy="51516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3158246" y="4686061"/>
            <a:ext cx="1681939" cy="77026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3159164" y="3398144"/>
            <a:ext cx="1679548" cy="515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3159164" y="3913311"/>
            <a:ext cx="1679548" cy="257583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3159164" y="4170894"/>
            <a:ext cx="1679548" cy="515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3160636" y="5456328"/>
            <a:ext cx="1679548" cy="515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80198" y="1483963"/>
            <a:ext cx="1680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Compacted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3C672859-8E6B-4BE1-80FA-4E5DC1BEA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60" y="386655"/>
            <a:ext cx="10542477" cy="523220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/>
              <a:t>Free Space Management – Memory Compaction</a:t>
            </a:r>
          </a:p>
        </p:txBody>
      </p:sp>
      <p:sp>
        <p:nvSpPr>
          <p:cNvPr id="52" name="Footer Placeholder 23">
            <a:extLst>
              <a:ext uri="{FF2B5EF4-FFF2-40B4-BE49-F238E27FC236}">
                <a16:creationId xmlns:a16="http://schemas.microsoft.com/office/drawing/2014/main" id="{3754B946-D0EF-49A1-B243-E5D9E2F4D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53" name="Slide Number Placeholder 1">
            <a:extLst>
              <a:ext uri="{FF2B5EF4-FFF2-40B4-BE49-F238E27FC236}">
                <a16:creationId xmlns:a16="http://schemas.microsoft.com/office/drawing/2014/main" id="{A867080B-57A5-45F1-8E9B-9A61ED04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9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Finding a free chunk of memory that can satisfy the request and splitting it into two.</a:t>
            </a:r>
          </a:p>
          <a:p>
            <a:pPr lvl="1"/>
            <a:r>
              <a:rPr lang="en-US" altLang="ko-KR" sz="1800" dirty="0"/>
              <a:t>When request for memory allocation is </a:t>
            </a:r>
            <a:r>
              <a:rPr lang="en-US" altLang="ko-KR" sz="1800" b="1" dirty="0"/>
              <a:t>smaller</a:t>
            </a:r>
            <a:r>
              <a:rPr lang="en-US" altLang="ko-KR" sz="1800" dirty="0"/>
              <a:t> than the size of free chunks.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4563213" y="3454296"/>
            <a:ext cx="3168352" cy="529317"/>
            <a:chOff x="2375756" y="3043699"/>
            <a:chExt cx="3168352" cy="529317"/>
          </a:xfrm>
        </p:grpSpPr>
        <p:sp>
          <p:nvSpPr>
            <p:cNvPr id="6" name="직사각형 5"/>
            <p:cNvSpPr/>
            <p:nvPr/>
          </p:nvSpPr>
          <p:spPr>
            <a:xfrm>
              <a:off x="2555776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491880" y="3043699"/>
              <a:ext cx="936104" cy="2412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used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427984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75756" y="3265239"/>
              <a:ext cx="36004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57854" y="3265238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11960" y="3265239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48064" y="3265237"/>
              <a:ext cx="39604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3983680" y="4293096"/>
            <a:ext cx="4992640" cy="1008113"/>
            <a:chOff x="1811608" y="3645023"/>
            <a:chExt cx="4992640" cy="1008113"/>
          </a:xfrm>
        </p:grpSpPr>
        <p:sp>
          <p:nvSpPr>
            <p:cNvPr id="15" name="TextBox 14"/>
            <p:cNvSpPr txBox="1"/>
            <p:nvPr/>
          </p:nvSpPr>
          <p:spPr>
            <a:xfrm>
              <a:off x="181160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8416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3023828" y="3645023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553998" y="3645024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spc="-1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addr:20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24" name="직선 화살표 연결선 23"/>
            <p:cNvCxnSpPr>
              <a:stCxn id="18" idx="6"/>
            </p:cNvCxnSpPr>
            <p:nvPr/>
          </p:nvCxnSpPr>
          <p:spPr>
            <a:xfrm>
              <a:off x="559361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/>
            <p:cNvCxnSpPr/>
            <p:nvPr/>
          </p:nvCxnSpPr>
          <p:spPr>
            <a:xfrm>
              <a:off x="406344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/>
            <p:nvPr/>
          </p:nvCxnSpPr>
          <p:spPr>
            <a:xfrm>
              <a:off x="253327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/>
        </p:nvSpPr>
        <p:spPr>
          <a:xfrm>
            <a:off x="3044107" y="3421049"/>
            <a:ext cx="15191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30-byte heap: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106" y="4639948"/>
            <a:ext cx="939574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8E5C571-8487-43A0-A9C1-E73AAEFB9A49}"/>
              </a:ext>
            </a:extLst>
          </p:cNvPr>
          <p:cNvSpPr txBox="1">
            <a:spLocks/>
          </p:cNvSpPr>
          <p:nvPr/>
        </p:nvSpPr>
        <p:spPr>
          <a:xfrm>
            <a:off x="824760" y="386655"/>
            <a:ext cx="1054247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dirty="0"/>
              <a:t>Free Space Management – Splitting</a:t>
            </a:r>
          </a:p>
        </p:txBody>
      </p:sp>
      <p:sp>
        <p:nvSpPr>
          <p:cNvPr id="29" name="Footer Placeholder 23">
            <a:extLst>
              <a:ext uri="{FF2B5EF4-FFF2-40B4-BE49-F238E27FC236}">
                <a16:creationId xmlns:a16="http://schemas.microsoft.com/office/drawing/2014/main" id="{38C9D32C-EE31-447E-BFBF-6D3EE5ACC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30" name="Slide Number Placeholder 1">
            <a:extLst>
              <a:ext uri="{FF2B5EF4-FFF2-40B4-BE49-F238E27FC236}">
                <a16:creationId xmlns:a16="http://schemas.microsoft.com/office/drawing/2014/main" id="{948DBD49-95B5-457D-AEF4-23B1ADBF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57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4871"/>
            <a:ext cx="10515600" cy="5062092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Two 10-bytes free segment with </a:t>
            </a:r>
            <a:r>
              <a:rPr lang="en-US" altLang="ko-KR" sz="1800" b="1" dirty="0"/>
              <a:t>1-byte request</a:t>
            </a:r>
            <a:r>
              <a:rPr lang="en-US" altLang="ko-KR" sz="1800" dirty="0"/>
              <a:t> </a:t>
            </a:r>
            <a:endParaRPr lang="ko-KR" altLang="en-US" sz="1800" dirty="0"/>
          </a:p>
        </p:txBody>
      </p:sp>
      <p:grpSp>
        <p:nvGrpSpPr>
          <p:cNvPr id="42" name="그룹 41"/>
          <p:cNvGrpSpPr/>
          <p:nvPr/>
        </p:nvGrpSpPr>
        <p:grpSpPr>
          <a:xfrm>
            <a:off x="4348024" y="1590040"/>
            <a:ext cx="3168352" cy="529317"/>
            <a:chOff x="2375756" y="3043699"/>
            <a:chExt cx="3168352" cy="529317"/>
          </a:xfrm>
        </p:grpSpPr>
        <p:sp>
          <p:nvSpPr>
            <p:cNvPr id="6" name="직사각형 5"/>
            <p:cNvSpPr/>
            <p:nvPr/>
          </p:nvSpPr>
          <p:spPr>
            <a:xfrm>
              <a:off x="2555776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491880" y="3043699"/>
              <a:ext cx="936104" cy="2412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used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427984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75756" y="3265239"/>
              <a:ext cx="36004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57854" y="3265238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11960" y="3265239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48064" y="3265237"/>
              <a:ext cx="39604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3768491" y="2204864"/>
            <a:ext cx="4992640" cy="1008113"/>
            <a:chOff x="1811608" y="3645023"/>
            <a:chExt cx="4992640" cy="1008113"/>
          </a:xfrm>
        </p:grpSpPr>
        <p:sp>
          <p:nvSpPr>
            <p:cNvPr id="15" name="TextBox 14"/>
            <p:cNvSpPr txBox="1"/>
            <p:nvPr/>
          </p:nvSpPr>
          <p:spPr>
            <a:xfrm>
              <a:off x="181160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8416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3023828" y="3645023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553998" y="3645024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spc="-1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addr:20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24" name="직선 화살표 연결선 23"/>
            <p:cNvCxnSpPr>
              <a:stCxn id="18" idx="6"/>
            </p:cNvCxnSpPr>
            <p:nvPr/>
          </p:nvCxnSpPr>
          <p:spPr>
            <a:xfrm>
              <a:off x="559361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/>
            <p:cNvCxnSpPr/>
            <p:nvPr/>
          </p:nvCxnSpPr>
          <p:spPr>
            <a:xfrm>
              <a:off x="406344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/>
            <p:nvPr/>
          </p:nvCxnSpPr>
          <p:spPr>
            <a:xfrm>
              <a:off x="253327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/>
        </p:nvSpPr>
        <p:spPr>
          <a:xfrm>
            <a:off x="2828918" y="1556793"/>
            <a:ext cx="15191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30-byte heap: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28917" y="2551716"/>
            <a:ext cx="939574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4419841" y="4470360"/>
            <a:ext cx="3168352" cy="529317"/>
            <a:chOff x="2375756" y="3043699"/>
            <a:chExt cx="3168352" cy="529317"/>
          </a:xfrm>
        </p:grpSpPr>
        <p:sp>
          <p:nvSpPr>
            <p:cNvPr id="26" name="직사각형 25"/>
            <p:cNvSpPr/>
            <p:nvPr/>
          </p:nvSpPr>
          <p:spPr>
            <a:xfrm>
              <a:off x="2555776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3491880" y="3043699"/>
              <a:ext cx="936104" cy="2412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used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4680012" y="3043699"/>
              <a:ext cx="684076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75756" y="3265239"/>
              <a:ext cx="36004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57854" y="3265238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178198" y="3265239"/>
              <a:ext cx="71109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20  21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48064" y="3265237"/>
              <a:ext cx="39604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3840308" y="5085184"/>
            <a:ext cx="4992640" cy="1008113"/>
            <a:chOff x="1811608" y="3645023"/>
            <a:chExt cx="4992640" cy="1008113"/>
          </a:xfrm>
        </p:grpSpPr>
        <p:sp>
          <p:nvSpPr>
            <p:cNvPr id="34" name="TextBox 33"/>
            <p:cNvSpPr txBox="1"/>
            <p:nvPr/>
          </p:nvSpPr>
          <p:spPr>
            <a:xfrm>
              <a:off x="181160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8416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" name="타원 35"/>
            <p:cNvSpPr/>
            <p:nvPr/>
          </p:nvSpPr>
          <p:spPr>
            <a:xfrm>
              <a:off x="3023828" y="3645023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타원 36"/>
            <p:cNvSpPr/>
            <p:nvPr/>
          </p:nvSpPr>
          <p:spPr>
            <a:xfrm>
              <a:off x="4553998" y="3645024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spc="-100" dirty="0">
                  <a:solidFill>
                    <a:srgbClr val="FF000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addr:21</a:t>
              </a:r>
            </a:p>
            <a:p>
              <a:pPr algn="ctr"/>
              <a:r>
                <a:rPr lang="en-US" altLang="ko-KR" sz="140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len:9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43" name="직선 화살표 연결선 42"/>
            <p:cNvCxnSpPr>
              <a:stCxn id="37" idx="6"/>
            </p:cNvCxnSpPr>
            <p:nvPr/>
          </p:nvCxnSpPr>
          <p:spPr>
            <a:xfrm>
              <a:off x="559361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/>
            <p:cNvCxnSpPr/>
            <p:nvPr/>
          </p:nvCxnSpPr>
          <p:spPr>
            <a:xfrm>
              <a:off x="406344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/>
            <p:cNvCxnSpPr/>
            <p:nvPr/>
          </p:nvCxnSpPr>
          <p:spPr>
            <a:xfrm>
              <a:off x="253327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2900735" y="4437113"/>
            <a:ext cx="15191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30-byte heap: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00734" y="5432036"/>
            <a:ext cx="939574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472069" y="4470358"/>
            <a:ext cx="252028" cy="2412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모서리가 둥근 직사각형 50"/>
              <p:cNvSpPr/>
              <p:nvPr/>
            </p:nvSpPr>
            <p:spPr>
              <a:xfrm>
                <a:off x="4480417" y="3507716"/>
                <a:ext cx="3677093" cy="459862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𝒔𝒑𝒍𝒊𝒕𝒕𝒊𝒏𝒈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𝟏𝟎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−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𝒃𝒚𝒕𝒆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𝒇𝒓𝒆𝒆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𝒔𝒆𝒈𝒎𝒆𝒏𝒕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</m:oMath>
                  </m:oMathPara>
                </a14:m>
                <a:endParaRPr lang="en-US" altLang="ko-KR" sz="1600" b="1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>
          <p:sp>
            <p:nvSpPr>
              <p:cNvPr id="51" name="모서리가 둥근 직사각형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417" y="3507716"/>
                <a:ext cx="3677093" cy="459862"/>
              </a:xfrm>
              <a:prstGeom prst="roundRect">
                <a:avLst>
                  <a:gd name="adj" fmla="val 1458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연결선 13"/>
          <p:cNvCxnSpPr>
            <a:stCxn id="51" idx="3"/>
          </p:cNvCxnSpPr>
          <p:nvPr/>
        </p:nvCxnSpPr>
        <p:spPr>
          <a:xfrm>
            <a:off x="8157510" y="3737647"/>
            <a:ext cx="1538891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>
            <a:endCxn id="51" idx="1"/>
          </p:cNvCxnSpPr>
          <p:nvPr/>
        </p:nvCxnSpPr>
        <p:spPr>
          <a:xfrm>
            <a:off x="2916022" y="3737647"/>
            <a:ext cx="1564395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itle 1">
            <a:extLst>
              <a:ext uri="{FF2B5EF4-FFF2-40B4-BE49-F238E27FC236}">
                <a16:creationId xmlns:a16="http://schemas.microsoft.com/office/drawing/2014/main" id="{472A94B5-2D44-4D6F-A771-6D2ECE3375DE}"/>
              </a:ext>
            </a:extLst>
          </p:cNvPr>
          <p:cNvSpPr txBox="1">
            <a:spLocks/>
          </p:cNvSpPr>
          <p:nvPr/>
        </p:nvSpPr>
        <p:spPr>
          <a:xfrm>
            <a:off x="824760" y="386655"/>
            <a:ext cx="1054247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dirty="0"/>
              <a:t>Free Space Management – Splitting</a:t>
            </a:r>
          </a:p>
        </p:txBody>
      </p:sp>
      <p:sp>
        <p:nvSpPr>
          <p:cNvPr id="53" name="Footer Placeholder 23">
            <a:extLst>
              <a:ext uri="{FF2B5EF4-FFF2-40B4-BE49-F238E27FC236}">
                <a16:creationId xmlns:a16="http://schemas.microsoft.com/office/drawing/2014/main" id="{9DD13E00-0EB6-4B0B-8D8D-9C2DEEE3B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54" name="Slide Number Placeholder 1">
            <a:extLst>
              <a:ext uri="{FF2B5EF4-FFF2-40B4-BE49-F238E27FC236}">
                <a16:creationId xmlns:a16="http://schemas.microsoft.com/office/drawing/2014/main" id="{8A913F48-C192-4BA5-8437-DA2C18C0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86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86878"/>
            <a:ext cx="10515600" cy="4990085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If a user requests memory that is </a:t>
            </a:r>
            <a:r>
              <a:rPr lang="en-US" altLang="ko-KR" sz="1800" b="1" dirty="0"/>
              <a:t>bigger than free chunk size</a:t>
            </a:r>
            <a:r>
              <a:rPr lang="en-US" altLang="ko-KR" sz="1800" dirty="0"/>
              <a:t>, the list will </a:t>
            </a:r>
            <a:r>
              <a:rPr lang="en-US" altLang="ko-KR" sz="1800" b="1" dirty="0"/>
              <a:t>not find </a:t>
            </a:r>
            <a:r>
              <a:rPr lang="en-US" altLang="ko-KR" sz="1800" dirty="0"/>
              <a:t>such a free chunk.</a:t>
            </a:r>
          </a:p>
          <a:p>
            <a:r>
              <a:rPr lang="en-US" altLang="ko-KR" sz="1800" dirty="0"/>
              <a:t>Coalescing: </a:t>
            </a:r>
            <a:r>
              <a:rPr lang="en-US" altLang="ko-KR" sz="1800" b="1" dirty="0"/>
              <a:t>Merge</a:t>
            </a:r>
            <a:r>
              <a:rPr lang="en-US" altLang="ko-KR" sz="1800" dirty="0"/>
              <a:t> returning a free chunk with existing chunks into a large single free chunk if </a:t>
            </a:r>
            <a:r>
              <a:rPr lang="en-US" altLang="ko-KR" sz="1800" b="1" dirty="0"/>
              <a:t>addresses</a:t>
            </a:r>
            <a:r>
              <a:rPr lang="en-US" altLang="ko-KR" sz="1800" dirty="0"/>
              <a:t> of them are </a:t>
            </a:r>
            <a:r>
              <a:rPr lang="en-US" altLang="ko-KR" sz="1800" b="1" dirty="0"/>
              <a:t>nearby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grpSp>
        <p:nvGrpSpPr>
          <p:cNvPr id="53" name="그룹 52"/>
          <p:cNvGrpSpPr/>
          <p:nvPr/>
        </p:nvGrpSpPr>
        <p:grpSpPr>
          <a:xfrm>
            <a:off x="2719929" y="3067078"/>
            <a:ext cx="6498722" cy="1009994"/>
            <a:chOff x="1961710" y="4725144"/>
            <a:chExt cx="6498722" cy="1009994"/>
          </a:xfrm>
        </p:grpSpPr>
        <p:sp>
          <p:nvSpPr>
            <p:cNvPr id="43" name="TextBox 42"/>
            <p:cNvSpPr txBox="1"/>
            <p:nvPr/>
          </p:nvSpPr>
          <p:spPr>
            <a:xfrm>
              <a:off x="1961710" y="508250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740352" y="5075312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5" name="타원 44"/>
            <p:cNvSpPr/>
            <p:nvPr/>
          </p:nvSpPr>
          <p:spPr>
            <a:xfrm>
              <a:off x="4680012" y="4725144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6210182" y="4725145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spc="-1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addr:20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47" name="직선 화살표 연결선 46"/>
            <p:cNvCxnSpPr>
              <a:stCxn id="46" idx="6"/>
            </p:cNvCxnSpPr>
            <p:nvPr/>
          </p:nvCxnSpPr>
          <p:spPr>
            <a:xfrm>
              <a:off x="7249798" y="5229201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/>
            <p:cNvCxnSpPr/>
            <p:nvPr/>
          </p:nvCxnSpPr>
          <p:spPr>
            <a:xfrm>
              <a:off x="5719628" y="5229201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/>
            <p:cNvCxnSpPr/>
            <p:nvPr/>
          </p:nvCxnSpPr>
          <p:spPr>
            <a:xfrm>
              <a:off x="2681790" y="523639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타원 50"/>
            <p:cNvSpPr/>
            <p:nvPr/>
          </p:nvSpPr>
          <p:spPr>
            <a:xfrm>
              <a:off x="3172344" y="4727026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spc="-15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addr:10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52" name="직선 화살표 연결선 51"/>
            <p:cNvCxnSpPr/>
            <p:nvPr/>
          </p:nvCxnSpPr>
          <p:spPr>
            <a:xfrm>
              <a:off x="4200709" y="5231082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/>
          <p:cNvGrpSpPr/>
          <p:nvPr/>
        </p:nvGrpSpPr>
        <p:grpSpPr>
          <a:xfrm>
            <a:off x="2720420" y="5013177"/>
            <a:ext cx="3462470" cy="1008112"/>
            <a:chOff x="1811608" y="3645023"/>
            <a:chExt cx="3462470" cy="1008112"/>
          </a:xfrm>
        </p:grpSpPr>
        <p:sp>
          <p:nvSpPr>
            <p:cNvPr id="55" name="TextBox 54"/>
            <p:cNvSpPr txBox="1"/>
            <p:nvPr/>
          </p:nvSpPr>
          <p:spPr>
            <a:xfrm>
              <a:off x="181160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553998" y="3995190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7" name="타원 56"/>
            <p:cNvSpPr/>
            <p:nvPr/>
          </p:nvSpPr>
          <p:spPr>
            <a:xfrm>
              <a:off x="3023828" y="3645023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b="1" dirty="0">
                  <a:solidFill>
                    <a:srgbClr val="FF000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len:30</a:t>
              </a:r>
              <a:endParaRPr lang="ko-KR" altLang="en-US" sz="1400" b="1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59" name="직선 화살표 연결선 58"/>
            <p:cNvCxnSpPr/>
            <p:nvPr/>
          </p:nvCxnSpPr>
          <p:spPr>
            <a:xfrm>
              <a:off x="406344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/>
            <p:cNvCxnSpPr/>
            <p:nvPr/>
          </p:nvCxnSpPr>
          <p:spPr>
            <a:xfrm>
              <a:off x="253327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모서리가 둥근 직사각형 23"/>
              <p:cNvSpPr/>
              <p:nvPr/>
            </p:nvSpPr>
            <p:spPr>
              <a:xfrm>
                <a:off x="4004208" y="4293096"/>
                <a:ext cx="3677093" cy="459862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𝒄𝒐𝒂𝒍𝒆𝒔𝒄𝒊𝒏𝒈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𝒇𝒓𝒆𝒆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𝒄𝒉𝒖𝒏𝒌𝒔</m:t>
                      </m:r>
                    </m:oMath>
                  </m:oMathPara>
                </a14:m>
                <a:endParaRPr lang="en-US" altLang="ko-KR" sz="1600" b="1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>
          <p:sp>
            <p:nvSpPr>
              <p:cNvPr id="24" name="모서리가 둥근 직사각형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208" y="4293096"/>
                <a:ext cx="3677093" cy="459862"/>
              </a:xfrm>
              <a:prstGeom prst="roundRect">
                <a:avLst>
                  <a:gd name="adj" fmla="val 1458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연결선 24"/>
          <p:cNvCxnSpPr>
            <a:stCxn id="24" idx="3"/>
          </p:cNvCxnSpPr>
          <p:nvPr/>
        </p:nvCxnSpPr>
        <p:spPr>
          <a:xfrm>
            <a:off x="7681301" y="4523027"/>
            <a:ext cx="1538891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endCxn id="24" idx="1"/>
          </p:cNvCxnSpPr>
          <p:nvPr/>
        </p:nvCxnSpPr>
        <p:spPr>
          <a:xfrm>
            <a:off x="2439813" y="4523027"/>
            <a:ext cx="1564395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>
            <a:extLst>
              <a:ext uri="{FF2B5EF4-FFF2-40B4-BE49-F238E27FC236}">
                <a16:creationId xmlns:a16="http://schemas.microsoft.com/office/drawing/2014/main" id="{C50DA2C1-AF26-419F-8DCF-7E63F0EA9D4C}"/>
              </a:ext>
            </a:extLst>
          </p:cNvPr>
          <p:cNvSpPr txBox="1">
            <a:spLocks/>
          </p:cNvSpPr>
          <p:nvPr/>
        </p:nvSpPr>
        <p:spPr>
          <a:xfrm>
            <a:off x="824760" y="386655"/>
            <a:ext cx="1054247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dirty="0"/>
              <a:t>Free Space Management – Coalescing</a:t>
            </a:r>
          </a:p>
        </p:txBody>
      </p:sp>
      <p:sp>
        <p:nvSpPr>
          <p:cNvPr id="28" name="Footer Placeholder 23">
            <a:extLst>
              <a:ext uri="{FF2B5EF4-FFF2-40B4-BE49-F238E27FC236}">
                <a16:creationId xmlns:a16="http://schemas.microsoft.com/office/drawing/2014/main" id="{4BB6501C-3CDE-4F57-A11C-B7777BC66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4DD747AC-83B8-4A47-AB23-2347D0E5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46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86962"/>
            <a:ext cx="10515600" cy="4990001"/>
          </a:xfrm>
          <a:ln w="19050"/>
        </p:spPr>
        <p:txBody>
          <a:bodyPr>
            <a:normAutofit/>
          </a:bodyPr>
          <a:lstStyle/>
          <a:p>
            <a:r>
              <a:rPr lang="en-US" altLang="ko-KR" sz="1800" dirty="0"/>
              <a:t>The interface to </a:t>
            </a:r>
            <a:r>
              <a:rPr lang="en-US" altLang="ko-KR" sz="1800" dirty="0">
                <a:cs typeface="Courier New" pitchFamily="49" charset="0"/>
              </a:rPr>
              <a:t>free(void *</a:t>
            </a:r>
            <a:r>
              <a:rPr lang="en-US" altLang="ko-KR" sz="1800" dirty="0" err="1">
                <a:cs typeface="Courier New" pitchFamily="49" charset="0"/>
              </a:rPr>
              <a:t>ptr</a:t>
            </a:r>
            <a:r>
              <a:rPr lang="en-US" altLang="ko-KR" sz="1800" dirty="0">
                <a:cs typeface="Courier New" pitchFamily="49" charset="0"/>
              </a:rPr>
              <a:t>)</a:t>
            </a:r>
            <a:r>
              <a:rPr lang="en-US" altLang="ko-KR" sz="1800" dirty="0"/>
              <a:t> does </a:t>
            </a:r>
            <a:r>
              <a:rPr lang="en-US" altLang="ko-KR" sz="1800" b="1" dirty="0"/>
              <a:t>not take</a:t>
            </a:r>
            <a:r>
              <a:rPr lang="en-US" altLang="ko-KR" sz="1800" dirty="0"/>
              <a:t> a </a:t>
            </a:r>
            <a:r>
              <a:rPr lang="en-US" altLang="ko-KR" sz="1800" b="1" dirty="0"/>
              <a:t>size parameter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dirty="0"/>
              <a:t>How does the library </a:t>
            </a:r>
            <a:r>
              <a:rPr lang="en-US" altLang="ko-KR" sz="1800" b="1" dirty="0"/>
              <a:t>know</a:t>
            </a:r>
            <a:r>
              <a:rPr lang="en-US" altLang="ko-KR" sz="1800" dirty="0"/>
              <a:t> </a:t>
            </a:r>
            <a:r>
              <a:rPr lang="en-US" altLang="ko-KR" sz="1800" b="1" dirty="0"/>
              <a:t>the size</a:t>
            </a:r>
            <a:r>
              <a:rPr lang="en-US" altLang="ko-KR" sz="1800" dirty="0"/>
              <a:t> of memory region that will be back </a:t>
            </a:r>
            <a:r>
              <a:rPr lang="en-US" altLang="ko-KR" sz="1800" b="1" dirty="0"/>
              <a:t>into free list</a:t>
            </a:r>
            <a:r>
              <a:rPr lang="en-US" altLang="ko-KR" sz="1800" dirty="0"/>
              <a:t>?</a:t>
            </a:r>
          </a:p>
          <a:p>
            <a:r>
              <a:rPr lang="en-US" altLang="ko-KR" sz="1800" dirty="0"/>
              <a:t>Most allocators store </a:t>
            </a:r>
            <a:r>
              <a:rPr lang="en-US" altLang="ko-KR" sz="1800" b="1" dirty="0"/>
              <a:t>extra information</a:t>
            </a:r>
            <a:r>
              <a:rPr lang="en-US" altLang="ko-KR" sz="1800" dirty="0"/>
              <a:t> in a </a:t>
            </a:r>
            <a:r>
              <a:rPr lang="en-US" altLang="ko-KR" sz="1800" b="1" dirty="0"/>
              <a:t>header</a:t>
            </a:r>
            <a:r>
              <a:rPr lang="en-US" altLang="ko-KR" sz="1800" dirty="0"/>
              <a:t> block.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ko-KR" altLang="en-US" sz="1800" dirty="0"/>
          </a:p>
        </p:txBody>
      </p:sp>
      <p:grpSp>
        <p:nvGrpSpPr>
          <p:cNvPr id="42" name="그룹 41"/>
          <p:cNvGrpSpPr/>
          <p:nvPr/>
        </p:nvGrpSpPr>
        <p:grpSpPr>
          <a:xfrm>
            <a:off x="2891644" y="3575036"/>
            <a:ext cx="6408711" cy="1721957"/>
            <a:chOff x="971600" y="1268761"/>
            <a:chExt cx="6408711" cy="1721957"/>
          </a:xfrm>
        </p:grpSpPr>
        <p:sp>
          <p:nvSpPr>
            <p:cNvPr id="6" name="직사각형 5"/>
            <p:cNvSpPr/>
            <p:nvPr/>
          </p:nvSpPr>
          <p:spPr>
            <a:xfrm>
              <a:off x="2281247" y="1268761"/>
              <a:ext cx="1498666" cy="7259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281247" y="1994699"/>
              <a:ext cx="1498666" cy="99601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1600" y="1856442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ptr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>
              <a:off x="1691680" y="2010331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그룹 40"/>
            <p:cNvGrpSpPr/>
            <p:nvPr/>
          </p:nvGrpSpPr>
          <p:grpSpPr>
            <a:xfrm>
              <a:off x="3860475" y="1284579"/>
              <a:ext cx="200417" cy="656259"/>
              <a:chOff x="3860475" y="1284579"/>
              <a:chExt cx="200417" cy="656259"/>
            </a:xfrm>
          </p:grpSpPr>
          <p:sp>
            <p:nvSpPr>
              <p:cNvPr id="10" name="왼쪽 대괄호 9"/>
              <p:cNvSpPr/>
              <p:nvPr/>
            </p:nvSpPr>
            <p:spPr>
              <a:xfrm flipH="1">
                <a:off x="3860475" y="1284579"/>
                <a:ext cx="96242" cy="656259"/>
              </a:xfrm>
              <a:prstGeom prst="leftBracket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/>
              <p:cNvCxnSpPr>
                <a:stCxn id="10" idx="1"/>
              </p:cNvCxnSpPr>
              <p:nvPr/>
            </p:nvCxnSpPr>
            <p:spPr>
              <a:xfrm flipV="1">
                <a:off x="3956717" y="1612707"/>
                <a:ext cx="104175" cy="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/>
            <p:cNvSpPr txBox="1"/>
            <p:nvPr/>
          </p:nvSpPr>
          <p:spPr>
            <a:xfrm>
              <a:off x="4165738" y="1458819"/>
              <a:ext cx="3214573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header used by </a:t>
              </a:r>
              <a:r>
                <a:rPr lang="en-US" altLang="ko-KR" sz="1400" dirty="0" err="1">
                  <a:latin typeface="Courier New" pitchFamily="49" charset="0"/>
                  <a:ea typeface="맑은 고딕" panose="020B0503020000020004" pitchFamily="50" charset="-127"/>
                  <a:cs typeface="Courier New" pitchFamily="49" charset="0"/>
                </a:rPr>
                <a:t>malloc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library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5739" y="2338819"/>
              <a:ext cx="2745796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20 bytes returned to caller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0" name="그룹 39"/>
            <p:cNvGrpSpPr/>
            <p:nvPr/>
          </p:nvGrpSpPr>
          <p:grpSpPr>
            <a:xfrm>
              <a:off x="3860475" y="2009559"/>
              <a:ext cx="200417" cy="966298"/>
              <a:chOff x="3860475" y="2009559"/>
              <a:chExt cx="200417" cy="966298"/>
            </a:xfrm>
          </p:grpSpPr>
          <p:sp>
            <p:nvSpPr>
              <p:cNvPr id="11" name="왼쪽 대괄호 10"/>
              <p:cNvSpPr/>
              <p:nvPr/>
            </p:nvSpPr>
            <p:spPr>
              <a:xfrm flipH="1">
                <a:off x="3860475" y="2009559"/>
                <a:ext cx="96242" cy="966298"/>
              </a:xfrm>
              <a:prstGeom prst="leftBracket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9" name="직선 연결선 38"/>
              <p:cNvCxnSpPr>
                <a:stCxn id="11" idx="1"/>
              </p:cNvCxnSpPr>
              <p:nvPr/>
            </p:nvCxnSpPr>
            <p:spPr>
              <a:xfrm flipV="1">
                <a:off x="3956717" y="2492707"/>
                <a:ext cx="104175" cy="1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/>
          <p:cNvSpPr txBox="1"/>
          <p:nvPr/>
        </p:nvSpPr>
        <p:spPr>
          <a:xfrm>
            <a:off x="3570264" y="5363261"/>
            <a:ext cx="3185163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An Allocated Region Plus Header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91643" y="2862726"/>
            <a:ext cx="2510422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ctr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(20);</a:t>
            </a:r>
          </a:p>
          <a:p>
            <a:pPr algn="ctr"/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6D65645-378A-4C70-AB06-170B16353F75}"/>
              </a:ext>
            </a:extLst>
          </p:cNvPr>
          <p:cNvSpPr txBox="1">
            <a:spLocks/>
          </p:cNvSpPr>
          <p:nvPr/>
        </p:nvSpPr>
        <p:spPr>
          <a:xfrm>
            <a:off x="824760" y="386655"/>
            <a:ext cx="1054247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dirty="0"/>
              <a:t>Free Space Management – Tracking size of allocated region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6EA67FCF-B252-443E-8EED-5EDF7EA0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B. Wajid</a:t>
            </a:r>
          </a:p>
        </p:txBody>
      </p:sp>
      <p:sp>
        <p:nvSpPr>
          <p:cNvPr id="26" name="Slide Number Placeholder 1">
            <a:extLst>
              <a:ext uri="{FF2B5EF4-FFF2-40B4-BE49-F238E27FC236}">
                <a16:creationId xmlns:a16="http://schemas.microsoft.com/office/drawing/2014/main" id="{DAF50537-AC61-43B9-8A07-172DA338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2139ECC-5E53-426E-9933-E0AFEB1FB1B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08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B863A0-267D-4723-8655-317A159BC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82" y="177782"/>
            <a:ext cx="10554235" cy="81276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+mn-lt"/>
              </a:rPr>
              <a:t>Quiz Time</a:t>
            </a:r>
            <a:endParaRPr lang="en-US" sz="32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4F066A-70DA-41AA-9752-3106DF2DB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39ECC-5E53-426E-9933-E0AFEB1FB1B8}" type="slidenum">
              <a:rPr lang="en-US" smtClean="0"/>
              <a:t>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86E0B-3CAA-41CF-B37A-108988F5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 Wajid</a:t>
            </a:r>
          </a:p>
        </p:txBody>
      </p:sp>
      <p:pic>
        <p:nvPicPr>
          <p:cNvPr id="2050" name="Picture 2" descr="when you program in c : r/ProgrammerHumor">
            <a:extLst>
              <a:ext uri="{FF2B5EF4-FFF2-40B4-BE49-F238E27FC236}">
                <a16:creationId xmlns:a16="http://schemas.microsoft.com/office/drawing/2014/main" id="{90FBD58C-E0D5-4BE6-A612-D3D3E5458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628" y="1074310"/>
            <a:ext cx="6928743" cy="470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781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5949</TotalTime>
  <Words>1649</Words>
  <Application>Microsoft Office PowerPoint</Application>
  <PresentationFormat>Widescreen</PresentationFormat>
  <Paragraphs>481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맑은 고딕</vt:lpstr>
      <vt:lpstr>Arial</vt:lpstr>
      <vt:lpstr>Calibri</vt:lpstr>
      <vt:lpstr>Calibri Light</vt:lpstr>
      <vt:lpstr>Cambria Math</vt:lpstr>
      <vt:lpstr>Courier New</vt:lpstr>
      <vt:lpstr>Office Theme</vt:lpstr>
      <vt:lpstr>Operating Systems – (3 easy pieces)</vt:lpstr>
      <vt:lpstr>PowerPoint Presentation</vt:lpstr>
      <vt:lpstr>PowerPoint Presentation</vt:lpstr>
      <vt:lpstr>Virtual Memory</vt:lpstr>
      <vt:lpstr>Virtual Memory</vt:lpstr>
      <vt:lpstr>Segmentation</vt:lpstr>
      <vt:lpstr>Segmentation</vt:lpstr>
      <vt:lpstr>Segmentation Fault</vt:lpstr>
      <vt:lpstr>Segmentation fault</vt:lpstr>
      <vt:lpstr>Address Translation – Code Segment</vt:lpstr>
      <vt:lpstr>Address Translation – Heap Segment</vt:lpstr>
      <vt:lpstr>Referring to a Segment</vt:lpstr>
      <vt:lpstr>Referring to a Segment</vt:lpstr>
      <vt:lpstr>Referring to a Segment</vt:lpstr>
      <vt:lpstr>Referring to a Stack Segment</vt:lpstr>
      <vt:lpstr>Support for Sharing</vt:lpstr>
      <vt:lpstr>Grained – Fine and Coarse</vt:lpstr>
      <vt:lpstr>OS Support – Fragmentation </vt:lpstr>
      <vt:lpstr>Free Space Management – Memory Compaction</vt:lpstr>
      <vt:lpstr>PowerPoint Presentation</vt:lpstr>
      <vt:lpstr>PowerPoint Presentation</vt:lpstr>
      <vt:lpstr>PowerPoint Presentation</vt:lpstr>
      <vt:lpstr>PowerPoint Presentation</vt:lpstr>
      <vt:lpstr>Quiz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Lot of Headache with a little Smile</dc:title>
  <dc:creator>Bilal</dc:creator>
  <cp:lastModifiedBy>Bilal Wajid</cp:lastModifiedBy>
  <cp:revision>335</cp:revision>
  <dcterms:created xsi:type="dcterms:W3CDTF">2020-12-18T06:56:51Z</dcterms:created>
  <dcterms:modified xsi:type="dcterms:W3CDTF">2024-10-29T14:37:04Z</dcterms:modified>
</cp:coreProperties>
</file>