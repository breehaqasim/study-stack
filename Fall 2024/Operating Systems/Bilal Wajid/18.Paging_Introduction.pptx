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361" autoAdjust="0"/>
    <p:restoredTop sz="91841" autoAdjust="0"/>
  </p:normalViewPr>
  <p:slideViewPr>
    <p:cSldViewPr>
      <p:cViewPr varScale="1">
        <p:scale>
          <a:sx n="116" d="100"/>
          <a:sy n="116" d="100"/>
        </p:scale>
        <p:origin x="108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2016-03-07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463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1026585" y="3789040"/>
            <a:ext cx="700309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000" b="1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Arial Bold" pitchFamily="34" charset="0"/>
              </a:rPr>
              <a:t>Hanyang</a:t>
            </a:r>
            <a:r>
              <a:rPr kumimoji="1" lang="en-US" altLang="ko-KR" sz="2000" b="1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Arial Bold" pitchFamily="34" charset="0"/>
              </a:rPr>
              <a:t> University</a:t>
            </a:r>
          </a:p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1600" b="1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Embedded Software Systems Lab.</a:t>
            </a:r>
          </a:p>
        </p:txBody>
      </p:sp>
      <p:pic>
        <p:nvPicPr>
          <p:cNvPr id="26" name="그림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336" y="4608512"/>
            <a:ext cx="1268760" cy="1268760"/>
          </a:xfrm>
          <a:prstGeom prst="rect">
            <a:avLst/>
          </a:prstGeom>
        </p:spPr>
      </p:pic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851920" y="6042774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1600" b="1" dirty="0" err="1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1600" b="1" baseline="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1600" b="1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14313" y="6559550"/>
            <a:ext cx="1285875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1B3597B6-933E-41B3-9863-D195E198CF96}" type="datetime1">
              <a:rPr lang="ko-KR" altLang="en-US" smtClean="0">
                <a:solidFill>
                  <a:srgbClr val="1F497D">
                    <a:lumMod val="50000"/>
                  </a:srgbClr>
                </a:solidFill>
              </a:rPr>
              <a:t>2016-03-07</a:t>
            </a:fld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8" name="Picture 2" descr="http://esos.hanyang.ac.kr/img/logo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" y="6572318"/>
            <a:ext cx="2931253" cy="26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14313" y="6559550"/>
            <a:ext cx="1285875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3C9C5D36-E9E2-4B45-A5B0-D2956CC94561}" type="datetime1">
              <a:rPr lang="ko-KR" altLang="en-US" smtClean="0">
                <a:solidFill>
                  <a:srgbClr val="1F497D">
                    <a:lumMod val="50000"/>
                  </a:srgbClr>
                </a:solidFill>
              </a:rPr>
              <a:t>2016-03-07</a:t>
            </a:fld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6" name="Picture 2" descr="http://esos.hanyang.ac.kr/img/logo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" y="6572318"/>
            <a:ext cx="2931253" cy="26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 smtClean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B42C7D-81FC-4AB2-B150-FAC791716C5B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2016-03-07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mtClean="0">
                <a:solidFill>
                  <a:prstClr val="black"/>
                </a:solidFill>
              </a:rPr>
              <a:t>Youjip Won</a:t>
            </a:r>
            <a:endParaRPr kumimoji="1" lang="ko-KR" altLang="en-US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 smtClean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18. Paging: Introduction</a:t>
            </a:r>
          </a:p>
          <a:p>
            <a:pPr lvl="0"/>
            <a:r>
              <a:rPr lang="en-US" altLang="ko-KR" sz="1600" dirty="0">
                <a:solidFill>
                  <a:srgbClr val="1F497D">
                    <a:lumMod val="50000"/>
                  </a:srgbClr>
                </a:solidFill>
              </a:rPr>
              <a:t>Operating System: Three Easy </a:t>
            </a:r>
            <a:r>
              <a:rPr lang="en-US" altLang="ko-KR" sz="1600" dirty="0" smtClean="0">
                <a:solidFill>
                  <a:srgbClr val="1F497D">
                    <a:lumMod val="50000"/>
                  </a:srgbClr>
                </a:solidFill>
              </a:rPr>
              <a:t>Pieces</a:t>
            </a:r>
            <a:endParaRPr lang="ko-KR" altLang="en-US" sz="1600" dirty="0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34158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</a:t>
            </a:r>
            <a:r>
              <a:rPr lang="en-US" altLang="ko-KR" dirty="0" smtClean="0"/>
              <a:t>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Paging </a:t>
            </a:r>
            <a:r>
              <a:rPr lang="en-US" altLang="ko-KR" b="1" dirty="0" smtClean="0"/>
              <a:t>splits up</a:t>
            </a:r>
            <a:r>
              <a:rPr lang="en-US" altLang="ko-KR" dirty="0" smtClean="0"/>
              <a:t> address space into </a:t>
            </a:r>
            <a:r>
              <a:rPr lang="en-US" altLang="ko-KR" b="1" dirty="0" smtClean="0"/>
              <a:t>fixed-zed</a:t>
            </a:r>
            <a:r>
              <a:rPr lang="en-US" altLang="ko-KR" dirty="0" smtClean="0"/>
              <a:t> unit called a </a:t>
            </a:r>
            <a:r>
              <a:rPr lang="en-US" altLang="ko-KR" b="1" dirty="0" smtClean="0"/>
              <a:t>page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Segmentation: variable size of logical segments(code, stack, heap, etc.)</a:t>
            </a:r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With paging, </a:t>
            </a:r>
            <a:r>
              <a:rPr lang="en-US" altLang="ko-KR" b="1" dirty="0" smtClean="0"/>
              <a:t>physical memory</a:t>
            </a:r>
            <a:r>
              <a:rPr lang="en-US" altLang="ko-KR" dirty="0" smtClean="0"/>
              <a:t> is also </a:t>
            </a:r>
            <a:r>
              <a:rPr lang="en-US" altLang="ko-KR" b="1" dirty="0" smtClean="0"/>
              <a:t>split</a:t>
            </a:r>
            <a:r>
              <a:rPr lang="en-US" altLang="ko-KR" dirty="0" smtClean="0"/>
              <a:t> into some number of pages called a </a:t>
            </a:r>
            <a:r>
              <a:rPr lang="en-US" altLang="ko-KR" b="1" dirty="0" smtClean="0"/>
              <a:t>page frame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b="1" dirty="0" smtClean="0"/>
              <a:t>Page table</a:t>
            </a:r>
            <a:r>
              <a:rPr lang="en-US" altLang="ko-KR" dirty="0" smtClean="0"/>
              <a:t> per process is needed </a:t>
            </a:r>
            <a:r>
              <a:rPr lang="en-US" altLang="ko-KR" b="1" dirty="0" smtClean="0"/>
              <a:t>to translate</a:t>
            </a:r>
            <a:r>
              <a:rPr lang="en-US" altLang="ko-KR" dirty="0" smtClean="0"/>
              <a:t> the virtual address to physical address.</a:t>
            </a:r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20037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Advantages Of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SzPct val="65000"/>
              <a:buFont typeface="Wingdings" pitchFamily="2" charset="2"/>
              <a:buChar char=""/>
            </a:pPr>
            <a:r>
              <a:rPr lang="en-US" altLang="ko-KR" sz="2000" b="1" dirty="0" smtClean="0"/>
              <a:t>Flexibility: </a:t>
            </a:r>
            <a:r>
              <a:rPr lang="en-US" altLang="ko-KR" sz="2000" dirty="0"/>
              <a:t>Supporting the abstraction of address space effectively</a:t>
            </a:r>
            <a:endParaRPr lang="ko-KR" altLang="en-US" sz="2000" dirty="0"/>
          </a:p>
          <a:p>
            <a:pPr lvl="1"/>
            <a:r>
              <a:rPr lang="en-US" altLang="ko-KR" dirty="0" smtClean="0"/>
              <a:t>Don’t need assumption how heap and stack grow and are used.</a:t>
            </a:r>
          </a:p>
          <a:p>
            <a:endParaRPr lang="en-US" altLang="ko-KR" dirty="0"/>
          </a:p>
          <a:p>
            <a:r>
              <a:rPr lang="en-US" altLang="ko-KR" b="1" dirty="0" smtClean="0"/>
              <a:t>Simplicity</a:t>
            </a:r>
            <a:r>
              <a:rPr lang="en-US" altLang="ko-KR" dirty="0" smtClean="0"/>
              <a:t>: ease of free-space management</a:t>
            </a:r>
          </a:p>
          <a:p>
            <a:pPr lvl="1"/>
            <a:r>
              <a:rPr lang="en-US" altLang="ko-KR" dirty="0" smtClean="0"/>
              <a:t>The page in address space and the page frame are the same size.</a:t>
            </a:r>
          </a:p>
          <a:p>
            <a:pPr lvl="1"/>
            <a:r>
              <a:rPr lang="en-US" altLang="ko-KR" dirty="0" smtClean="0"/>
              <a:t>Easy to allocate and keep a free list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38486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Example: A Simple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128-byte physical memory with 16 bytes page frames</a:t>
            </a:r>
            <a:endParaRPr lang="ko-KR" altLang="en-US" dirty="0"/>
          </a:p>
          <a:p>
            <a:r>
              <a:rPr lang="en-US" altLang="ko-KR" dirty="0" smtClean="0"/>
              <a:t>64-byte address space with 16 bytes pages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755576" y="2924944"/>
            <a:ext cx="4021772" cy="2332746"/>
            <a:chOff x="2017433" y="3207007"/>
            <a:chExt cx="4068610" cy="2332746"/>
          </a:xfrm>
        </p:grpSpPr>
        <p:sp>
          <p:nvSpPr>
            <p:cNvPr id="6" name="직사각형 5"/>
            <p:cNvSpPr/>
            <p:nvPr/>
          </p:nvSpPr>
          <p:spPr>
            <a:xfrm>
              <a:off x="2726259" y="3367162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726259" y="3799210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726259" y="4227458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726259" y="4659506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66219" y="3207007"/>
              <a:ext cx="36004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94211" y="3600480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94211" y="4067303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94211" y="4499351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48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94211" y="4931399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71043" y="3357219"/>
              <a:ext cx="1715000" cy="4977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0 of                            the address space)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04373" y="3855079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1)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93697" y="4283326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2)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04373" y="4715374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3)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17433" y="5219444"/>
              <a:ext cx="300182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 Simple 64-byte Address Space</a:t>
              </a:r>
              <a:endPara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432559" y="1844824"/>
            <a:ext cx="4531929" cy="4536504"/>
            <a:chOff x="2024895" y="1733326"/>
            <a:chExt cx="4896544" cy="4536504"/>
          </a:xfrm>
        </p:grpSpPr>
        <p:sp>
          <p:nvSpPr>
            <p:cNvPr id="49" name="TextBox 48"/>
            <p:cNvSpPr txBox="1"/>
            <p:nvPr/>
          </p:nvSpPr>
          <p:spPr>
            <a:xfrm>
              <a:off x="2746987" y="1733326"/>
              <a:ext cx="6024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13522" y="221763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411957" y="1887700"/>
              <a:ext cx="1456785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reserved for OS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11957" y="289063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411957" y="238657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411957" y="3389510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 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411957" y="388838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411957" y="439244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</a:t>
              </a:r>
              <a:r>
                <a:rPr lang="en-US" altLang="ko-KR" sz="14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2 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024895" y="5962053"/>
              <a:ext cx="48965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64-Byte Address Space Placed In 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411956" y="4891320"/>
              <a:ext cx="1455993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411957" y="5395376"/>
              <a:ext cx="1456784" cy="5040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</a:t>
              </a:r>
              <a:r>
                <a:rPr lang="en-US" altLang="ko-KR" sz="14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1 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13522" y="272011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713523" y="325101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713521" y="374988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713525" y="425394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713525" y="475282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96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13522" y="5260138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112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13521" y="5724544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03546" y="1838483"/>
              <a:ext cx="1685014" cy="51765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0 of                           physical memory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60116" y="2478450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1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60116" y="2979915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960116" y="3478792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3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960116" y="398025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960116" y="4481726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5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60116" y="4983193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60116" y="548724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7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3061474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602" y="836712"/>
            <a:ext cx="8786812" cy="5501258"/>
          </a:xfrm>
        </p:spPr>
        <p:txBody>
          <a:bodyPr/>
          <a:lstStyle/>
          <a:p>
            <a:r>
              <a:rPr lang="en-US" altLang="ko-KR" dirty="0" smtClean="0"/>
              <a:t>Two components in the virtual address</a:t>
            </a:r>
          </a:p>
          <a:p>
            <a:pPr lvl="1"/>
            <a:r>
              <a:rPr lang="en-US" altLang="ko-KR" dirty="0" smtClean="0"/>
              <a:t>VPN: virtual page number</a:t>
            </a:r>
          </a:p>
          <a:p>
            <a:pPr lvl="1"/>
            <a:r>
              <a:rPr lang="en-US" altLang="ko-KR" dirty="0" smtClean="0"/>
              <a:t>Offset: offset within the page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Example: virtual address 21 in 64-byte address space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843808" y="2437398"/>
            <a:ext cx="3024336" cy="1063610"/>
            <a:chOff x="2915816" y="3429000"/>
            <a:chExt cx="3024336" cy="1063610"/>
          </a:xfrm>
        </p:grpSpPr>
        <p:sp>
          <p:nvSpPr>
            <p:cNvPr id="13" name="직사각형 12"/>
            <p:cNvSpPr/>
            <p:nvPr/>
          </p:nvSpPr>
          <p:spPr>
            <a:xfrm>
              <a:off x="291581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Va5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419872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Va4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923928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Va3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427984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Va2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932040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43609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2915816" y="3754529"/>
              <a:ext cx="936104" cy="162022"/>
              <a:chOff x="1763688" y="3699031"/>
              <a:chExt cx="1008112" cy="162022"/>
            </a:xfrm>
          </p:grpSpPr>
          <p:sp>
            <p:nvSpPr>
              <p:cNvPr id="19" name="왼쪽 대괄호 18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" name="직선 연결선 21"/>
              <p:cNvCxnSpPr>
                <a:stCxn id="19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그룹 27"/>
            <p:cNvGrpSpPr/>
            <p:nvPr/>
          </p:nvGrpSpPr>
          <p:grpSpPr>
            <a:xfrm>
              <a:off x="3995936" y="3754529"/>
              <a:ext cx="1944216" cy="162023"/>
              <a:chOff x="2771800" y="3700791"/>
              <a:chExt cx="2016224" cy="160263"/>
            </a:xfrm>
          </p:grpSpPr>
          <p:sp>
            <p:nvSpPr>
              <p:cNvPr id="20" name="왼쪽 대괄호 19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직선 연결선 24"/>
              <p:cNvCxnSpPr>
                <a:stCxn id="20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3059832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44988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291581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419872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923928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427984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932040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43609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2915816" y="4744640"/>
            <a:ext cx="936104" cy="162022"/>
            <a:chOff x="1763688" y="3699031"/>
            <a:chExt cx="1008112" cy="162022"/>
          </a:xfrm>
        </p:grpSpPr>
        <p:sp>
          <p:nvSpPr>
            <p:cNvPr id="95" name="왼쪽 대괄호 94"/>
            <p:cNvSpPr/>
            <p:nvPr/>
          </p:nvSpPr>
          <p:spPr>
            <a:xfrm rot="5400000">
              <a:off x="2213736" y="3302990"/>
              <a:ext cx="108015" cy="1008112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/>
            <p:cNvCxnSpPr>
              <a:stCxn id="95" idx="1"/>
            </p:cNvCxnSpPr>
            <p:nvPr/>
          </p:nvCxnSpPr>
          <p:spPr>
            <a:xfrm flipH="1" flipV="1">
              <a:off x="2267743" y="3699031"/>
              <a:ext cx="1" cy="54008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그룹 96"/>
          <p:cNvGrpSpPr/>
          <p:nvPr/>
        </p:nvGrpSpPr>
        <p:grpSpPr>
          <a:xfrm>
            <a:off x="3995936" y="4744640"/>
            <a:ext cx="1944216" cy="162023"/>
            <a:chOff x="2771800" y="3700791"/>
            <a:chExt cx="2016224" cy="160263"/>
          </a:xfrm>
        </p:grpSpPr>
        <p:sp>
          <p:nvSpPr>
            <p:cNvPr id="98" name="왼쪽 대괄호 97"/>
            <p:cNvSpPr/>
            <p:nvPr/>
          </p:nvSpPr>
          <p:spPr>
            <a:xfrm rot="5400000">
              <a:off x="3725905" y="2798935"/>
              <a:ext cx="108014" cy="2016224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연결선 98"/>
            <p:cNvCxnSpPr>
              <a:stCxn id="98" idx="1"/>
            </p:cNvCxnSpPr>
            <p:nvPr/>
          </p:nvCxnSpPr>
          <p:spPr>
            <a:xfrm flipV="1">
              <a:off x="3779912" y="3700791"/>
              <a:ext cx="0" cy="52249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/>
          <p:nvPr/>
        </p:nvSpPr>
        <p:spPr>
          <a:xfrm>
            <a:off x="3059832" y="4365104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VPN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644988" y="4365104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offset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418504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The virtual address 21 in 64-byte address space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835696" y="1700808"/>
            <a:ext cx="4680520" cy="3979936"/>
            <a:chOff x="1403648" y="1465288"/>
            <a:chExt cx="4680520" cy="3979936"/>
          </a:xfrm>
        </p:grpSpPr>
        <p:sp>
          <p:nvSpPr>
            <p:cNvPr id="46" name="직사각형 45"/>
            <p:cNvSpPr/>
            <p:nvPr/>
          </p:nvSpPr>
          <p:spPr>
            <a:xfrm>
              <a:off x="305983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563888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067944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572000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076056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58011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3059832" y="1844824"/>
              <a:ext cx="936104" cy="162022"/>
              <a:chOff x="1763688" y="3699031"/>
              <a:chExt cx="1008112" cy="162022"/>
            </a:xfrm>
          </p:grpSpPr>
          <p:sp>
            <p:nvSpPr>
              <p:cNvPr id="85" name="왼쪽 대괄호 84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6" name="직선 연결선 85"/>
              <p:cNvCxnSpPr>
                <a:stCxn id="85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/>
            <p:cNvGrpSpPr/>
            <p:nvPr/>
          </p:nvGrpSpPr>
          <p:grpSpPr>
            <a:xfrm>
              <a:off x="4139952" y="1844824"/>
              <a:ext cx="1944216" cy="162023"/>
              <a:chOff x="2771800" y="3700791"/>
              <a:chExt cx="2016224" cy="160263"/>
            </a:xfrm>
          </p:grpSpPr>
          <p:sp>
            <p:nvSpPr>
              <p:cNvPr id="83" name="왼쪽 대괄호 82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4" name="직선 연결선 83"/>
              <p:cNvCxnSpPr>
                <a:stCxn id="83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3203848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789004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05983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3563888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067944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572000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076056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558011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 rot="10800000">
              <a:off x="2555776" y="4902990"/>
              <a:ext cx="1440160" cy="180518"/>
              <a:chOff x="1763688" y="3699031"/>
              <a:chExt cx="1008112" cy="162022"/>
            </a:xfrm>
          </p:grpSpPr>
          <p:sp>
            <p:nvSpPr>
              <p:cNvPr id="81" name="왼쪽 대괄호 80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2" name="직선 연결선 81"/>
              <p:cNvCxnSpPr>
                <a:stCxn id="81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그룹 62"/>
            <p:cNvGrpSpPr/>
            <p:nvPr/>
          </p:nvGrpSpPr>
          <p:grpSpPr>
            <a:xfrm rot="10800000">
              <a:off x="4139952" y="4902991"/>
              <a:ext cx="1944216" cy="162023"/>
              <a:chOff x="2771800" y="3700791"/>
              <a:chExt cx="2016224" cy="160263"/>
            </a:xfrm>
          </p:grpSpPr>
          <p:sp>
            <p:nvSpPr>
              <p:cNvPr id="79" name="왼쪽 대괄호 78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0" name="직선 연결선 79"/>
              <p:cNvCxnSpPr>
                <a:stCxn id="79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2951821" y="512491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PFN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89004" y="511996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555776" y="4346443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979713" y="2061778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403648" y="4327864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Physical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2555777" y="2996952"/>
              <a:ext cx="1440160" cy="936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Address Translation</a:t>
              </a:r>
              <a:endPara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cxnSp>
          <p:nvCxnSpPr>
            <p:cNvPr id="70" name="직선 화살표 연결선 69"/>
            <p:cNvCxnSpPr>
              <a:stCxn id="51" idx="2"/>
              <a:endCxn id="61" idx="0"/>
            </p:cNvCxnSpPr>
            <p:nvPr/>
          </p:nvCxnSpPr>
          <p:spPr>
            <a:xfrm>
              <a:off x="5832140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/>
            <p:cNvCxnSpPr>
              <a:stCxn id="50" idx="2"/>
              <a:endCxn id="60" idx="0"/>
            </p:cNvCxnSpPr>
            <p:nvPr/>
          </p:nvCxnSpPr>
          <p:spPr>
            <a:xfrm>
              <a:off x="5328084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>
              <a:stCxn id="49" idx="2"/>
              <a:endCxn id="59" idx="0"/>
            </p:cNvCxnSpPr>
            <p:nvPr/>
          </p:nvCxnSpPr>
          <p:spPr>
            <a:xfrm>
              <a:off x="4824028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48" idx="2"/>
              <a:endCxn id="58" idx="0"/>
            </p:cNvCxnSpPr>
            <p:nvPr/>
          </p:nvCxnSpPr>
          <p:spPr>
            <a:xfrm>
              <a:off x="4319972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/>
            <p:cNvCxnSpPr/>
            <p:nvPr/>
          </p:nvCxnSpPr>
          <p:spPr>
            <a:xfrm>
              <a:off x="3815916" y="2635529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/>
            <p:nvPr/>
          </p:nvCxnSpPr>
          <p:spPr>
            <a:xfrm>
              <a:off x="3311860" y="2635529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/>
            <p:cNvCxnSpPr/>
            <p:nvPr/>
          </p:nvCxnSpPr>
          <p:spPr>
            <a:xfrm>
              <a:off x="2807804" y="3976634"/>
              <a:ext cx="0" cy="3013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/>
            <p:cNvCxnSpPr/>
            <p:nvPr/>
          </p:nvCxnSpPr>
          <p:spPr>
            <a:xfrm>
              <a:off x="3311860" y="3976181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/>
            <p:cNvCxnSpPr/>
            <p:nvPr/>
          </p:nvCxnSpPr>
          <p:spPr>
            <a:xfrm>
              <a:off x="3815916" y="3975516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819061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Where Are Page Tables Stored?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 smtClean="0"/>
                  <a:t>Page tables can get awfully large</a:t>
                </a:r>
              </a:p>
              <a:p>
                <a:pPr lvl="1"/>
                <a:r>
                  <a:rPr lang="en-US" altLang="ko-KR" dirty="0" smtClean="0"/>
                  <a:t>32-bit address space with 4-KB pages, 20 bits for VPN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/>
                          </a:rPr>
                          <m:t>4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𝑀𝐵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= 2</m:t>
                        </m:r>
                      </m:e>
                      <m:sup>
                        <m:r>
                          <a:rPr lang="en-US" altLang="ko-KR" b="0" i="1" smtClean="0">
                            <a:latin typeface="Cambria Math"/>
                          </a:rPr>
                          <m:t>20</m:t>
                        </m:r>
                      </m:sup>
                    </m:sSup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𝑒𝑛𝑡𝑟𝑖𝑒𝑠</m:t>
                    </m:r>
                    <m:r>
                      <a:rPr lang="en-US" altLang="ko-KR" b="0" i="1" smtClean="0">
                        <a:latin typeface="Cambria Math"/>
                      </a:rPr>
                      <m:t> ∗4 </m:t>
                    </m:r>
                    <m:r>
                      <a:rPr lang="en-US" altLang="ko-KR" b="0" i="1" smtClean="0">
                        <a:latin typeface="Cambria Math"/>
                      </a:rPr>
                      <m:t>𝐵𝑦𝑡𝑒𝑠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𝑝𝑒𝑟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𝑝𝑎𝑔𝑒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𝑡𝑎𝑏𝑙𝑒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𝑒𝑛𝑡𝑟𝑦</m:t>
                    </m:r>
                  </m:oMath>
                </a14:m>
                <a:endParaRPr lang="en-US" altLang="ko-KR" dirty="0" smtClean="0"/>
              </a:p>
              <a:p>
                <a:pPr lvl="2"/>
                <a:endParaRPr lang="en-US" altLang="ko-KR" dirty="0" smtClean="0"/>
              </a:p>
              <a:p>
                <a:r>
                  <a:rPr lang="en-US" altLang="ko-KR" dirty="0" smtClean="0"/>
                  <a:t>Page tables for peach process are stored in memory.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69685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Page Table in Kernel Physical </a:t>
            </a:r>
            <a:r>
              <a:rPr lang="en-US" altLang="ko-KR" dirty="0" smtClean="0"/>
              <a:t>Memory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7234" y="1412776"/>
            <a:ext cx="602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9" y="1897087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182204" y="1567150"/>
            <a:ext cx="1456785" cy="498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</a:t>
            </a:r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age table</a:t>
            </a:r>
          </a:p>
          <a:p>
            <a:pPr algn="ct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3 7 5 2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82204" y="2570083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182204" y="206602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82204" y="3068960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 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82204" y="356783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182204" y="4071893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5680993"/>
            <a:ext cx="17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182203" y="4570770"/>
            <a:ext cx="1455993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 smtClean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182204" y="5074826"/>
            <a:ext cx="145678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</a:t>
            </a:r>
            <a:r>
              <a:rPr lang="en-US" altLang="ko-KR" sz="14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 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83769" y="239956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83770" y="293046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3768" y="3429337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3772" y="393339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83772" y="443227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3769" y="4939588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83768" y="5403994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0032" y="165643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0 of physical memory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32040" y="2157900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1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32040" y="2659365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2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2040" y="3158242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3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32040" y="3659709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4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32040" y="4161176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5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32040" y="466264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6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32040" y="5166699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7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8201493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What Is In The Page Table?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The page table is just a </a:t>
            </a:r>
            <a:r>
              <a:rPr lang="en-US" altLang="ko-KR" b="1" dirty="0" smtClean="0"/>
              <a:t>data structure</a:t>
            </a:r>
            <a:r>
              <a:rPr lang="en-US" altLang="ko-KR" dirty="0" smtClean="0"/>
              <a:t> that is used to map the virtual address to physical address.</a:t>
            </a:r>
          </a:p>
          <a:p>
            <a:pPr lvl="1"/>
            <a:r>
              <a:rPr lang="en-US" altLang="ko-KR" dirty="0" smtClean="0"/>
              <a:t>Simplest form: a linear page table, an array</a:t>
            </a:r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The OS </a:t>
            </a:r>
            <a:r>
              <a:rPr lang="en-US" altLang="ko-KR" b="1" dirty="0" smtClean="0"/>
              <a:t>indexes</a:t>
            </a:r>
            <a:r>
              <a:rPr lang="en-US" altLang="ko-KR" dirty="0" smtClean="0"/>
              <a:t> the array by VPN, and looks up the page-table entry.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46682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Common Flags Of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smtClean="0"/>
              <a:t>Valid Bit</a:t>
            </a:r>
            <a:r>
              <a:rPr lang="en-US" altLang="ko-KR" dirty="0" smtClean="0"/>
              <a:t>: Indicating whether the particular translation is valid.</a:t>
            </a:r>
          </a:p>
          <a:p>
            <a:r>
              <a:rPr lang="en-US" altLang="ko-KR" b="1" dirty="0" smtClean="0"/>
              <a:t>Protection Bit</a:t>
            </a:r>
            <a:r>
              <a:rPr lang="en-US" altLang="ko-KR" dirty="0"/>
              <a:t>: </a:t>
            </a:r>
            <a:r>
              <a:rPr lang="en-US" altLang="ko-KR" dirty="0" smtClean="0"/>
              <a:t>Indicating </a:t>
            </a:r>
            <a:r>
              <a:rPr lang="en-US" altLang="ko-KR" dirty="0"/>
              <a:t>whether the page could be read from, written to, or executed </a:t>
            </a:r>
            <a:r>
              <a:rPr lang="en-US" altLang="ko-KR" dirty="0" smtClean="0"/>
              <a:t>from</a:t>
            </a:r>
          </a:p>
          <a:p>
            <a:r>
              <a:rPr lang="en-US" altLang="ko-KR" b="1" dirty="0"/>
              <a:t>Present Bit</a:t>
            </a:r>
            <a:r>
              <a:rPr lang="en-US" altLang="ko-KR" dirty="0"/>
              <a:t>: </a:t>
            </a:r>
            <a:r>
              <a:rPr lang="en-US" altLang="ko-KR" dirty="0" smtClean="0"/>
              <a:t>Indicating </a:t>
            </a:r>
            <a:r>
              <a:rPr lang="en-US" altLang="ko-KR" dirty="0"/>
              <a:t>whether this page is in physical memory or on </a:t>
            </a:r>
            <a:r>
              <a:rPr lang="en-US" altLang="ko-KR" dirty="0" smtClean="0"/>
              <a:t>disk(swapped out)</a:t>
            </a:r>
          </a:p>
          <a:p>
            <a:r>
              <a:rPr lang="en-US" altLang="ko-KR" b="1" dirty="0" smtClean="0"/>
              <a:t>Dirty Bit</a:t>
            </a:r>
            <a:r>
              <a:rPr lang="en-US" altLang="ko-KR" dirty="0"/>
              <a:t>: </a:t>
            </a:r>
            <a:r>
              <a:rPr lang="en-US" altLang="ko-KR" dirty="0" smtClean="0"/>
              <a:t>Indicating </a:t>
            </a:r>
            <a:r>
              <a:rPr lang="en-US" altLang="ko-KR" dirty="0"/>
              <a:t>whether the page has been modified since it was brought into </a:t>
            </a:r>
            <a:r>
              <a:rPr lang="en-US" altLang="ko-KR" dirty="0" smtClean="0"/>
              <a:t>memory</a:t>
            </a:r>
          </a:p>
          <a:p>
            <a:r>
              <a:rPr lang="en-US" altLang="ko-KR" b="1" dirty="0" smtClean="0"/>
              <a:t>Reference Bit(Accessed Bit</a:t>
            </a:r>
            <a:r>
              <a:rPr lang="en-US" altLang="ko-KR" b="1" dirty="0"/>
              <a:t>): </a:t>
            </a:r>
            <a:r>
              <a:rPr lang="en-US" altLang="ko-KR" dirty="0"/>
              <a:t>Indicating </a:t>
            </a:r>
            <a:r>
              <a:rPr lang="en-US" altLang="ko-KR" dirty="0" smtClean="0"/>
              <a:t>that a page has </a:t>
            </a:r>
            <a:r>
              <a:rPr lang="en-US" altLang="ko-KR" dirty="0"/>
              <a:t>been accessed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30808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Example: x86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P: present</a:t>
            </a:r>
          </a:p>
          <a:p>
            <a:r>
              <a:rPr lang="en-US" altLang="ko-KR" dirty="0" smtClean="0"/>
              <a:t>R/W: read/write bit</a:t>
            </a:r>
          </a:p>
          <a:p>
            <a:r>
              <a:rPr lang="en-US" altLang="ko-KR" dirty="0" smtClean="0"/>
              <a:t>U/S: supervisor</a:t>
            </a:r>
          </a:p>
          <a:p>
            <a:r>
              <a:rPr lang="en-US" altLang="ko-KR" dirty="0" smtClean="0"/>
              <a:t>A: accessed bit</a:t>
            </a:r>
          </a:p>
          <a:p>
            <a:r>
              <a:rPr lang="en-US" altLang="ko-KR" dirty="0" smtClean="0"/>
              <a:t>D: dirty bit</a:t>
            </a:r>
          </a:p>
          <a:p>
            <a:r>
              <a:rPr lang="en-US" altLang="ko-KR" dirty="0" smtClean="0"/>
              <a:t>PFN: the page frame number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1043608" y="1340768"/>
            <a:ext cx="7029456" cy="763136"/>
            <a:chOff x="899592" y="1657752"/>
            <a:chExt cx="7029456" cy="763136"/>
          </a:xfrm>
        </p:grpSpPr>
        <p:graphicFrame>
          <p:nvGraphicFramePr>
            <p:cNvPr id="18" name="내용 개체 틀 11"/>
            <p:cNvGraphicFramePr>
              <a:graphicFrameLocks/>
            </p:cNvGraphicFramePr>
            <p:nvPr>
              <p:extLst/>
            </p:nvPr>
          </p:nvGraphicFramePr>
          <p:xfrm>
            <a:off x="899592" y="1657752"/>
            <a:ext cx="7029456" cy="27432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19670"/>
                  <a:gridCol w="219671"/>
                  <a:gridCol w="219671"/>
                  <a:gridCol w="219670"/>
                  <a:gridCol w="219670"/>
                  <a:gridCol w="219671"/>
                  <a:gridCol w="219671"/>
                  <a:gridCol w="219670"/>
                  <a:gridCol w="219670"/>
                  <a:gridCol w="219671"/>
                  <a:gridCol w="219671"/>
                  <a:gridCol w="219670"/>
                  <a:gridCol w="219670"/>
                  <a:gridCol w="219671"/>
                  <a:gridCol w="219671"/>
                  <a:gridCol w="219670"/>
                  <a:gridCol w="219670"/>
                  <a:gridCol w="219671"/>
                  <a:gridCol w="219671"/>
                  <a:gridCol w="219670"/>
                  <a:gridCol w="219670"/>
                  <a:gridCol w="219671"/>
                  <a:gridCol w="219671"/>
                  <a:gridCol w="219670"/>
                  <a:gridCol w="219670"/>
                  <a:gridCol w="219671"/>
                  <a:gridCol w="219671"/>
                  <a:gridCol w="219670"/>
                  <a:gridCol w="219670"/>
                  <a:gridCol w="219671"/>
                  <a:gridCol w="219671"/>
                  <a:gridCol w="219670"/>
                </a:tblGrid>
                <a:tr h="216024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 smtClean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19" name="직사각형 18"/>
            <p:cNvSpPr/>
            <p:nvPr/>
          </p:nvSpPr>
          <p:spPr>
            <a:xfrm>
              <a:off x="899592" y="1916832"/>
              <a:ext cx="4392488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PFN</a:t>
              </a:r>
              <a:endPara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292079" y="1916832"/>
              <a:ext cx="658800" cy="50405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950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G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170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PAT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390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609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68292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PCD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7048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PWT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268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U/S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488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R/W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7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 smtClean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926780" y="2320543"/>
            <a:ext cx="3281639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An x86 Page Table Entry(PTE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6298835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Paging: Too Slow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To find a location of the desired PTE, the </a:t>
            </a:r>
            <a:r>
              <a:rPr lang="en-US" altLang="ko-KR" b="1" dirty="0" smtClean="0"/>
              <a:t>starting location</a:t>
            </a:r>
            <a:r>
              <a:rPr lang="en-US" altLang="ko-KR" dirty="0" smtClean="0"/>
              <a:t> of the page table is </a:t>
            </a:r>
            <a:r>
              <a:rPr lang="en-US" altLang="ko-KR" b="1" dirty="0" smtClean="0"/>
              <a:t>needed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For every memory reference, paging requires the OS to perform one </a:t>
            </a:r>
            <a:r>
              <a:rPr lang="en-US" altLang="ko-KR" b="1" dirty="0" smtClean="0"/>
              <a:t>extra memory reference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5326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Accessing Memory With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27584" y="1531919"/>
            <a:ext cx="7387982" cy="4392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400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Extract the VPN from the virtual address </a:t>
            </a:r>
            <a:endParaRPr lang="en-US" altLang="ko-KR" sz="1400" dirty="0" smtClean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VPN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VPN_MASK) &gt;&gt; SHIFT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 the address of the page-table entry (PTE) </a:t>
            </a:r>
            <a:endParaRPr lang="en-US" altLang="ko-KR" sz="1400" dirty="0" smtClean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PTBR + (VPN * </a:t>
            </a:r>
            <a:r>
              <a:rPr lang="en-US" altLang="ko-KR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(PTE))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Fetch the PTE </a:t>
            </a:r>
            <a:endParaRPr lang="en-US" altLang="ko-KR" sz="1400" dirty="0" smtClean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PTE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 if process can access the page </a:t>
            </a:r>
            <a:endParaRPr lang="en-US" altLang="ko-KR" sz="1400" dirty="0" smtClean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PTE.Valid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False)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(SEGMENTATION_FAULT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CanAccess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PTE.ProtectBits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== False)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smtClean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 is OK: form physical address and fetch it </a:t>
            </a:r>
            <a:endParaRPr lang="en-US" altLang="ko-KR" sz="1400" dirty="0" smtClean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offset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sz="1400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(PTE.PFN &lt;&lt; PFN_SHIFT) | offset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Register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5090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 Memory Trace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Example: A Simple Memory Access</a:t>
            </a:r>
          </a:p>
          <a:p>
            <a:endParaRPr lang="en-US" altLang="ko-KR" dirty="0"/>
          </a:p>
          <a:p>
            <a:endParaRPr lang="en-US" altLang="ko-KR" sz="2800" dirty="0" smtClean="0"/>
          </a:p>
          <a:p>
            <a:r>
              <a:rPr lang="en-US" altLang="ko-KR" dirty="0" smtClean="0"/>
              <a:t>Compile and execute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Resulting Assembly code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82700" y="1458268"/>
            <a:ext cx="7387982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altLang="ko-KR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array[</a:t>
            </a:r>
            <a:r>
              <a:rPr lang="nn-NO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 </a:t>
            </a:r>
            <a:endParaRPr lang="nn-NO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n-NO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</a:p>
          <a:p>
            <a:r>
              <a:rPr lang="nn-NO" altLang="ko-KR" sz="1400" dirty="0" smtClean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 = </a:t>
            </a:r>
            <a:r>
              <a:rPr lang="nn-NO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 &lt; </a:t>
            </a:r>
            <a:r>
              <a:rPr lang="nn-NO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i++) </a:t>
            </a:r>
            <a:endParaRPr lang="nn-NO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nn-NO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array[i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nn-NO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n-NO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72580" y="3212976"/>
            <a:ext cx="7387982" cy="7920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prompt&gt; gcc –o array array.c –Wall –o</a:t>
            </a:r>
          </a:p>
          <a:p>
            <a:r>
              <a:rPr lang="nn-NO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prompt&gt;./array</a:t>
            </a:r>
            <a:endParaRPr lang="nn-NO" altLang="ko-KR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82700" y="4869160"/>
            <a:ext cx="7387982" cy="10081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0x1024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$0x0,(%edi,%eax,4</a:t>
            </a:r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0x1028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0x102c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cmpl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$0x03e8,%eax </a:t>
            </a:r>
            <a:endParaRPr lang="en-US" altLang="ko-KR" sz="1400" dirty="0" smtClean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0x1030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jne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0x1024 </a:t>
            </a:r>
            <a:endParaRPr lang="nn-NO" altLang="ko-KR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72314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 Virtual(And Physical) Memory Trace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832241" y="997438"/>
            <a:ext cx="6995622" cy="1999514"/>
            <a:chOff x="832241" y="775737"/>
            <a:chExt cx="6995622" cy="1999514"/>
          </a:xfrm>
        </p:grpSpPr>
        <p:grpSp>
          <p:nvGrpSpPr>
            <p:cNvPr id="47" name="그룹 46"/>
            <p:cNvGrpSpPr/>
            <p:nvPr/>
          </p:nvGrpSpPr>
          <p:grpSpPr>
            <a:xfrm>
              <a:off x="2138561" y="1196752"/>
              <a:ext cx="4788520" cy="1440000"/>
              <a:chOff x="2138561" y="1052896"/>
              <a:chExt cx="4788520" cy="1440000"/>
            </a:xfrm>
          </p:grpSpPr>
          <p:grpSp>
            <p:nvGrpSpPr>
              <p:cNvPr id="38" name="그룹 37"/>
              <p:cNvGrpSpPr/>
              <p:nvPr/>
            </p:nvGrpSpPr>
            <p:grpSpPr>
              <a:xfrm>
                <a:off x="2138561" y="1052896"/>
                <a:ext cx="4788520" cy="1440000"/>
                <a:chOff x="2138561" y="1052896"/>
                <a:chExt cx="4788520" cy="1440000"/>
              </a:xfrm>
            </p:grpSpPr>
            <p:cxnSp>
              <p:nvCxnSpPr>
                <p:cNvPr id="22" name="직선 화살표 연결선 21"/>
                <p:cNvCxnSpPr/>
                <p:nvPr/>
              </p:nvCxnSpPr>
              <p:spPr>
                <a:xfrm>
                  <a:off x="2138561" y="2492896"/>
                  <a:ext cx="478852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그룹 36"/>
                <p:cNvGrpSpPr/>
                <p:nvPr/>
              </p:nvGrpSpPr>
              <p:grpSpPr>
                <a:xfrm>
                  <a:off x="6818262" y="1052896"/>
                  <a:ext cx="108819" cy="1440000"/>
                  <a:chOff x="6818262" y="1052896"/>
                  <a:chExt cx="108819" cy="1440000"/>
                </a:xfrm>
              </p:grpSpPr>
              <p:cxnSp>
                <p:nvCxnSpPr>
                  <p:cNvPr id="23" name="직선 화살표 연결선 22"/>
                  <p:cNvCxnSpPr/>
                  <p:nvPr/>
                </p:nvCxnSpPr>
                <p:spPr>
                  <a:xfrm>
                    <a:off x="6818262" y="1052896"/>
                    <a:ext cx="0" cy="144000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직선 연결선 30"/>
                  <p:cNvCxnSpPr/>
                  <p:nvPr/>
                </p:nvCxnSpPr>
                <p:spPr>
                  <a:xfrm>
                    <a:off x="6819081" y="141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직선 연결선 32"/>
                  <p:cNvCxnSpPr/>
                  <p:nvPr/>
                </p:nvCxnSpPr>
                <p:spPr>
                  <a:xfrm>
                    <a:off x="6819081" y="177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직선 연결선 34"/>
                  <p:cNvCxnSpPr/>
                  <p:nvPr/>
                </p:nvCxnSpPr>
                <p:spPr>
                  <a:xfrm>
                    <a:off x="6819081" y="213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6" name="직선 연결선 45"/>
              <p:cNvCxnSpPr/>
              <p:nvPr/>
            </p:nvCxnSpPr>
            <p:spPr>
              <a:xfrm>
                <a:off x="6819081" y="1057428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직사각형 66"/>
            <p:cNvSpPr/>
            <p:nvPr/>
          </p:nvSpPr>
          <p:spPr>
            <a:xfrm>
              <a:off x="2138562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555776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735808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2915816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095848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3491880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3671912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3851920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4031952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4381897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4561929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4741937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4921969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6192168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6372200" y="2537488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6552208" y="2537488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5292080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5472112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5652120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5832152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321768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3275856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4153520" y="150355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5054109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6012160" y="150355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268109" y="775737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Page Table[39]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6" name="직선 화살표 연결선 105"/>
            <p:cNvCxnSpPr>
              <a:stCxn id="104" idx="2"/>
            </p:cNvCxnSpPr>
            <p:nvPr/>
          </p:nvCxnSpPr>
          <p:spPr>
            <a:xfrm>
              <a:off x="1844173" y="1052736"/>
              <a:ext cx="402389" cy="4508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832241" y="1809673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Page Table[1]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9" name="직선 화살표 연결선 108"/>
            <p:cNvCxnSpPr>
              <a:stCxn id="108" idx="2"/>
            </p:cNvCxnSpPr>
            <p:nvPr/>
          </p:nvCxnSpPr>
          <p:spPr>
            <a:xfrm>
              <a:off x="1408305" y="2086672"/>
              <a:ext cx="684065" cy="4508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/>
            <p:cNvSpPr txBox="1"/>
            <p:nvPr/>
          </p:nvSpPr>
          <p:spPr>
            <a:xfrm>
              <a:off x="6932761" y="2498252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1024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932761" y="2139588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1074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932761" y="1778252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1124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932761" y="142260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1174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932761" y="106278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1224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452320" y="1305979"/>
              <a:ext cx="375543" cy="1224217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Page Table(PA)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34" name="직사각형 133"/>
          <p:cNvSpPr/>
          <p:nvPr/>
        </p:nvSpPr>
        <p:spPr>
          <a:xfrm>
            <a:off x="2321768" y="552738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1180598" y="4726440"/>
            <a:ext cx="6647265" cy="1250758"/>
            <a:chOff x="1180598" y="4946444"/>
            <a:chExt cx="6647265" cy="1250758"/>
          </a:xfrm>
        </p:grpSpPr>
        <p:sp>
          <p:nvSpPr>
            <p:cNvPr id="135" name="TextBox 134"/>
            <p:cNvSpPr txBox="1"/>
            <p:nvPr/>
          </p:nvSpPr>
          <p:spPr>
            <a:xfrm>
              <a:off x="7452320" y="5084667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Code(PA)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6960274" y="56664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4096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960274" y="53077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4146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6960274" y="49464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4196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556141" y="56803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1024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556141" y="53216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1074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556141" y="49603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1124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180598" y="5070766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Code(VA)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60" name="그룹 159"/>
            <p:cNvGrpSpPr/>
            <p:nvPr/>
          </p:nvGrpSpPr>
          <p:grpSpPr>
            <a:xfrm>
              <a:off x="2138561" y="5085024"/>
              <a:ext cx="4788520" cy="796119"/>
              <a:chOff x="2138561" y="5085024"/>
              <a:chExt cx="4788520" cy="796119"/>
            </a:xfrm>
          </p:grpSpPr>
          <p:cxnSp>
            <p:nvCxnSpPr>
              <p:cNvPr id="63" name="직선 화살표 연결선 62"/>
              <p:cNvCxnSpPr/>
              <p:nvPr/>
            </p:nvCxnSpPr>
            <p:spPr>
              <a:xfrm>
                <a:off x="2138561" y="5804944"/>
                <a:ext cx="47885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화살표 연결선 63"/>
              <p:cNvCxnSpPr/>
              <p:nvPr/>
            </p:nvCxnSpPr>
            <p:spPr>
              <a:xfrm>
                <a:off x="6819081" y="5085024"/>
                <a:ext cx="0" cy="7961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>
                <a:off x="6819081" y="508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>
                <a:off x="6819081" y="544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/>
              <p:cNvCxnSpPr/>
              <p:nvPr/>
            </p:nvCxnSpPr>
            <p:spPr>
              <a:xfrm flipH="1">
                <a:off x="2245742" y="5085024"/>
                <a:ext cx="818" cy="7961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>
                <a:off x="2138561" y="5088677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>
                <a:off x="2138561" y="544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>
                <a:off x="31609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>
                <a:off x="40753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>
                <a:off x="49897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>
                <a:off x="59041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TextBox 160"/>
            <p:cNvSpPr txBox="1"/>
            <p:nvPr/>
          </p:nvSpPr>
          <p:spPr>
            <a:xfrm>
              <a:off x="2102546" y="5897664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2969816" y="589766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10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895342" y="589766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795949" y="5897663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30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5724142" y="5920203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6638242" y="5904130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5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0" name="직사각형 169"/>
          <p:cNvSpPr/>
          <p:nvPr/>
        </p:nvSpPr>
        <p:spPr>
          <a:xfrm>
            <a:off x="2669157" y="5486704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2849736" y="5446440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3023816" y="540278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3221856" y="55279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3569245" y="548731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3749824" y="544704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3923904" y="54033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4129707" y="55279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4477096" y="548731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4657675" y="544704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4831755" y="54033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5054109" y="5522467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5401498" y="5481783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5582077" y="5441519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5756157" y="5397867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5976182" y="551789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6323571" y="547720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504150" y="5436944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78230" y="539329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8" name="그룹 197"/>
          <p:cNvGrpSpPr/>
          <p:nvPr/>
        </p:nvGrpSpPr>
        <p:grpSpPr>
          <a:xfrm>
            <a:off x="1180597" y="3284984"/>
            <a:ext cx="6647265" cy="998295"/>
            <a:chOff x="1180597" y="3284984"/>
            <a:chExt cx="6647265" cy="998295"/>
          </a:xfrm>
        </p:grpSpPr>
        <p:grpSp>
          <p:nvGrpSpPr>
            <p:cNvPr id="57" name="그룹 56"/>
            <p:cNvGrpSpPr/>
            <p:nvPr/>
          </p:nvGrpSpPr>
          <p:grpSpPr>
            <a:xfrm>
              <a:off x="2138561" y="3424860"/>
              <a:ext cx="4788520" cy="719920"/>
              <a:chOff x="2138561" y="3501008"/>
              <a:chExt cx="4788520" cy="719920"/>
            </a:xfrm>
          </p:grpSpPr>
          <p:grpSp>
            <p:nvGrpSpPr>
              <p:cNvPr id="53" name="그룹 52"/>
              <p:cNvGrpSpPr/>
              <p:nvPr/>
            </p:nvGrpSpPr>
            <p:grpSpPr>
              <a:xfrm>
                <a:off x="2138561" y="3501008"/>
                <a:ext cx="4788520" cy="719920"/>
                <a:chOff x="2138561" y="3501008"/>
                <a:chExt cx="4788520" cy="719920"/>
              </a:xfrm>
            </p:grpSpPr>
            <p:cxnSp>
              <p:nvCxnSpPr>
                <p:cNvPr id="40" name="직선 화살표 연결선 39"/>
                <p:cNvCxnSpPr/>
                <p:nvPr/>
              </p:nvCxnSpPr>
              <p:spPr>
                <a:xfrm>
                  <a:off x="2138561" y="4220928"/>
                  <a:ext cx="478852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화살표 연결선 41"/>
                <p:cNvCxnSpPr/>
                <p:nvPr/>
              </p:nvCxnSpPr>
              <p:spPr>
                <a:xfrm flipH="1">
                  <a:off x="6818263" y="3501008"/>
                  <a:ext cx="818" cy="71992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/>
                <p:cNvCxnSpPr/>
                <p:nvPr/>
              </p:nvCxnSpPr>
              <p:spPr>
                <a:xfrm>
                  <a:off x="6819081" y="3502264"/>
                  <a:ext cx="1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 44"/>
                <p:cNvCxnSpPr/>
                <p:nvPr/>
              </p:nvCxnSpPr>
              <p:spPr>
                <a:xfrm>
                  <a:off x="6819081" y="3862264"/>
                  <a:ext cx="1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직선 화살표 연결선 53"/>
              <p:cNvCxnSpPr/>
              <p:nvPr/>
            </p:nvCxnSpPr>
            <p:spPr>
              <a:xfrm flipH="1">
                <a:off x="2245742" y="3501008"/>
                <a:ext cx="818" cy="71992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>
                <a:off x="2138561" y="3504661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>
                <a:off x="2138561" y="3862264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/>
            <p:cNvSpPr txBox="1"/>
            <p:nvPr/>
          </p:nvSpPr>
          <p:spPr>
            <a:xfrm>
              <a:off x="7452319" y="3424860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Array(PA)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960274" y="40062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7232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960274" y="3647616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7282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960274" y="32862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7132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180597" y="3404135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Array(VA)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455880" y="4004984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40000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455880" y="3646320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40050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455880" y="3284984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40100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2528168" y="4085931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3275856" y="4045628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4224616" y="4012647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5054109" y="3964283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6012076" y="3889880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2450952" y="3392841"/>
              <a:ext cx="229397" cy="401003"/>
            </a:xfrm>
            <a:prstGeom prst="rect">
              <a:avLst/>
            </a:prstGeom>
            <a:noFill/>
          </p:spPr>
          <p:txBody>
            <a:bodyPr vert="vert270" wrap="square" rtlCol="0" anchor="ctr" anchorCtr="0">
              <a:noAutofit/>
            </a:bodyPr>
            <a:lstStyle/>
            <a:p>
              <a:r>
                <a:rPr lang="en-US" altLang="ko-KR" sz="1100" dirty="0" err="1" smtClean="0"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mov</a:t>
              </a:r>
              <a:endParaRPr lang="ko-KR" altLang="en-US" sz="1100" dirty="0"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94" name="TextBox 193"/>
          <p:cNvSpPr txBox="1"/>
          <p:nvPr/>
        </p:nvSpPr>
        <p:spPr>
          <a:xfrm>
            <a:off x="2261069" y="4793172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 smtClean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620339" y="4793172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 smtClean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inc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2801117" y="4793171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 smtClean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cmp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2993265" y="4793172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 smtClean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jne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3733263" y="5998651"/>
            <a:ext cx="15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Memory Access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8053105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2636912"/>
            <a:ext cx="8786812" cy="1368152"/>
          </a:xfrm>
        </p:spPr>
        <p:txBody>
          <a:bodyPr/>
          <a:lstStyle/>
          <a:p>
            <a:r>
              <a:rPr lang="en-US" altLang="ko-KR" sz="1600" dirty="0" smtClean="0"/>
              <a:t>Disclaimer: This lecture slide set was initially developed for Operating System course in Computer Science Dept. at </a:t>
            </a:r>
            <a:r>
              <a:rPr lang="en-US" altLang="ko-KR" sz="1600" dirty="0" err="1" smtClean="0"/>
              <a:t>Hanyang</a:t>
            </a:r>
            <a:r>
              <a:rPr lang="en-US" altLang="ko-KR" sz="1600" dirty="0" smtClean="0"/>
              <a:t> University. This lecture slide set is for </a:t>
            </a:r>
            <a:r>
              <a:rPr lang="en-US" altLang="ko-KR" sz="1600" smtClean="0"/>
              <a:t>OSTEP </a:t>
            </a:r>
            <a:r>
              <a:rPr lang="en-US" altLang="ko-KR" sz="1600" smtClean="0"/>
              <a:t>book </a:t>
            </a:r>
            <a:r>
              <a:rPr lang="en-US" altLang="ko-KR" sz="1600" dirty="0" smtClean="0"/>
              <a:t>written by </a:t>
            </a:r>
            <a:r>
              <a:rPr lang="en-US" altLang="ko-KR" sz="1600" dirty="0" err="1" smtClean="0"/>
              <a:t>Remzi</a:t>
            </a:r>
            <a:r>
              <a:rPr lang="en-US" altLang="ko-KR" sz="1600" dirty="0" smtClean="0"/>
              <a:t> and Andrea at University of Wisconsin.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t> </a:t>
            </a:r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33482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101589</TotalTime>
  <Words>886</Words>
  <Application>Microsoft Office PowerPoint</Application>
  <PresentationFormat>화면 슬라이드 쇼(4:3)</PresentationFormat>
  <Paragraphs>316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Adobe 고딕 Std B</vt:lpstr>
      <vt:lpstr>HY견고딕</vt:lpstr>
      <vt:lpstr>굴림</vt:lpstr>
      <vt:lpstr>맑은 고딕</vt:lpstr>
      <vt:lpstr>Adobe Arabic</vt:lpstr>
      <vt:lpstr>Arial</vt:lpstr>
      <vt:lpstr>Arial Bold</vt:lpstr>
      <vt:lpstr>Cambria Math</vt:lpstr>
      <vt:lpstr>Courier New</vt:lpstr>
      <vt:lpstr>Wingdings</vt:lpstr>
      <vt:lpstr>양식_공청회_발표자료-총괄-양식</vt:lpstr>
      <vt:lpstr>PowerPoint 프레젠테이션</vt:lpstr>
      <vt:lpstr>Concept of Paging</vt:lpstr>
      <vt:lpstr>Advantages Of Paging</vt:lpstr>
      <vt:lpstr>Example: A Simple Paging</vt:lpstr>
      <vt:lpstr>Address Translation</vt:lpstr>
      <vt:lpstr>Example: Address Translation</vt:lpstr>
      <vt:lpstr>Where Are Page Tables Stored?</vt:lpstr>
      <vt:lpstr>Example: Page Table in Kernel Physical Memory</vt:lpstr>
      <vt:lpstr>What Is In The Page Table?</vt:lpstr>
      <vt:lpstr>Common Flags Of Page Table Entry</vt:lpstr>
      <vt:lpstr>Example: x86 Page Table Entry</vt:lpstr>
      <vt:lpstr>Paging: Too Slow</vt:lpstr>
      <vt:lpstr>Accessing Memory With Paging</vt:lpstr>
      <vt:lpstr>A Memory Trace</vt:lpstr>
      <vt:lpstr>A Virtual(And Physical) Memory Trace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creator>유진수 (jedisty@hanyang.ac.kr)</dc:creator>
  <cp:lastModifiedBy>오준택</cp:lastModifiedBy>
  <cp:revision>4016</cp:revision>
  <cp:lastPrinted>2015-03-03T01:48:46Z</cp:lastPrinted>
  <dcterms:created xsi:type="dcterms:W3CDTF">2011-05-01T06:09:10Z</dcterms:created>
  <dcterms:modified xsi:type="dcterms:W3CDTF">2016-03-07T09:04:53Z</dcterms:modified>
</cp:coreProperties>
</file>