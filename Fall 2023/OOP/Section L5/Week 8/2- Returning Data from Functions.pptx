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302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6" r:id="rId11"/>
    <p:sldId id="311" r:id="rId12"/>
    <p:sldId id="330" r:id="rId13"/>
    <p:sldId id="312" r:id="rId14"/>
    <p:sldId id="313" r:id="rId15"/>
    <p:sldId id="314" r:id="rId16"/>
    <p:sldId id="315" r:id="rId17"/>
    <p:sldId id="318" r:id="rId18"/>
    <p:sldId id="327" r:id="rId19"/>
    <p:sldId id="317" r:id="rId20"/>
    <p:sldId id="328" r:id="rId21"/>
    <p:sldId id="319" r:id="rId22"/>
    <p:sldId id="321" r:id="rId23"/>
    <p:sldId id="322" r:id="rId24"/>
    <p:sldId id="323" r:id="rId25"/>
    <p:sldId id="320" r:id="rId26"/>
    <p:sldId id="325" r:id="rId27"/>
    <p:sldId id="326" r:id="rId28"/>
    <p:sldId id="32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63" autoAdjust="0"/>
  </p:normalViewPr>
  <p:slideViewPr>
    <p:cSldViewPr snapToGrid="0">
      <p:cViewPr varScale="1">
        <p:scale>
          <a:sx n="75" d="100"/>
          <a:sy n="75" d="100"/>
        </p:scale>
        <p:origin x="22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alman" userId="cfd6754c-e613-4f6f-bb98-36aef69d8c31" providerId="ADAL" clId="{B4903713-1372-4FCE-8015-FC32A1CC7AD9}"/>
    <pc:docChg chg="undo custSel modSld">
      <pc:chgData name="Mohammad Salman" userId="cfd6754c-e613-4f6f-bb98-36aef69d8c31" providerId="ADAL" clId="{B4903713-1372-4FCE-8015-FC32A1CC7AD9}" dt="2023-10-09T13:43:44.762" v="224" actId="20577"/>
      <pc:docMkLst>
        <pc:docMk/>
      </pc:docMkLst>
      <pc:sldChg chg="modSp">
        <pc:chgData name="Mohammad Salman" userId="cfd6754c-e613-4f6f-bb98-36aef69d8c31" providerId="ADAL" clId="{B4903713-1372-4FCE-8015-FC32A1CC7AD9}" dt="2023-10-09T13:37:08.399" v="7" actId="20577"/>
        <pc:sldMkLst>
          <pc:docMk/>
          <pc:sldMk cId="1342243198" sldId="306"/>
        </pc:sldMkLst>
        <pc:spChg chg="mod">
          <ac:chgData name="Mohammad Salman" userId="cfd6754c-e613-4f6f-bb98-36aef69d8c31" providerId="ADAL" clId="{B4903713-1372-4FCE-8015-FC32A1CC7AD9}" dt="2023-10-09T13:37:08.399" v="7" actId="20577"/>
          <ac:spMkLst>
            <pc:docMk/>
            <pc:sldMk cId="1342243198" sldId="306"/>
            <ac:spMk id="6" creationId="{88CD6C93-5359-F108-EC0B-86C3F991DB1D}"/>
          </ac:spMkLst>
        </pc:spChg>
      </pc:sldChg>
      <pc:sldChg chg="setBg">
        <pc:chgData name="Mohammad Salman" userId="cfd6754c-e613-4f6f-bb98-36aef69d8c31" providerId="ADAL" clId="{B4903713-1372-4FCE-8015-FC32A1CC7AD9}" dt="2023-10-09T13:37:44.348" v="8"/>
        <pc:sldMkLst>
          <pc:docMk/>
          <pc:sldMk cId="1265223814" sldId="307"/>
        </pc:sldMkLst>
      </pc:sldChg>
      <pc:sldChg chg="modSp mod">
        <pc:chgData name="Mohammad Salman" userId="cfd6754c-e613-4f6f-bb98-36aef69d8c31" providerId="ADAL" clId="{B4903713-1372-4FCE-8015-FC32A1CC7AD9}" dt="2023-10-09T13:38:36.802" v="86" actId="2711"/>
        <pc:sldMkLst>
          <pc:docMk/>
          <pc:sldMk cId="311637959" sldId="309"/>
        </pc:sldMkLst>
        <pc:spChg chg="mod">
          <ac:chgData name="Mohammad Salman" userId="cfd6754c-e613-4f6f-bb98-36aef69d8c31" providerId="ADAL" clId="{B4903713-1372-4FCE-8015-FC32A1CC7AD9}" dt="2023-10-09T13:38:36.802" v="86" actId="2711"/>
          <ac:spMkLst>
            <pc:docMk/>
            <pc:sldMk cId="311637959" sldId="309"/>
            <ac:spMk id="6" creationId="{88CD6C93-5359-F108-EC0B-86C3F991DB1D}"/>
          </ac:spMkLst>
        </pc:spChg>
        <pc:spChg chg="mod">
          <ac:chgData name="Mohammad Salman" userId="cfd6754c-e613-4f6f-bb98-36aef69d8c31" providerId="ADAL" clId="{B4903713-1372-4FCE-8015-FC32A1CC7AD9}" dt="2023-10-09T13:38:29.864" v="83" actId="1076"/>
          <ac:spMkLst>
            <pc:docMk/>
            <pc:sldMk cId="311637959" sldId="309"/>
            <ac:spMk id="20" creationId="{2927B426-6DBF-231A-E387-531F0F29E424}"/>
          </ac:spMkLst>
        </pc:spChg>
      </pc:sldChg>
      <pc:sldChg chg="modSp mod">
        <pc:chgData name="Mohammad Salman" userId="cfd6754c-e613-4f6f-bb98-36aef69d8c31" providerId="ADAL" clId="{B4903713-1372-4FCE-8015-FC32A1CC7AD9}" dt="2023-10-09T13:39:10.293" v="89" actId="20577"/>
        <pc:sldMkLst>
          <pc:docMk/>
          <pc:sldMk cId="3887452081" sldId="310"/>
        </pc:sldMkLst>
        <pc:spChg chg="mod">
          <ac:chgData name="Mohammad Salman" userId="cfd6754c-e613-4f6f-bb98-36aef69d8c31" providerId="ADAL" clId="{B4903713-1372-4FCE-8015-FC32A1CC7AD9}" dt="2023-10-09T13:39:10.293" v="89" actId="20577"/>
          <ac:spMkLst>
            <pc:docMk/>
            <pc:sldMk cId="3887452081" sldId="310"/>
            <ac:spMk id="6" creationId="{88CD6C93-5359-F108-EC0B-86C3F991DB1D}"/>
          </ac:spMkLst>
        </pc:spChg>
      </pc:sldChg>
      <pc:sldChg chg="modSp mod">
        <pc:chgData name="Mohammad Salman" userId="cfd6754c-e613-4f6f-bb98-36aef69d8c31" providerId="ADAL" clId="{B4903713-1372-4FCE-8015-FC32A1CC7AD9}" dt="2023-10-09T13:40:01.594" v="114" actId="6549"/>
        <pc:sldMkLst>
          <pc:docMk/>
          <pc:sldMk cId="2377321535" sldId="311"/>
        </pc:sldMkLst>
        <pc:spChg chg="mod">
          <ac:chgData name="Mohammad Salman" userId="cfd6754c-e613-4f6f-bb98-36aef69d8c31" providerId="ADAL" clId="{B4903713-1372-4FCE-8015-FC32A1CC7AD9}" dt="2023-10-09T13:40:01.594" v="114" actId="6549"/>
          <ac:spMkLst>
            <pc:docMk/>
            <pc:sldMk cId="2377321535" sldId="311"/>
            <ac:spMk id="3" creationId="{DF0DA36B-DD7C-268E-8B82-E9B370C0CCC1}"/>
          </ac:spMkLst>
        </pc:spChg>
      </pc:sldChg>
      <pc:sldChg chg="modSp mod modAnim">
        <pc:chgData name="Mohammad Salman" userId="cfd6754c-e613-4f6f-bb98-36aef69d8c31" providerId="ADAL" clId="{B4903713-1372-4FCE-8015-FC32A1CC7AD9}" dt="2023-10-09T13:42:09.925" v="178" actId="20577"/>
        <pc:sldMkLst>
          <pc:docMk/>
          <pc:sldMk cId="3060148797" sldId="317"/>
        </pc:sldMkLst>
        <pc:spChg chg="mod">
          <ac:chgData name="Mohammad Salman" userId="cfd6754c-e613-4f6f-bb98-36aef69d8c31" providerId="ADAL" clId="{B4903713-1372-4FCE-8015-FC32A1CC7AD9}" dt="2023-10-09T13:42:09.925" v="178" actId="20577"/>
          <ac:spMkLst>
            <pc:docMk/>
            <pc:sldMk cId="3060148797" sldId="317"/>
            <ac:spMk id="3" creationId="{DF0DA36B-DD7C-268E-8B82-E9B370C0CCC1}"/>
          </ac:spMkLst>
        </pc:spChg>
      </pc:sldChg>
      <pc:sldChg chg="modSp mod">
        <pc:chgData name="Mohammad Salman" userId="cfd6754c-e613-4f6f-bb98-36aef69d8c31" providerId="ADAL" clId="{B4903713-1372-4FCE-8015-FC32A1CC7AD9}" dt="2023-10-09T13:41:06.801" v="123" actId="20577"/>
        <pc:sldMkLst>
          <pc:docMk/>
          <pc:sldMk cId="3494820671" sldId="318"/>
        </pc:sldMkLst>
        <pc:spChg chg="mod">
          <ac:chgData name="Mohammad Salman" userId="cfd6754c-e613-4f6f-bb98-36aef69d8c31" providerId="ADAL" clId="{B4903713-1372-4FCE-8015-FC32A1CC7AD9}" dt="2023-10-09T13:41:06.801" v="123" actId="20577"/>
          <ac:spMkLst>
            <pc:docMk/>
            <pc:sldMk cId="3494820671" sldId="318"/>
            <ac:spMk id="10" creationId="{0D4A1842-3C92-DE2D-F724-BBA474271D3D}"/>
          </ac:spMkLst>
        </pc:spChg>
      </pc:sldChg>
      <pc:sldChg chg="delSp mod setBg modNotesTx">
        <pc:chgData name="Mohammad Salman" userId="cfd6754c-e613-4f6f-bb98-36aef69d8c31" providerId="ADAL" clId="{B4903713-1372-4FCE-8015-FC32A1CC7AD9}" dt="2023-10-09T13:43:44.762" v="224" actId="20577"/>
        <pc:sldMkLst>
          <pc:docMk/>
          <pc:sldMk cId="3937602891" sldId="320"/>
        </pc:sldMkLst>
        <pc:spChg chg="del">
          <ac:chgData name="Mohammad Salman" userId="cfd6754c-e613-4f6f-bb98-36aef69d8c31" providerId="ADAL" clId="{B4903713-1372-4FCE-8015-FC32A1CC7AD9}" dt="2023-10-09T10:29:53.151" v="0" actId="478"/>
          <ac:spMkLst>
            <pc:docMk/>
            <pc:sldMk cId="3937602891" sldId="320"/>
            <ac:spMk id="3" creationId="{EA5F273A-0E2B-978B-3FC8-71C3DB26E509}"/>
          </ac:spMkLst>
        </pc:spChg>
        <pc:spChg chg="del">
          <ac:chgData name="Mohammad Salman" userId="cfd6754c-e613-4f6f-bb98-36aef69d8c31" providerId="ADAL" clId="{B4903713-1372-4FCE-8015-FC32A1CC7AD9}" dt="2023-10-09T10:29:53.151" v="0" actId="478"/>
          <ac:spMkLst>
            <pc:docMk/>
            <pc:sldMk cId="3937602891" sldId="320"/>
            <ac:spMk id="4" creationId="{AE7F239A-90E2-2FE3-34F0-28D172400CB7}"/>
          </ac:spMkLst>
        </pc:spChg>
        <pc:spChg chg="del">
          <ac:chgData name="Mohammad Salman" userId="cfd6754c-e613-4f6f-bb98-36aef69d8c31" providerId="ADAL" clId="{B4903713-1372-4FCE-8015-FC32A1CC7AD9}" dt="2023-10-09T10:29:53.151" v="0" actId="478"/>
          <ac:spMkLst>
            <pc:docMk/>
            <pc:sldMk cId="3937602891" sldId="320"/>
            <ac:spMk id="5" creationId="{0C4149C4-9CC1-B389-5128-0334D0740956}"/>
          </ac:spMkLst>
        </pc:spChg>
        <pc:spChg chg="del">
          <ac:chgData name="Mohammad Salman" userId="cfd6754c-e613-4f6f-bb98-36aef69d8c31" providerId="ADAL" clId="{B4903713-1372-4FCE-8015-FC32A1CC7AD9}" dt="2023-10-09T10:29:53.151" v="0" actId="478"/>
          <ac:spMkLst>
            <pc:docMk/>
            <pc:sldMk cId="3937602891" sldId="320"/>
            <ac:spMk id="6" creationId="{2F639783-7526-C16D-B5F5-A3AA1BADB920}"/>
          </ac:spMkLst>
        </pc:spChg>
        <pc:spChg chg="del">
          <ac:chgData name="Mohammad Salman" userId="cfd6754c-e613-4f6f-bb98-36aef69d8c31" providerId="ADAL" clId="{B4903713-1372-4FCE-8015-FC32A1CC7AD9}" dt="2023-10-09T10:29:53.151" v="0" actId="478"/>
          <ac:spMkLst>
            <pc:docMk/>
            <pc:sldMk cId="3937602891" sldId="320"/>
            <ac:spMk id="7" creationId="{39CBA28C-BBC0-733C-B326-F89D701E5C35}"/>
          </ac:spMkLst>
        </pc:spChg>
        <pc:spChg chg="del">
          <ac:chgData name="Mohammad Salman" userId="cfd6754c-e613-4f6f-bb98-36aef69d8c31" providerId="ADAL" clId="{B4903713-1372-4FCE-8015-FC32A1CC7AD9}" dt="2023-10-09T10:29:53.151" v="0" actId="478"/>
          <ac:spMkLst>
            <pc:docMk/>
            <pc:sldMk cId="3937602891" sldId="320"/>
            <ac:spMk id="9" creationId="{959A1587-E694-39DD-CA74-5B5438C29282}"/>
          </ac:spMkLst>
        </pc:spChg>
        <pc:spChg chg="del">
          <ac:chgData name="Mohammad Salman" userId="cfd6754c-e613-4f6f-bb98-36aef69d8c31" providerId="ADAL" clId="{B4903713-1372-4FCE-8015-FC32A1CC7AD9}" dt="2023-10-09T10:29:53.151" v="0" actId="478"/>
          <ac:spMkLst>
            <pc:docMk/>
            <pc:sldMk cId="3937602891" sldId="320"/>
            <ac:spMk id="12" creationId="{2B74BD44-A0AB-CF2C-2F5C-A0B5EFFA23BD}"/>
          </ac:spMkLst>
        </pc:spChg>
        <pc:spChg chg="del">
          <ac:chgData name="Mohammad Salman" userId="cfd6754c-e613-4f6f-bb98-36aef69d8c31" providerId="ADAL" clId="{B4903713-1372-4FCE-8015-FC32A1CC7AD9}" dt="2023-10-09T10:29:53.151" v="0" actId="478"/>
          <ac:spMkLst>
            <pc:docMk/>
            <pc:sldMk cId="3937602891" sldId="320"/>
            <ac:spMk id="14" creationId="{834B6C01-DDE0-3871-967E-03DA68B73856}"/>
          </ac:spMkLst>
        </pc:spChg>
        <pc:spChg chg="del">
          <ac:chgData name="Mohammad Salman" userId="cfd6754c-e613-4f6f-bb98-36aef69d8c31" providerId="ADAL" clId="{B4903713-1372-4FCE-8015-FC32A1CC7AD9}" dt="2023-10-09T10:29:53.151" v="0" actId="478"/>
          <ac:spMkLst>
            <pc:docMk/>
            <pc:sldMk cId="3937602891" sldId="320"/>
            <ac:spMk id="15" creationId="{E1967504-98EC-98DC-2573-30B52CBEF853}"/>
          </ac:spMkLst>
        </pc:spChg>
        <pc:spChg chg="del">
          <ac:chgData name="Mohammad Salman" userId="cfd6754c-e613-4f6f-bb98-36aef69d8c31" providerId="ADAL" clId="{B4903713-1372-4FCE-8015-FC32A1CC7AD9}" dt="2023-10-09T10:29:53.151" v="0" actId="478"/>
          <ac:spMkLst>
            <pc:docMk/>
            <pc:sldMk cId="3937602891" sldId="320"/>
            <ac:spMk id="16" creationId="{BD6DC88F-A8A6-A1E0-5477-2B3B5534EB25}"/>
          </ac:spMkLst>
        </pc:spChg>
        <pc:spChg chg="del">
          <ac:chgData name="Mohammad Salman" userId="cfd6754c-e613-4f6f-bb98-36aef69d8c31" providerId="ADAL" clId="{B4903713-1372-4FCE-8015-FC32A1CC7AD9}" dt="2023-10-09T10:29:53.151" v="0" actId="478"/>
          <ac:spMkLst>
            <pc:docMk/>
            <pc:sldMk cId="3937602891" sldId="320"/>
            <ac:spMk id="17" creationId="{5F5D53AF-576A-D7EC-393F-C694796AD676}"/>
          </ac:spMkLst>
        </pc:spChg>
        <pc:spChg chg="del">
          <ac:chgData name="Mohammad Salman" userId="cfd6754c-e613-4f6f-bb98-36aef69d8c31" providerId="ADAL" clId="{B4903713-1372-4FCE-8015-FC32A1CC7AD9}" dt="2023-10-09T10:29:53.151" v="0" actId="478"/>
          <ac:spMkLst>
            <pc:docMk/>
            <pc:sldMk cId="3937602891" sldId="320"/>
            <ac:spMk id="18" creationId="{77CA0C16-0C55-3776-41BB-2E14E0FAA89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51DC5-2C2F-47DA-8694-F8E09120DAB1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140D7B-7D2F-4C35-B5F2-08A7C5BC5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890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32250-D443-400D-91E0-68BC898CF6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865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32250-D443-400D-91E0-68BC898CF6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67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would be a visual for this?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32250-D443-400D-91E0-68BC898CF60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80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32250-D443-400D-91E0-68BC898CF60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96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https://www.learncpp.com/cpp-tutorial/return-by-reference-and-return-by-address/</a:t>
            </a:r>
            <a:endParaRPr lang="en-US" b="0" i="0" dirty="0">
              <a:solidFill>
                <a:srgbClr val="2D3140"/>
              </a:solidFill>
              <a:effectLst/>
              <a:latin typeface="Open Sans" panose="020B0606030504020204" pitchFamily="34" charset="0"/>
            </a:endParaRPr>
          </a:p>
          <a:p>
            <a:r>
              <a:rPr lang="en-US" b="0" i="0" dirty="0">
                <a:solidFill>
                  <a:srgbClr val="2D3140"/>
                </a:solidFill>
                <a:effectLst/>
                <a:latin typeface="Open Sans" panose="020B0606030504020204" pitchFamily="34" charset="0"/>
              </a:rPr>
              <a:t>If a function returns a reference, and that reference is used to initialize or assign to a non-reference variable, the return value will be copied (as if it had been returned by value).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32250-D443-400D-91E0-68BC898CF60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82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F4DB-0EBB-38BC-0B26-482A02AA9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49F169-95F5-2EFC-DEE1-2B3E7A879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C7519-E98E-793C-E1D2-EA71DA3B0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DED7F-C085-4092-933A-60CC2762EB8A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AF6B2-ACDA-DD03-4263-B06A01D0A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A36E3-E475-8403-F271-959FB627F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ED3F-5A4E-4037-A402-3AE585A9A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002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DB8AE-0A28-4B57-06B7-A144592F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EE3F4-728B-934A-7562-790EDB8BA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6548A-C84E-493F-EF0B-A59CBC221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DED7F-C085-4092-933A-60CC2762EB8A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5DDD1-E333-8BBC-C3F0-B4E0FBEC4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50B11-5D12-D5D9-15F0-29461453B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ED3F-5A4E-4037-A402-3AE585A9A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4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25074-B461-AEED-1648-05EAE35E6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05CBB-D197-6345-12BD-5BB53B7E7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D4709-632F-23F6-BCD4-AF4439C39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DED7F-C085-4092-933A-60CC2762EB8A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039DC-3BFA-C054-549C-3E9DBBFFF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9C4C1-F5B9-4402-25CE-8C1403349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ED3F-5A4E-4037-A402-3AE585A9A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27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AAF7C-63BB-79EC-6C33-42FADE8A1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A41B3-2342-6CBE-2FC3-9F9B415858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45812-7927-82C4-F16F-E5CF8C479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F7A88-023B-1E65-9A4F-B72D086D5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DED7F-C085-4092-933A-60CC2762EB8A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FB3D2-2FCC-967E-92D3-7253B530F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12BC0-BA33-D804-FA86-57721DA6E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ED3F-5A4E-4037-A402-3AE585A9A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320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98846-DA70-767A-BC05-F1F276023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CFD86-01B2-F5CE-277A-A496B9009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C0F6C-D426-014B-1165-22195B540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0F2A47-EEBD-D2AA-42AD-8E90B29B4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9A5CA6-2D9C-731D-B8D4-25746BD3E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2BFD00-CB9A-B30A-7554-5A61E6E8A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DED7F-C085-4092-933A-60CC2762EB8A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A1482C-A5E1-E5AB-0AFD-C1A4E08E4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A92F19-B8DD-C62D-2A86-F5F138784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ED3F-5A4E-4037-A402-3AE585A9A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00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F2667-63FC-075F-5A83-F21DE52E0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B20B6E-653B-B07B-C3AD-E51CE06F4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DED7F-C085-4092-933A-60CC2762EB8A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C4475-0970-8918-2DA5-1889F8FF8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F1AC2-4093-D668-5B02-018EFC51B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ED3F-5A4E-4037-A402-3AE585A9A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51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A28565-7C8B-1768-379E-6F5F6ADD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DED7F-C085-4092-933A-60CC2762EB8A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F0F7A-95C2-D91A-8521-5A8645F30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084BA-5442-816C-F705-105430485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ED3F-5A4E-4037-A402-3AE585A9A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00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08287-1017-8409-1C28-4E2608658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DF0CD-75CF-332B-D954-D7AF94032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709B3-BC2D-5B73-1D20-D5D86D071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9348F-C627-0332-7327-4866DD27C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DED7F-C085-4092-933A-60CC2762EB8A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B8DC3-BFCB-0378-5771-0803E4195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08A6D-E495-495F-2E75-ACFD5124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ED3F-5A4E-4037-A402-3AE585A9A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15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1DFFD-52EE-28FF-1F2E-FAAE2715B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2F9F17-4DF5-5C66-1403-EA6E530646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A3922-288E-53DB-E43A-5A5D2113D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4B6F5-38BA-F076-4E3B-FC8D43E6A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DED7F-C085-4092-933A-60CC2762EB8A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C8B5C-1C82-060A-19B4-E585CF43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E91C7-4028-9F7D-E8B9-D061614A3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ED3F-5A4E-4037-A402-3AE585A9A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26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40BFF-5641-9273-1292-444B876B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B3A04-0860-BAB1-0C31-432FAA04A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EA48B-76A4-94D1-335F-431FCFE18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DED7F-C085-4092-933A-60CC2762EB8A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085B9-0612-8602-759E-33B7BFD89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02387-A9AC-B3EC-429F-137E652DD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ED3F-5A4E-4037-A402-3AE585A9A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564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4EB43A-49EC-A61E-43DA-60BAB78BF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D2177C-2CEC-D73B-4CCB-DFFD2991D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C75D1-BFC7-EC38-2D45-0CB0C0063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DED7F-C085-4092-933A-60CC2762EB8A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B82EC-8427-9C5B-01F6-9F6DEA858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19A24-712A-95E2-55A5-ECCD90D8B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ED3F-5A4E-4037-A402-3AE585A9A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6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16E5C7-A011-00E6-D44A-506FB3B0C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C4E54-514B-1234-6839-81E2D2554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625CB-B402-FA9D-DFD4-5739EAED93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4DED7F-C085-4092-933A-60CC2762EB8A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0967D-9482-3E7E-2532-4A815ED64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1392D-68E0-AAC5-0B52-98FFE372BD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7ED3F-5A4E-4037-A402-3AE585A9A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175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cpp.com/cpp-tutorial/return-by-reference-and-return-by-address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6324-6C3C-6A7F-984D-8EB3F8D9B0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3E909A-8258-DF91-0878-CBC8BECC90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Mohammad Salman</a:t>
            </a:r>
          </a:p>
        </p:txBody>
      </p:sp>
    </p:spTree>
    <p:extLst>
      <p:ext uri="{BB962C8B-B14F-4D97-AF65-F5344CB8AC3E}">
        <p14:creationId xmlns:p14="http://schemas.microsoft.com/office/powerpoint/2010/main" val="3447018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9166E3-4A97-C972-6BB8-06648137B4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Returning Data from Functions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0B050A5-5009-5DD6-8B06-5599063813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First, let’s recall different styles of passing data </a:t>
            </a:r>
            <a:r>
              <a:rPr lang="en-US"/>
              <a:t>to functions.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47902F-BC9F-14F3-44D9-765AEBC1F4F1}"/>
              </a:ext>
            </a:extLst>
          </p:cNvPr>
          <p:cNvSpPr txBox="1"/>
          <p:nvPr/>
        </p:nvSpPr>
        <p:spPr>
          <a:xfrm>
            <a:off x="1865471" y="5860465"/>
            <a:ext cx="8461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https://www.learncpp.com/cpp-tutorial/return-by-reference-and-return-by-address/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192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F91B04-EEBB-1766-B655-3DE0E12D3534}"/>
              </a:ext>
            </a:extLst>
          </p:cNvPr>
          <p:cNvSpPr txBox="1"/>
          <p:nvPr/>
        </p:nvSpPr>
        <p:spPr>
          <a:xfrm>
            <a:off x="1089190" y="751344"/>
            <a:ext cx="330612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#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include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s-E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updateNum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s-E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s-E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s-E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s-E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+=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100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s-E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s-ES" b="0" dirty="0" err="1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s-E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s-E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7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updateNum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D6C93-5359-F108-EC0B-86C3F991DB1D}"/>
              </a:ext>
            </a:extLst>
          </p:cNvPr>
          <p:cNvSpPr txBox="1"/>
          <p:nvPr/>
        </p:nvSpPr>
        <p:spPr>
          <a:xfrm>
            <a:off x="7107113" y="289679"/>
            <a:ext cx="45162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Pass by value </a:t>
            </a:r>
          </a:p>
          <a:p>
            <a:r>
              <a:rPr lang="en-US" dirty="0"/>
              <a:t>Creates a copy of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  <a:r>
              <a:rPr lang="en-US" dirty="0"/>
              <a:t>, which is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dirty="0"/>
              <a:t> in this example.</a:t>
            </a:r>
          </a:p>
          <a:p>
            <a:endParaRPr lang="en-US" dirty="0"/>
          </a:p>
          <a:p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dirty="0"/>
              <a:t> is local to the function and would be destroyed. </a:t>
            </a:r>
          </a:p>
          <a:p>
            <a:endParaRPr lang="en-US" dirty="0"/>
          </a:p>
          <a:p>
            <a:r>
              <a:rPr lang="en-US" dirty="0"/>
              <a:t>Also, because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dirty="0"/>
              <a:t> is a copy, if we want to save the changes, we need to return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dirty="0"/>
              <a:t> so that we could assign to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96A5F-BA5F-A853-4D1A-69D587203EE3}"/>
              </a:ext>
            </a:extLst>
          </p:cNvPr>
          <p:cNvSpPr txBox="1"/>
          <p:nvPr/>
        </p:nvSpPr>
        <p:spPr>
          <a:xfrm>
            <a:off x="7260221" y="4226084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89792-011C-CF0B-F569-E1676DF777A9}"/>
              </a:ext>
            </a:extLst>
          </p:cNvPr>
          <p:cNvSpPr txBox="1"/>
          <p:nvPr/>
        </p:nvSpPr>
        <p:spPr>
          <a:xfrm>
            <a:off x="7366120" y="380289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B429E6-235F-49B8-74E7-EF36DFA728C0}"/>
              </a:ext>
            </a:extLst>
          </p:cNvPr>
          <p:cNvSpPr txBox="1"/>
          <p:nvPr/>
        </p:nvSpPr>
        <p:spPr>
          <a:xfrm>
            <a:off x="7107113" y="466028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099809-63B6-A545-16A6-236F9BDB8806}"/>
              </a:ext>
            </a:extLst>
          </p:cNvPr>
          <p:cNvSpPr txBox="1"/>
          <p:nvPr/>
        </p:nvSpPr>
        <p:spPr>
          <a:xfrm>
            <a:off x="10701495" y="4226084"/>
            <a:ext cx="1037162" cy="400110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3028BA-DEA1-4434-4884-407EAA18071A}"/>
              </a:ext>
            </a:extLst>
          </p:cNvPr>
          <p:cNvSpPr txBox="1"/>
          <p:nvPr/>
        </p:nvSpPr>
        <p:spPr>
          <a:xfrm>
            <a:off x="10807394" y="380289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8CD6F1-FFB4-E72E-A334-3DB3C1655AED}"/>
              </a:ext>
            </a:extLst>
          </p:cNvPr>
          <p:cNvSpPr txBox="1"/>
          <p:nvPr/>
        </p:nvSpPr>
        <p:spPr>
          <a:xfrm>
            <a:off x="10548387" y="466028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27B426-6DBF-231A-E387-531F0F29E424}"/>
              </a:ext>
            </a:extLst>
          </p:cNvPr>
          <p:cNvSpPr txBox="1"/>
          <p:nvPr/>
        </p:nvSpPr>
        <p:spPr>
          <a:xfrm>
            <a:off x="8434484" y="3822676"/>
            <a:ext cx="212990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updateNum</a:t>
            </a:r>
            <a:r>
              <a:rPr lang="en-US" sz="20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(x);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785418C-6B92-B2B6-AAE8-679F5C4476F6}"/>
              </a:ext>
            </a:extLst>
          </p:cNvPr>
          <p:cNvSpPr/>
          <p:nvPr/>
        </p:nvSpPr>
        <p:spPr>
          <a:xfrm>
            <a:off x="8948978" y="4260178"/>
            <a:ext cx="1144151" cy="40011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5C8DF9-11E0-1764-577B-EB847B9FA27F}"/>
              </a:ext>
            </a:extLst>
          </p:cNvPr>
          <p:cNvSpPr txBox="1"/>
          <p:nvPr/>
        </p:nvSpPr>
        <p:spPr>
          <a:xfrm>
            <a:off x="7260221" y="5672452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F75498-F66E-D2EB-B1E1-D63538D21B52}"/>
              </a:ext>
            </a:extLst>
          </p:cNvPr>
          <p:cNvSpPr txBox="1"/>
          <p:nvPr/>
        </p:nvSpPr>
        <p:spPr>
          <a:xfrm>
            <a:off x="7366120" y="5249260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E9064-FF25-038E-4C54-4EDFBAE11F50}"/>
              </a:ext>
            </a:extLst>
          </p:cNvPr>
          <p:cNvSpPr txBox="1"/>
          <p:nvPr/>
        </p:nvSpPr>
        <p:spPr>
          <a:xfrm>
            <a:off x="7107113" y="6106656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1B6F26-15F3-8C51-C88E-464BA07358BE}"/>
              </a:ext>
            </a:extLst>
          </p:cNvPr>
          <p:cNvSpPr txBox="1"/>
          <p:nvPr/>
        </p:nvSpPr>
        <p:spPr>
          <a:xfrm>
            <a:off x="10701495" y="5672452"/>
            <a:ext cx="1037162" cy="400110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BC1922-EA6C-E5F4-2B8B-55BEDC4B236B}"/>
              </a:ext>
            </a:extLst>
          </p:cNvPr>
          <p:cNvSpPr txBox="1"/>
          <p:nvPr/>
        </p:nvSpPr>
        <p:spPr>
          <a:xfrm>
            <a:off x="10807394" y="5249260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CB48C5-DBC1-A026-1117-EC71F2097333}"/>
              </a:ext>
            </a:extLst>
          </p:cNvPr>
          <p:cNvSpPr txBox="1"/>
          <p:nvPr/>
        </p:nvSpPr>
        <p:spPr>
          <a:xfrm>
            <a:off x="10548387" y="6106656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0x20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C0BC18-DAA5-CFFB-AED0-9FAB90F7E741}"/>
              </a:ext>
            </a:extLst>
          </p:cNvPr>
          <p:cNvSpPr txBox="1"/>
          <p:nvPr/>
        </p:nvSpPr>
        <p:spPr>
          <a:xfrm>
            <a:off x="8728475" y="5249260"/>
            <a:ext cx="158515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return y;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6781069C-A607-C04A-5E3E-F29B3DB94165}"/>
              </a:ext>
            </a:extLst>
          </p:cNvPr>
          <p:cNvSpPr/>
          <p:nvPr/>
        </p:nvSpPr>
        <p:spPr>
          <a:xfrm rot="10800000">
            <a:off x="8948978" y="5706546"/>
            <a:ext cx="1144151" cy="40011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64B19B1-B0AF-64C0-E910-C4707CE787A1}"/>
              </a:ext>
            </a:extLst>
          </p:cNvPr>
          <p:cNvGrpSpPr/>
          <p:nvPr/>
        </p:nvGrpSpPr>
        <p:grpSpPr>
          <a:xfrm flipH="1">
            <a:off x="4116391" y="1497331"/>
            <a:ext cx="720149" cy="3025994"/>
            <a:chOff x="5120640" y="1510560"/>
            <a:chExt cx="952500" cy="2492387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EA902836-C797-1CFD-29F6-EE90E771F71C}"/>
                </a:ext>
              </a:extLst>
            </p:cNvPr>
            <p:cNvCxnSpPr/>
            <p:nvPr/>
          </p:nvCxnSpPr>
          <p:spPr>
            <a:xfrm>
              <a:off x="5120640" y="1510560"/>
              <a:ext cx="9525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5B7A8F6-C3B0-5046-728D-04D108601915}"/>
                </a:ext>
              </a:extLst>
            </p:cNvPr>
            <p:cNvCxnSpPr/>
            <p:nvPr/>
          </p:nvCxnSpPr>
          <p:spPr>
            <a:xfrm>
              <a:off x="5120640" y="1510560"/>
              <a:ext cx="0" cy="2492387"/>
            </a:xfrm>
            <a:prstGeom prst="line">
              <a:avLst/>
            </a:prstGeom>
            <a:ln w="19050">
              <a:solidFill>
                <a:schemeClr val="accent2"/>
              </a:solidFill>
              <a:tailEnd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7BB03BF-FCC5-8744-6DF7-E08CFFEE8C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20640" y="4002947"/>
              <a:ext cx="952500" cy="0"/>
            </a:xfrm>
            <a:prstGeom prst="line">
              <a:avLst/>
            </a:prstGeom>
            <a:ln w="19050">
              <a:solidFill>
                <a:schemeClr val="accent2"/>
              </a:solidFill>
              <a:tailEnd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AD1A518D-036D-CD9E-C838-5FF94DA2D9F9}"/>
              </a:ext>
            </a:extLst>
          </p:cNvPr>
          <p:cNvSpPr txBox="1"/>
          <p:nvPr/>
        </p:nvSpPr>
        <p:spPr>
          <a:xfrm>
            <a:off x="4771373" y="2739940"/>
            <a:ext cx="103716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Copy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0A2B765-910F-1384-0DFD-59C3D663A59C}"/>
              </a:ext>
            </a:extLst>
          </p:cNvPr>
          <p:cNvGrpSpPr/>
          <p:nvPr/>
        </p:nvGrpSpPr>
        <p:grpSpPr>
          <a:xfrm rot="10800000" flipH="1">
            <a:off x="846185" y="2600048"/>
            <a:ext cx="659477" cy="1900415"/>
            <a:chOff x="5120640" y="1510560"/>
            <a:chExt cx="952500" cy="2492387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2C99446B-DC8B-17FF-CFAE-562ED3DBA5A9}"/>
                </a:ext>
              </a:extLst>
            </p:cNvPr>
            <p:cNvCxnSpPr/>
            <p:nvPr/>
          </p:nvCxnSpPr>
          <p:spPr>
            <a:xfrm>
              <a:off x="5120640" y="1510560"/>
              <a:ext cx="9525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7F5D9F7-40A4-0927-C3D6-4FC9E86C84E5}"/>
                </a:ext>
              </a:extLst>
            </p:cNvPr>
            <p:cNvCxnSpPr/>
            <p:nvPr/>
          </p:nvCxnSpPr>
          <p:spPr>
            <a:xfrm>
              <a:off x="5120640" y="1510560"/>
              <a:ext cx="0" cy="2492387"/>
            </a:xfrm>
            <a:prstGeom prst="line">
              <a:avLst/>
            </a:prstGeom>
            <a:ln w="19050">
              <a:solidFill>
                <a:schemeClr val="accent2"/>
              </a:solidFill>
              <a:tailEnd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C901472-9F7F-F685-F89B-F43B69C416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20640" y="4002947"/>
              <a:ext cx="952500" cy="0"/>
            </a:xfrm>
            <a:prstGeom prst="line">
              <a:avLst/>
            </a:prstGeom>
            <a:ln w="19050">
              <a:solidFill>
                <a:schemeClr val="accent2"/>
              </a:solidFill>
              <a:tailEnd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2813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1" grpId="0"/>
      <p:bldP spid="12" grpId="0"/>
      <p:bldP spid="20" grpId="0"/>
      <p:bldP spid="25" grpId="0" animBg="1"/>
      <p:bldP spid="26" grpId="0" animBg="1"/>
      <p:bldP spid="27" grpId="0"/>
      <p:bldP spid="28" grpId="0"/>
      <p:bldP spid="29" grpId="0" animBg="1"/>
      <p:bldP spid="30" grpId="0"/>
      <p:bldP spid="31" grpId="0"/>
      <p:bldP spid="32" grpId="0"/>
      <p:bldP spid="33" grpId="0" animBg="1"/>
      <p:bldP spid="6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F91B04-EEBB-1766-B655-3DE0E12D3534}"/>
              </a:ext>
            </a:extLst>
          </p:cNvPr>
          <p:cNvSpPr txBox="1"/>
          <p:nvPr/>
        </p:nvSpPr>
        <p:spPr>
          <a:xfrm>
            <a:off x="1082574" y="1028343"/>
            <a:ext cx="330612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#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include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void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updateNum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+=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7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updateNum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D6C93-5359-F108-EC0B-86C3F991DB1D}"/>
              </a:ext>
            </a:extLst>
          </p:cNvPr>
          <p:cNvSpPr txBox="1"/>
          <p:nvPr/>
        </p:nvSpPr>
        <p:spPr>
          <a:xfrm>
            <a:off x="7107113" y="289679"/>
            <a:ext cx="45162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Pass by Reference</a:t>
            </a:r>
          </a:p>
          <a:p>
            <a:r>
              <a:rPr lang="en-US" dirty="0"/>
              <a:t>Creates an alias/reference of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  <a:r>
              <a:rPr lang="en-US" dirty="0"/>
              <a:t>, which is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dirty="0"/>
              <a:t> in this example.</a:t>
            </a:r>
          </a:p>
          <a:p>
            <a:endParaRPr lang="en-US" dirty="0"/>
          </a:p>
          <a:p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dirty="0"/>
              <a:t> is local to the function and would go out of scope once the function ends. </a:t>
            </a:r>
          </a:p>
          <a:p>
            <a:endParaRPr lang="en-US" dirty="0"/>
          </a:p>
          <a:p>
            <a:r>
              <a:rPr lang="en-US" dirty="0"/>
              <a:t>Also, because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dirty="0"/>
              <a:t> is a reference, any changes made to it will be reflected in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  <a:r>
              <a:rPr lang="en-US" dirty="0"/>
              <a:t>. So there is no need to return anything.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96A5F-BA5F-A853-4D1A-69D587203EE3}"/>
              </a:ext>
            </a:extLst>
          </p:cNvPr>
          <p:cNvSpPr txBox="1"/>
          <p:nvPr/>
        </p:nvSpPr>
        <p:spPr>
          <a:xfrm>
            <a:off x="7260221" y="4226084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89792-011C-CF0B-F569-E1676DF777A9}"/>
              </a:ext>
            </a:extLst>
          </p:cNvPr>
          <p:cNvSpPr txBox="1"/>
          <p:nvPr/>
        </p:nvSpPr>
        <p:spPr>
          <a:xfrm>
            <a:off x="7366120" y="380289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B429E6-235F-49B8-74E7-EF36DFA728C0}"/>
              </a:ext>
            </a:extLst>
          </p:cNvPr>
          <p:cNvSpPr txBox="1"/>
          <p:nvPr/>
        </p:nvSpPr>
        <p:spPr>
          <a:xfrm>
            <a:off x="7107113" y="466028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27B426-6DBF-231A-E387-531F0F29E424}"/>
              </a:ext>
            </a:extLst>
          </p:cNvPr>
          <p:cNvSpPr txBox="1"/>
          <p:nvPr/>
        </p:nvSpPr>
        <p:spPr>
          <a:xfrm>
            <a:off x="8434484" y="3822676"/>
            <a:ext cx="212990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updateNum</a:t>
            </a:r>
            <a:r>
              <a:rPr lang="en-US" sz="20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(x)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785418C-6B92-B2B6-AAE8-679F5C4476F6}"/>
              </a:ext>
            </a:extLst>
          </p:cNvPr>
          <p:cNvSpPr/>
          <p:nvPr/>
        </p:nvSpPr>
        <p:spPr>
          <a:xfrm>
            <a:off x="8948978" y="4260178"/>
            <a:ext cx="1144151" cy="40011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5F39E0-7CC6-E477-9602-29CBCEE44694}"/>
              </a:ext>
            </a:extLst>
          </p:cNvPr>
          <p:cNvSpPr txBox="1"/>
          <p:nvPr/>
        </p:nvSpPr>
        <p:spPr>
          <a:xfrm>
            <a:off x="10697404" y="4226084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C9021F-9C4D-C08E-3E2E-446E29B06E8E}"/>
              </a:ext>
            </a:extLst>
          </p:cNvPr>
          <p:cNvSpPr txBox="1"/>
          <p:nvPr/>
        </p:nvSpPr>
        <p:spPr>
          <a:xfrm>
            <a:off x="10803303" y="380289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147632-70C8-0054-BE1A-3A8D09FE0A27}"/>
              </a:ext>
            </a:extLst>
          </p:cNvPr>
          <p:cNvSpPr txBox="1"/>
          <p:nvPr/>
        </p:nvSpPr>
        <p:spPr>
          <a:xfrm>
            <a:off x="10544296" y="466028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CBE7AB-6118-7839-2C7C-72620D0732A2}"/>
              </a:ext>
            </a:extLst>
          </p:cNvPr>
          <p:cNvSpPr txBox="1"/>
          <p:nvPr/>
        </p:nvSpPr>
        <p:spPr>
          <a:xfrm>
            <a:off x="11761547" y="4203002"/>
            <a:ext cx="42386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7EC866-5EDC-7C23-66E6-A590B4E5C9DA}"/>
              </a:ext>
            </a:extLst>
          </p:cNvPr>
          <p:cNvSpPr txBox="1"/>
          <p:nvPr/>
        </p:nvSpPr>
        <p:spPr>
          <a:xfrm>
            <a:off x="10697404" y="5672452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578FB3-1371-BFBB-E5A4-3B5FDB1F9532}"/>
              </a:ext>
            </a:extLst>
          </p:cNvPr>
          <p:cNvSpPr txBox="1"/>
          <p:nvPr/>
        </p:nvSpPr>
        <p:spPr>
          <a:xfrm>
            <a:off x="10803303" y="5249260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AF9DAF-6FF9-EB1C-7E9E-7372831C4283}"/>
              </a:ext>
            </a:extLst>
          </p:cNvPr>
          <p:cNvSpPr txBox="1"/>
          <p:nvPr/>
        </p:nvSpPr>
        <p:spPr>
          <a:xfrm>
            <a:off x="10544296" y="6106656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396159-54F6-CE06-4A8A-E7160F4877CF}"/>
              </a:ext>
            </a:extLst>
          </p:cNvPr>
          <p:cNvSpPr txBox="1"/>
          <p:nvPr/>
        </p:nvSpPr>
        <p:spPr>
          <a:xfrm>
            <a:off x="11761547" y="5649370"/>
            <a:ext cx="42386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85E54F3-8FFB-11AB-43FB-C093C67F9390}"/>
              </a:ext>
            </a:extLst>
          </p:cNvPr>
          <p:cNvGrpSpPr/>
          <p:nvPr/>
        </p:nvGrpSpPr>
        <p:grpSpPr>
          <a:xfrm flipH="1">
            <a:off x="3474718" y="1725930"/>
            <a:ext cx="1361819" cy="2534248"/>
            <a:chOff x="5120640" y="1510560"/>
            <a:chExt cx="952500" cy="2492387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A0BB9AF-629C-797F-8C02-57197374DC94}"/>
                </a:ext>
              </a:extLst>
            </p:cNvPr>
            <p:cNvCxnSpPr>
              <a:cxnSpLocks/>
            </p:cNvCxnSpPr>
            <p:nvPr/>
          </p:nvCxnSpPr>
          <p:spPr>
            <a:xfrm>
              <a:off x="5120640" y="1510560"/>
              <a:ext cx="448844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2EDA9AA-B289-5BDF-0A4F-0178DCF36600}"/>
                </a:ext>
              </a:extLst>
            </p:cNvPr>
            <p:cNvCxnSpPr/>
            <p:nvPr/>
          </p:nvCxnSpPr>
          <p:spPr>
            <a:xfrm>
              <a:off x="5120640" y="1510560"/>
              <a:ext cx="0" cy="2492387"/>
            </a:xfrm>
            <a:prstGeom prst="line">
              <a:avLst/>
            </a:prstGeom>
            <a:ln w="19050">
              <a:solidFill>
                <a:schemeClr val="accent2"/>
              </a:solidFill>
              <a:tailEnd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A68EE8F-9E50-BEAC-4141-49DF1678E6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20640" y="4002947"/>
              <a:ext cx="952500" cy="0"/>
            </a:xfrm>
            <a:prstGeom prst="line">
              <a:avLst/>
            </a:prstGeom>
            <a:ln w="19050">
              <a:solidFill>
                <a:schemeClr val="accent2"/>
              </a:solidFill>
              <a:tailEnd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D37BF3D-E436-1DBC-2446-5452A27BD03D}"/>
              </a:ext>
            </a:extLst>
          </p:cNvPr>
          <p:cNvSpPr txBox="1"/>
          <p:nvPr/>
        </p:nvSpPr>
        <p:spPr>
          <a:xfrm>
            <a:off x="4911022" y="2485222"/>
            <a:ext cx="1584514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Reference created for x</a:t>
            </a:r>
          </a:p>
        </p:txBody>
      </p:sp>
    </p:spTree>
    <p:extLst>
      <p:ext uri="{BB962C8B-B14F-4D97-AF65-F5344CB8AC3E}">
        <p14:creationId xmlns:p14="http://schemas.microsoft.com/office/powerpoint/2010/main" val="60061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  <p:bldP spid="25" grpId="0" animBg="1"/>
      <p:bldP spid="2" grpId="0" animBg="1"/>
      <p:bldP spid="3" grpId="0"/>
      <p:bldP spid="4" grpId="0"/>
      <p:bldP spid="13" grpId="0"/>
      <p:bldP spid="14" grpId="0" animBg="1"/>
      <p:bldP spid="15" grpId="0"/>
      <p:bldP spid="16" grpId="0"/>
      <p:bldP spid="17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F91B04-EEBB-1766-B655-3DE0E12D3534}"/>
              </a:ext>
            </a:extLst>
          </p:cNvPr>
          <p:cNvSpPr txBox="1"/>
          <p:nvPr/>
        </p:nvSpPr>
        <p:spPr>
          <a:xfrm>
            <a:off x="1082574" y="1028343"/>
            <a:ext cx="330612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#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include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void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updateNum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+=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7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updateNum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(&amp;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D6C93-5359-F108-EC0B-86C3F991DB1D}"/>
              </a:ext>
            </a:extLst>
          </p:cNvPr>
          <p:cNvSpPr txBox="1"/>
          <p:nvPr/>
        </p:nvSpPr>
        <p:spPr>
          <a:xfrm>
            <a:off x="7107113" y="289679"/>
            <a:ext cx="45162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Pass by Address</a:t>
            </a:r>
          </a:p>
          <a:p>
            <a:r>
              <a:rPr lang="en-US" dirty="0"/>
              <a:t>Creates a pointer that points at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  <a:r>
              <a:rPr lang="en-US" dirty="0"/>
              <a:t>, which is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dirty="0"/>
              <a:t> in this example.</a:t>
            </a:r>
          </a:p>
          <a:p>
            <a:endParaRPr lang="en-US" dirty="0"/>
          </a:p>
          <a:p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dirty="0"/>
              <a:t> is local to the function and would go out of scope once the function ends. </a:t>
            </a:r>
          </a:p>
          <a:p>
            <a:endParaRPr lang="en-US" dirty="0"/>
          </a:p>
          <a:p>
            <a:r>
              <a:rPr lang="en-US" dirty="0"/>
              <a:t>Also, because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dirty="0"/>
              <a:t> has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&amp;x</a:t>
            </a:r>
            <a:r>
              <a:rPr lang="en-US" dirty="0"/>
              <a:t>, any changes made through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dirty="0"/>
              <a:t> will be reflected in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  <a:r>
              <a:rPr lang="en-US" dirty="0"/>
              <a:t>. So there is no need to return anything.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96A5F-BA5F-A853-4D1A-69D587203EE3}"/>
              </a:ext>
            </a:extLst>
          </p:cNvPr>
          <p:cNvSpPr txBox="1"/>
          <p:nvPr/>
        </p:nvSpPr>
        <p:spPr>
          <a:xfrm>
            <a:off x="7260221" y="4226084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89792-011C-CF0B-F569-E1676DF777A9}"/>
              </a:ext>
            </a:extLst>
          </p:cNvPr>
          <p:cNvSpPr txBox="1"/>
          <p:nvPr/>
        </p:nvSpPr>
        <p:spPr>
          <a:xfrm>
            <a:off x="7366120" y="380289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B429E6-235F-49B8-74E7-EF36DFA728C0}"/>
              </a:ext>
            </a:extLst>
          </p:cNvPr>
          <p:cNvSpPr txBox="1"/>
          <p:nvPr/>
        </p:nvSpPr>
        <p:spPr>
          <a:xfrm>
            <a:off x="7107113" y="466028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27B426-6DBF-231A-E387-531F0F29E424}"/>
              </a:ext>
            </a:extLst>
          </p:cNvPr>
          <p:cNvSpPr txBox="1"/>
          <p:nvPr/>
        </p:nvSpPr>
        <p:spPr>
          <a:xfrm>
            <a:off x="8434484" y="3822676"/>
            <a:ext cx="212990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updateNum</a:t>
            </a:r>
            <a:r>
              <a:rPr lang="en-US" sz="20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(x)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785418C-6B92-B2B6-AAE8-679F5C4476F6}"/>
              </a:ext>
            </a:extLst>
          </p:cNvPr>
          <p:cNvSpPr/>
          <p:nvPr/>
        </p:nvSpPr>
        <p:spPr>
          <a:xfrm>
            <a:off x="8948978" y="4260178"/>
            <a:ext cx="1144151" cy="40011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42E52E-0274-3EF4-E568-3BA77B29D528}"/>
              </a:ext>
            </a:extLst>
          </p:cNvPr>
          <p:cNvSpPr txBox="1"/>
          <p:nvPr/>
        </p:nvSpPr>
        <p:spPr>
          <a:xfrm>
            <a:off x="10701495" y="4226084"/>
            <a:ext cx="1037162" cy="400110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D21C53-A7A0-A834-0C58-473024C357F7}"/>
              </a:ext>
            </a:extLst>
          </p:cNvPr>
          <p:cNvSpPr txBox="1"/>
          <p:nvPr/>
        </p:nvSpPr>
        <p:spPr>
          <a:xfrm>
            <a:off x="10807394" y="380289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C8B0CE-1CA8-68B0-ECCB-684C1B71955C}"/>
              </a:ext>
            </a:extLst>
          </p:cNvPr>
          <p:cNvSpPr txBox="1"/>
          <p:nvPr/>
        </p:nvSpPr>
        <p:spPr>
          <a:xfrm>
            <a:off x="10548387" y="466028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113F74-F6BD-D37F-332F-B993B0F99CD0}"/>
              </a:ext>
            </a:extLst>
          </p:cNvPr>
          <p:cNvSpPr txBox="1"/>
          <p:nvPr/>
        </p:nvSpPr>
        <p:spPr>
          <a:xfrm>
            <a:off x="6946680" y="5367992"/>
            <a:ext cx="51055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accent2"/>
                </a:solidFill>
              </a:rPr>
              <a:t>Dereferencing </a:t>
            </a:r>
            <a:r>
              <a:rPr lang="en-US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i="1" dirty="0">
                <a:solidFill>
                  <a:schemeClr val="accent2"/>
                </a:solidFill>
              </a:rPr>
              <a:t> gives access to </a:t>
            </a:r>
            <a:r>
              <a:rPr lang="en-US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  <a:r>
              <a:rPr lang="en-US" i="1" dirty="0">
                <a:solidFill>
                  <a:schemeClr val="accent2"/>
                </a:solidFill>
              </a:rPr>
              <a:t>.</a:t>
            </a:r>
          </a:p>
          <a:p>
            <a:pPr algn="ctr"/>
            <a:r>
              <a:rPr lang="en-US" i="1" dirty="0">
                <a:solidFill>
                  <a:schemeClr val="accent2"/>
                </a:solidFill>
              </a:rPr>
              <a:t>Therefore </a:t>
            </a:r>
            <a:r>
              <a:rPr lang="en-US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i="1" dirty="0">
                <a:solidFill>
                  <a:schemeClr val="accent2"/>
                </a:solidFill>
              </a:rPr>
              <a:t> is added to </a:t>
            </a:r>
            <a:r>
              <a:rPr lang="en-US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</a:t>
            </a:r>
            <a:r>
              <a:rPr lang="en-US" i="1" dirty="0">
                <a:solidFill>
                  <a:schemeClr val="accent2"/>
                </a:solidFill>
              </a:rPr>
              <a:t>.</a:t>
            </a:r>
          </a:p>
          <a:p>
            <a:pPr algn="ctr"/>
            <a:r>
              <a:rPr lang="en-US" i="1" dirty="0">
                <a:solidFill>
                  <a:schemeClr val="accent2"/>
                </a:solidFill>
              </a:rPr>
              <a:t>This is reflected when </a:t>
            </a:r>
            <a:r>
              <a:rPr lang="en-US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  <a:r>
              <a:rPr lang="en-US" i="1" dirty="0">
                <a:solidFill>
                  <a:schemeClr val="accent2"/>
                </a:solidFill>
              </a:rPr>
              <a:t> is printed in </a:t>
            </a:r>
            <a:r>
              <a:rPr lang="en-US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main()</a:t>
            </a:r>
            <a:r>
              <a:rPr lang="en-US" i="1" dirty="0">
                <a:solidFill>
                  <a:schemeClr val="accent2"/>
                </a:solidFill>
              </a:rPr>
              <a:t>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F178A66-8DF0-E805-C134-3605B24EA47A}"/>
              </a:ext>
            </a:extLst>
          </p:cNvPr>
          <p:cNvGrpSpPr/>
          <p:nvPr/>
        </p:nvGrpSpPr>
        <p:grpSpPr>
          <a:xfrm flipH="1">
            <a:off x="3686091" y="1725930"/>
            <a:ext cx="1361819" cy="2534248"/>
            <a:chOff x="5120640" y="1510560"/>
            <a:chExt cx="952500" cy="2492387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5B60CED-7A61-AAF2-6D25-8534CA07CD82}"/>
                </a:ext>
              </a:extLst>
            </p:cNvPr>
            <p:cNvCxnSpPr>
              <a:cxnSpLocks/>
            </p:cNvCxnSpPr>
            <p:nvPr/>
          </p:nvCxnSpPr>
          <p:spPr>
            <a:xfrm>
              <a:off x="5120640" y="1510560"/>
              <a:ext cx="448844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9EAD551-4D99-03BA-9DEC-64F64A2BC051}"/>
                </a:ext>
              </a:extLst>
            </p:cNvPr>
            <p:cNvCxnSpPr/>
            <p:nvPr/>
          </p:nvCxnSpPr>
          <p:spPr>
            <a:xfrm>
              <a:off x="5120640" y="1510560"/>
              <a:ext cx="0" cy="2492387"/>
            </a:xfrm>
            <a:prstGeom prst="line">
              <a:avLst/>
            </a:prstGeom>
            <a:ln w="19050">
              <a:solidFill>
                <a:schemeClr val="accent2"/>
              </a:solidFill>
              <a:tailEnd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F0BB300-5538-4D28-3B04-AB49DB9517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20640" y="4002947"/>
              <a:ext cx="952500" cy="0"/>
            </a:xfrm>
            <a:prstGeom prst="line">
              <a:avLst/>
            </a:prstGeom>
            <a:ln w="19050">
              <a:solidFill>
                <a:schemeClr val="accent2"/>
              </a:solidFill>
              <a:tailEnd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9912C95-A218-07BD-1E35-D434CC483F04}"/>
              </a:ext>
            </a:extLst>
          </p:cNvPr>
          <p:cNvSpPr txBox="1"/>
          <p:nvPr/>
        </p:nvSpPr>
        <p:spPr>
          <a:xfrm>
            <a:off x="5122396" y="2191460"/>
            <a:ext cx="1489418" cy="16312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Pointer created which points at x</a:t>
            </a:r>
          </a:p>
        </p:txBody>
      </p:sp>
    </p:spTree>
    <p:extLst>
      <p:ext uri="{BB962C8B-B14F-4D97-AF65-F5344CB8AC3E}">
        <p14:creationId xmlns:p14="http://schemas.microsoft.com/office/powerpoint/2010/main" val="1342243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  <p:bldP spid="25" grpId="0" animBg="1"/>
      <p:bldP spid="10" grpId="0" animBg="1"/>
      <p:bldP spid="11" grpId="0"/>
      <p:bldP spid="12" grpId="0"/>
      <p:bldP spid="18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91B47-156D-7E49-A9AE-58690EE18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Styles of </a:t>
            </a:r>
            <a:r>
              <a:rPr lang="en-US" b="1" dirty="0"/>
              <a:t>Returning</a:t>
            </a:r>
            <a:r>
              <a:rPr lang="en-US" dirty="0"/>
              <a:t>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94589-264A-D766-4AD5-BE3861907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saw different ways of </a:t>
            </a:r>
            <a:r>
              <a:rPr lang="en-US" b="1" dirty="0"/>
              <a:t>passing information </a:t>
            </a:r>
            <a:r>
              <a:rPr lang="en-US" dirty="0"/>
              <a:t>to functions.</a:t>
            </a:r>
          </a:p>
          <a:p>
            <a:pPr lvl="1"/>
            <a:r>
              <a:rPr lang="en-US" dirty="0"/>
              <a:t>All of this also applies to objects of classes.</a:t>
            </a:r>
          </a:p>
          <a:p>
            <a:pPr lvl="1"/>
            <a:r>
              <a:rPr lang="en-US" i="1" dirty="0">
                <a:solidFill>
                  <a:schemeClr val="accent1"/>
                </a:solidFill>
              </a:rPr>
              <a:t>When you pass an object by value, a </a:t>
            </a:r>
            <a:r>
              <a:rPr lang="en-US" b="1" i="1" dirty="0">
                <a:solidFill>
                  <a:schemeClr val="accent1"/>
                </a:solidFill>
              </a:rPr>
              <a:t>copy constructor is called </a:t>
            </a:r>
            <a:r>
              <a:rPr lang="en-US" i="1" dirty="0">
                <a:solidFill>
                  <a:schemeClr val="accent1"/>
                </a:solidFill>
              </a:rPr>
              <a:t>to create that object’s copy.</a:t>
            </a:r>
          </a:p>
          <a:p>
            <a:endParaRPr lang="en-US" dirty="0"/>
          </a:p>
          <a:p>
            <a:r>
              <a:rPr lang="en-US" dirty="0"/>
              <a:t>Similarly, there are different ways of </a:t>
            </a:r>
            <a:r>
              <a:rPr lang="en-US" b="1" dirty="0"/>
              <a:t>returning information </a:t>
            </a:r>
            <a:r>
              <a:rPr lang="en-US" dirty="0"/>
              <a:t>from functions.</a:t>
            </a:r>
          </a:p>
          <a:p>
            <a:pPr lvl="1"/>
            <a:r>
              <a:rPr lang="en-US" dirty="0"/>
              <a:t>So obviously, we won’t talk about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void</a:t>
            </a:r>
            <a:r>
              <a:rPr lang="en-US" dirty="0"/>
              <a:t> functions (we need to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return</a:t>
            </a:r>
            <a:r>
              <a:rPr lang="en-US" dirty="0"/>
              <a:t> something).</a:t>
            </a:r>
          </a:p>
        </p:txBody>
      </p:sp>
    </p:spTree>
    <p:extLst>
      <p:ext uri="{BB962C8B-B14F-4D97-AF65-F5344CB8AC3E}">
        <p14:creationId xmlns:p14="http://schemas.microsoft.com/office/powerpoint/2010/main" val="126522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F91B04-EEBB-1766-B655-3DE0E12D3534}"/>
              </a:ext>
            </a:extLst>
          </p:cNvPr>
          <p:cNvSpPr txBox="1"/>
          <p:nvPr/>
        </p:nvSpPr>
        <p:spPr>
          <a:xfrm>
            <a:off x="1089190" y="751344"/>
            <a:ext cx="330612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#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include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s-E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updateNum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s-E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s-E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s-E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s-E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+=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100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s-E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s-ES" b="0" dirty="0" err="1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s-E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s-E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7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updateNum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96A5F-BA5F-A853-4D1A-69D587203EE3}"/>
              </a:ext>
            </a:extLst>
          </p:cNvPr>
          <p:cNvSpPr txBox="1"/>
          <p:nvPr/>
        </p:nvSpPr>
        <p:spPr>
          <a:xfrm>
            <a:off x="7260221" y="4226084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89792-011C-CF0B-F569-E1676DF777A9}"/>
              </a:ext>
            </a:extLst>
          </p:cNvPr>
          <p:cNvSpPr txBox="1"/>
          <p:nvPr/>
        </p:nvSpPr>
        <p:spPr>
          <a:xfrm>
            <a:off x="7366120" y="380289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B429E6-235F-49B8-74E7-EF36DFA728C0}"/>
              </a:ext>
            </a:extLst>
          </p:cNvPr>
          <p:cNvSpPr txBox="1"/>
          <p:nvPr/>
        </p:nvSpPr>
        <p:spPr>
          <a:xfrm>
            <a:off x="7107113" y="466028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099809-63B6-A545-16A6-236F9BDB8806}"/>
              </a:ext>
            </a:extLst>
          </p:cNvPr>
          <p:cNvSpPr txBox="1"/>
          <p:nvPr/>
        </p:nvSpPr>
        <p:spPr>
          <a:xfrm>
            <a:off x="10701495" y="4226084"/>
            <a:ext cx="1037162" cy="400110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3028BA-DEA1-4434-4884-407EAA18071A}"/>
              </a:ext>
            </a:extLst>
          </p:cNvPr>
          <p:cNvSpPr txBox="1"/>
          <p:nvPr/>
        </p:nvSpPr>
        <p:spPr>
          <a:xfrm>
            <a:off x="10807394" y="380289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8CD6F1-FFB4-E72E-A334-3DB3C1655AED}"/>
              </a:ext>
            </a:extLst>
          </p:cNvPr>
          <p:cNvSpPr txBox="1"/>
          <p:nvPr/>
        </p:nvSpPr>
        <p:spPr>
          <a:xfrm>
            <a:off x="10548387" y="466028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27B426-6DBF-231A-E387-531F0F29E424}"/>
              </a:ext>
            </a:extLst>
          </p:cNvPr>
          <p:cNvSpPr txBox="1"/>
          <p:nvPr/>
        </p:nvSpPr>
        <p:spPr>
          <a:xfrm>
            <a:off x="8434484" y="3822676"/>
            <a:ext cx="212990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updateNum</a:t>
            </a:r>
            <a:r>
              <a:rPr lang="en-US" sz="20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(x);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785418C-6B92-B2B6-AAE8-679F5C4476F6}"/>
              </a:ext>
            </a:extLst>
          </p:cNvPr>
          <p:cNvSpPr/>
          <p:nvPr/>
        </p:nvSpPr>
        <p:spPr>
          <a:xfrm>
            <a:off x="8948978" y="4260178"/>
            <a:ext cx="1144151" cy="40011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5C8DF9-11E0-1764-577B-EB847B9FA27F}"/>
              </a:ext>
            </a:extLst>
          </p:cNvPr>
          <p:cNvSpPr txBox="1"/>
          <p:nvPr/>
        </p:nvSpPr>
        <p:spPr>
          <a:xfrm>
            <a:off x="7260221" y="5672452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F75498-F66E-D2EB-B1E1-D63538D21B52}"/>
              </a:ext>
            </a:extLst>
          </p:cNvPr>
          <p:cNvSpPr txBox="1"/>
          <p:nvPr/>
        </p:nvSpPr>
        <p:spPr>
          <a:xfrm>
            <a:off x="7366120" y="5249260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E9064-FF25-038E-4C54-4EDFBAE11F50}"/>
              </a:ext>
            </a:extLst>
          </p:cNvPr>
          <p:cNvSpPr txBox="1"/>
          <p:nvPr/>
        </p:nvSpPr>
        <p:spPr>
          <a:xfrm>
            <a:off x="7107113" y="6106656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1B6F26-15F3-8C51-C88E-464BA07358BE}"/>
              </a:ext>
            </a:extLst>
          </p:cNvPr>
          <p:cNvSpPr txBox="1"/>
          <p:nvPr/>
        </p:nvSpPr>
        <p:spPr>
          <a:xfrm>
            <a:off x="10701495" y="5672452"/>
            <a:ext cx="1037162" cy="400110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BC1922-EA6C-E5F4-2B8B-55BEDC4B236B}"/>
              </a:ext>
            </a:extLst>
          </p:cNvPr>
          <p:cNvSpPr txBox="1"/>
          <p:nvPr/>
        </p:nvSpPr>
        <p:spPr>
          <a:xfrm>
            <a:off x="10807394" y="5249260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CB48C5-DBC1-A026-1117-EC71F2097333}"/>
              </a:ext>
            </a:extLst>
          </p:cNvPr>
          <p:cNvSpPr txBox="1"/>
          <p:nvPr/>
        </p:nvSpPr>
        <p:spPr>
          <a:xfrm>
            <a:off x="10548387" y="6106656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0x20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C0BC18-DAA5-CFFB-AED0-9FAB90F7E741}"/>
              </a:ext>
            </a:extLst>
          </p:cNvPr>
          <p:cNvSpPr txBox="1"/>
          <p:nvPr/>
        </p:nvSpPr>
        <p:spPr>
          <a:xfrm>
            <a:off x="8728475" y="5249260"/>
            <a:ext cx="158515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return y;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6781069C-A607-C04A-5E3E-F29B3DB94165}"/>
              </a:ext>
            </a:extLst>
          </p:cNvPr>
          <p:cNvSpPr/>
          <p:nvPr/>
        </p:nvSpPr>
        <p:spPr>
          <a:xfrm rot="10800000">
            <a:off x="8948978" y="5706546"/>
            <a:ext cx="1144151" cy="40011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64B19B1-B0AF-64C0-E910-C4707CE787A1}"/>
              </a:ext>
            </a:extLst>
          </p:cNvPr>
          <p:cNvGrpSpPr/>
          <p:nvPr/>
        </p:nvGrpSpPr>
        <p:grpSpPr>
          <a:xfrm flipH="1">
            <a:off x="4116391" y="1497331"/>
            <a:ext cx="720149" cy="3025994"/>
            <a:chOff x="5120640" y="1510560"/>
            <a:chExt cx="952500" cy="2492387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EA902836-C797-1CFD-29F6-EE90E771F71C}"/>
                </a:ext>
              </a:extLst>
            </p:cNvPr>
            <p:cNvCxnSpPr/>
            <p:nvPr/>
          </p:nvCxnSpPr>
          <p:spPr>
            <a:xfrm>
              <a:off x="5120640" y="1510560"/>
              <a:ext cx="9525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5B7A8F6-C3B0-5046-728D-04D108601915}"/>
                </a:ext>
              </a:extLst>
            </p:cNvPr>
            <p:cNvCxnSpPr/>
            <p:nvPr/>
          </p:nvCxnSpPr>
          <p:spPr>
            <a:xfrm>
              <a:off x="5120640" y="1510560"/>
              <a:ext cx="0" cy="2492387"/>
            </a:xfrm>
            <a:prstGeom prst="line">
              <a:avLst/>
            </a:prstGeom>
            <a:ln w="19050">
              <a:solidFill>
                <a:schemeClr val="accent2"/>
              </a:solidFill>
              <a:tailEnd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7BB03BF-FCC5-8744-6DF7-E08CFFEE8C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20640" y="4002947"/>
              <a:ext cx="952500" cy="0"/>
            </a:xfrm>
            <a:prstGeom prst="line">
              <a:avLst/>
            </a:prstGeom>
            <a:ln w="19050">
              <a:solidFill>
                <a:schemeClr val="accent2"/>
              </a:solidFill>
              <a:tailEnd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AD1A518D-036D-CD9E-C838-5FF94DA2D9F9}"/>
              </a:ext>
            </a:extLst>
          </p:cNvPr>
          <p:cNvSpPr txBox="1"/>
          <p:nvPr/>
        </p:nvSpPr>
        <p:spPr>
          <a:xfrm>
            <a:off x="4771373" y="2739940"/>
            <a:ext cx="103716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Copy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0A2B765-910F-1384-0DFD-59C3D663A59C}"/>
              </a:ext>
            </a:extLst>
          </p:cNvPr>
          <p:cNvGrpSpPr/>
          <p:nvPr/>
        </p:nvGrpSpPr>
        <p:grpSpPr>
          <a:xfrm rot="10800000" flipH="1">
            <a:off x="846185" y="2600048"/>
            <a:ext cx="659477" cy="1900415"/>
            <a:chOff x="5120640" y="1510560"/>
            <a:chExt cx="952500" cy="2492387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2C99446B-DC8B-17FF-CFAE-562ED3DBA5A9}"/>
                </a:ext>
              </a:extLst>
            </p:cNvPr>
            <p:cNvCxnSpPr/>
            <p:nvPr/>
          </p:nvCxnSpPr>
          <p:spPr>
            <a:xfrm>
              <a:off x="5120640" y="1510560"/>
              <a:ext cx="9525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7F5D9F7-40A4-0927-C3D6-4FC9E86C84E5}"/>
                </a:ext>
              </a:extLst>
            </p:cNvPr>
            <p:cNvCxnSpPr/>
            <p:nvPr/>
          </p:nvCxnSpPr>
          <p:spPr>
            <a:xfrm>
              <a:off x="5120640" y="1510560"/>
              <a:ext cx="0" cy="2492387"/>
            </a:xfrm>
            <a:prstGeom prst="line">
              <a:avLst/>
            </a:prstGeom>
            <a:ln w="19050">
              <a:solidFill>
                <a:schemeClr val="accent2"/>
              </a:solidFill>
              <a:tailEnd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C901472-9F7F-F685-F89B-F43B69C416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20640" y="4002947"/>
              <a:ext cx="952500" cy="0"/>
            </a:xfrm>
            <a:prstGeom prst="line">
              <a:avLst/>
            </a:prstGeom>
            <a:ln w="19050">
              <a:solidFill>
                <a:schemeClr val="accent2"/>
              </a:solidFill>
              <a:tailEnd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94D78B5-CF19-9504-0345-83656C3DAF4E}"/>
              </a:ext>
            </a:extLst>
          </p:cNvPr>
          <p:cNvSpPr txBox="1"/>
          <p:nvPr/>
        </p:nvSpPr>
        <p:spPr>
          <a:xfrm>
            <a:off x="18087" y="3228945"/>
            <a:ext cx="85049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???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7397A7-BCC8-A75F-7EFA-8512B6742330}"/>
              </a:ext>
            </a:extLst>
          </p:cNvPr>
          <p:cNvSpPr txBox="1"/>
          <p:nvPr/>
        </p:nvSpPr>
        <p:spPr>
          <a:xfrm>
            <a:off x="7375520" y="1615640"/>
            <a:ext cx="4516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2"/>
                </a:solidFill>
              </a:rPr>
              <a:t>Technically, what is really returned from the function?</a:t>
            </a:r>
          </a:p>
        </p:txBody>
      </p:sp>
    </p:spTree>
    <p:extLst>
      <p:ext uri="{BB962C8B-B14F-4D97-AF65-F5344CB8AC3E}">
        <p14:creationId xmlns:p14="http://schemas.microsoft.com/office/powerpoint/2010/main" val="342448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F91B04-EEBB-1766-B655-3DE0E12D3534}"/>
              </a:ext>
            </a:extLst>
          </p:cNvPr>
          <p:cNvSpPr txBox="1"/>
          <p:nvPr/>
        </p:nvSpPr>
        <p:spPr>
          <a:xfrm>
            <a:off x="1089190" y="751344"/>
            <a:ext cx="330612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#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include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s-E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updateNum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s-E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s-E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s-E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s-E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+=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100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s-E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s-ES" b="0" dirty="0" err="1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s-E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s-E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7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updateNum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D6C93-5359-F108-EC0B-86C3F991DB1D}"/>
              </a:ext>
            </a:extLst>
          </p:cNvPr>
          <p:cNvSpPr txBox="1"/>
          <p:nvPr/>
        </p:nvSpPr>
        <p:spPr>
          <a:xfrm>
            <a:off x="7107113" y="289679"/>
            <a:ext cx="45162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Return by value </a:t>
            </a:r>
          </a:p>
          <a:p>
            <a:r>
              <a:rPr lang="en-US" dirty="0"/>
              <a:t>While returning, a copy of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dirty="0"/>
              <a:t> is created.</a:t>
            </a:r>
          </a:p>
          <a:p>
            <a:endParaRPr lang="en-US" dirty="0"/>
          </a:p>
          <a:p>
            <a:r>
              <a:rPr lang="en-US" dirty="0"/>
              <a:t>This does make sense because as soon as </a:t>
            </a:r>
            <a:r>
              <a:rPr lang="en-US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updateNum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r>
              <a:rPr lang="en-US" dirty="0"/>
              <a:t> ends,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dirty="0"/>
              <a:t> will get destroyed. But the compiler would have already made the copy of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copy is then sent back to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main()</a:t>
            </a:r>
            <a:r>
              <a:rPr lang="en-US" dirty="0"/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96A5F-BA5F-A853-4D1A-69D587203EE3}"/>
              </a:ext>
            </a:extLst>
          </p:cNvPr>
          <p:cNvSpPr txBox="1"/>
          <p:nvPr/>
        </p:nvSpPr>
        <p:spPr>
          <a:xfrm>
            <a:off x="7260221" y="4226084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89792-011C-CF0B-F569-E1676DF777A9}"/>
              </a:ext>
            </a:extLst>
          </p:cNvPr>
          <p:cNvSpPr txBox="1"/>
          <p:nvPr/>
        </p:nvSpPr>
        <p:spPr>
          <a:xfrm>
            <a:off x="7366120" y="380289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B429E6-235F-49B8-74E7-EF36DFA728C0}"/>
              </a:ext>
            </a:extLst>
          </p:cNvPr>
          <p:cNvSpPr txBox="1"/>
          <p:nvPr/>
        </p:nvSpPr>
        <p:spPr>
          <a:xfrm>
            <a:off x="7107113" y="466028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099809-63B6-A545-16A6-236F9BDB8806}"/>
              </a:ext>
            </a:extLst>
          </p:cNvPr>
          <p:cNvSpPr txBox="1"/>
          <p:nvPr/>
        </p:nvSpPr>
        <p:spPr>
          <a:xfrm>
            <a:off x="10701495" y="4226084"/>
            <a:ext cx="1037162" cy="400110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3028BA-DEA1-4434-4884-407EAA18071A}"/>
              </a:ext>
            </a:extLst>
          </p:cNvPr>
          <p:cNvSpPr txBox="1"/>
          <p:nvPr/>
        </p:nvSpPr>
        <p:spPr>
          <a:xfrm>
            <a:off x="10807394" y="380289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8CD6F1-FFB4-E72E-A334-3DB3C1655AED}"/>
              </a:ext>
            </a:extLst>
          </p:cNvPr>
          <p:cNvSpPr txBox="1"/>
          <p:nvPr/>
        </p:nvSpPr>
        <p:spPr>
          <a:xfrm>
            <a:off x="10548387" y="466028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27B426-6DBF-231A-E387-531F0F29E424}"/>
              </a:ext>
            </a:extLst>
          </p:cNvPr>
          <p:cNvSpPr txBox="1"/>
          <p:nvPr/>
        </p:nvSpPr>
        <p:spPr>
          <a:xfrm>
            <a:off x="8434484" y="3822676"/>
            <a:ext cx="212990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updateNum</a:t>
            </a:r>
            <a:r>
              <a:rPr lang="en-US" sz="20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(x);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785418C-6B92-B2B6-AAE8-679F5C4476F6}"/>
              </a:ext>
            </a:extLst>
          </p:cNvPr>
          <p:cNvSpPr/>
          <p:nvPr/>
        </p:nvSpPr>
        <p:spPr>
          <a:xfrm>
            <a:off x="8948978" y="4260178"/>
            <a:ext cx="1144151" cy="40011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5C8DF9-11E0-1764-577B-EB847B9FA27F}"/>
              </a:ext>
            </a:extLst>
          </p:cNvPr>
          <p:cNvSpPr txBox="1"/>
          <p:nvPr/>
        </p:nvSpPr>
        <p:spPr>
          <a:xfrm>
            <a:off x="7260221" y="5672452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F75498-F66E-D2EB-B1E1-D63538D21B52}"/>
              </a:ext>
            </a:extLst>
          </p:cNvPr>
          <p:cNvSpPr txBox="1"/>
          <p:nvPr/>
        </p:nvSpPr>
        <p:spPr>
          <a:xfrm>
            <a:off x="7366120" y="5249260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E9064-FF25-038E-4C54-4EDFBAE11F50}"/>
              </a:ext>
            </a:extLst>
          </p:cNvPr>
          <p:cNvSpPr txBox="1"/>
          <p:nvPr/>
        </p:nvSpPr>
        <p:spPr>
          <a:xfrm>
            <a:off x="7107113" y="6106656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1B6F26-15F3-8C51-C88E-464BA07358BE}"/>
              </a:ext>
            </a:extLst>
          </p:cNvPr>
          <p:cNvSpPr txBox="1"/>
          <p:nvPr/>
        </p:nvSpPr>
        <p:spPr>
          <a:xfrm>
            <a:off x="10701495" y="5672452"/>
            <a:ext cx="1037162" cy="400110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BC1922-EA6C-E5F4-2B8B-55BEDC4B236B}"/>
              </a:ext>
            </a:extLst>
          </p:cNvPr>
          <p:cNvSpPr txBox="1"/>
          <p:nvPr/>
        </p:nvSpPr>
        <p:spPr>
          <a:xfrm>
            <a:off x="10807394" y="5249260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CB48C5-DBC1-A026-1117-EC71F2097333}"/>
              </a:ext>
            </a:extLst>
          </p:cNvPr>
          <p:cNvSpPr txBox="1"/>
          <p:nvPr/>
        </p:nvSpPr>
        <p:spPr>
          <a:xfrm>
            <a:off x="10548387" y="6106656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0x20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C0BC18-DAA5-CFFB-AED0-9FAB90F7E741}"/>
              </a:ext>
            </a:extLst>
          </p:cNvPr>
          <p:cNvSpPr txBox="1"/>
          <p:nvPr/>
        </p:nvSpPr>
        <p:spPr>
          <a:xfrm>
            <a:off x="8487294" y="4964566"/>
            <a:ext cx="2129906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Copy of y is returned.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6781069C-A607-C04A-5E3E-F29B3DB94165}"/>
              </a:ext>
            </a:extLst>
          </p:cNvPr>
          <p:cNvSpPr/>
          <p:nvPr/>
        </p:nvSpPr>
        <p:spPr>
          <a:xfrm rot="10800000">
            <a:off x="8948978" y="5706546"/>
            <a:ext cx="1144151" cy="40011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64B19B1-B0AF-64C0-E910-C4707CE787A1}"/>
              </a:ext>
            </a:extLst>
          </p:cNvPr>
          <p:cNvGrpSpPr/>
          <p:nvPr/>
        </p:nvGrpSpPr>
        <p:grpSpPr>
          <a:xfrm flipH="1">
            <a:off x="4116391" y="1497331"/>
            <a:ext cx="720149" cy="3025994"/>
            <a:chOff x="5120640" y="1510560"/>
            <a:chExt cx="952500" cy="2492387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EA902836-C797-1CFD-29F6-EE90E771F71C}"/>
                </a:ext>
              </a:extLst>
            </p:cNvPr>
            <p:cNvCxnSpPr/>
            <p:nvPr/>
          </p:nvCxnSpPr>
          <p:spPr>
            <a:xfrm>
              <a:off x="5120640" y="1510560"/>
              <a:ext cx="9525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5B7A8F6-C3B0-5046-728D-04D108601915}"/>
                </a:ext>
              </a:extLst>
            </p:cNvPr>
            <p:cNvCxnSpPr/>
            <p:nvPr/>
          </p:nvCxnSpPr>
          <p:spPr>
            <a:xfrm>
              <a:off x="5120640" y="1510560"/>
              <a:ext cx="0" cy="2492387"/>
            </a:xfrm>
            <a:prstGeom prst="line">
              <a:avLst/>
            </a:prstGeom>
            <a:ln w="19050">
              <a:solidFill>
                <a:schemeClr val="accent2"/>
              </a:solidFill>
              <a:tailEnd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7BB03BF-FCC5-8744-6DF7-E08CFFEE8C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20640" y="4002947"/>
              <a:ext cx="952500" cy="0"/>
            </a:xfrm>
            <a:prstGeom prst="line">
              <a:avLst/>
            </a:prstGeom>
            <a:ln w="19050">
              <a:solidFill>
                <a:schemeClr val="accent2"/>
              </a:solidFill>
              <a:tailEnd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AD1A518D-036D-CD9E-C838-5FF94DA2D9F9}"/>
              </a:ext>
            </a:extLst>
          </p:cNvPr>
          <p:cNvSpPr txBox="1"/>
          <p:nvPr/>
        </p:nvSpPr>
        <p:spPr>
          <a:xfrm>
            <a:off x="4771373" y="2739940"/>
            <a:ext cx="103716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Copy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0A2B765-910F-1384-0DFD-59C3D663A59C}"/>
              </a:ext>
            </a:extLst>
          </p:cNvPr>
          <p:cNvGrpSpPr/>
          <p:nvPr/>
        </p:nvGrpSpPr>
        <p:grpSpPr>
          <a:xfrm rot="10800000" flipH="1">
            <a:off x="846185" y="2600048"/>
            <a:ext cx="659477" cy="1900415"/>
            <a:chOff x="5120640" y="1510560"/>
            <a:chExt cx="952500" cy="2492387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2C99446B-DC8B-17FF-CFAE-562ED3DBA5A9}"/>
                </a:ext>
              </a:extLst>
            </p:cNvPr>
            <p:cNvCxnSpPr/>
            <p:nvPr/>
          </p:nvCxnSpPr>
          <p:spPr>
            <a:xfrm>
              <a:off x="5120640" y="1510560"/>
              <a:ext cx="9525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7F5D9F7-40A4-0927-C3D6-4FC9E86C84E5}"/>
                </a:ext>
              </a:extLst>
            </p:cNvPr>
            <p:cNvCxnSpPr/>
            <p:nvPr/>
          </p:nvCxnSpPr>
          <p:spPr>
            <a:xfrm>
              <a:off x="5120640" y="1510560"/>
              <a:ext cx="0" cy="2492387"/>
            </a:xfrm>
            <a:prstGeom prst="line">
              <a:avLst/>
            </a:prstGeom>
            <a:ln w="19050">
              <a:solidFill>
                <a:schemeClr val="accent2"/>
              </a:solidFill>
              <a:tailEnd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C901472-9F7F-F685-F89B-F43B69C416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20640" y="4002947"/>
              <a:ext cx="952500" cy="0"/>
            </a:xfrm>
            <a:prstGeom prst="line">
              <a:avLst/>
            </a:prstGeom>
            <a:ln w="19050">
              <a:solidFill>
                <a:schemeClr val="accent2"/>
              </a:solidFill>
              <a:tailEnd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94D78B5-CF19-9504-0345-83656C3DAF4E}"/>
              </a:ext>
            </a:extLst>
          </p:cNvPr>
          <p:cNvSpPr txBox="1"/>
          <p:nvPr/>
        </p:nvSpPr>
        <p:spPr>
          <a:xfrm>
            <a:off x="18087" y="3228945"/>
            <a:ext cx="85049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Copy of y</a:t>
            </a:r>
          </a:p>
        </p:txBody>
      </p:sp>
    </p:spTree>
    <p:extLst>
      <p:ext uri="{BB962C8B-B14F-4D97-AF65-F5344CB8AC3E}">
        <p14:creationId xmlns:p14="http://schemas.microsoft.com/office/powerpoint/2010/main" val="31163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F91B04-EEBB-1766-B655-3DE0E12D3534}"/>
              </a:ext>
            </a:extLst>
          </p:cNvPr>
          <p:cNvSpPr txBox="1"/>
          <p:nvPr/>
        </p:nvSpPr>
        <p:spPr>
          <a:xfrm>
            <a:off x="1189519" y="3589365"/>
            <a:ext cx="50068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sz="32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32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32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32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updateNum</a:t>
            </a:r>
            <a:r>
              <a:rPr lang="en-US" sz="32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32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sz="32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32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D6C93-5359-F108-EC0B-86C3F991DB1D}"/>
              </a:ext>
            </a:extLst>
          </p:cNvPr>
          <p:cNvSpPr txBox="1"/>
          <p:nvPr/>
        </p:nvSpPr>
        <p:spPr>
          <a:xfrm>
            <a:off x="7107113" y="289679"/>
            <a:ext cx="45162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Return by value </a:t>
            </a:r>
          </a:p>
          <a:p>
            <a:r>
              <a:rPr lang="en-US" dirty="0"/>
              <a:t>While returning, a copy of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dirty="0"/>
              <a:t> is created.</a:t>
            </a:r>
          </a:p>
          <a:p>
            <a:endParaRPr lang="en-US" dirty="0"/>
          </a:p>
          <a:p>
            <a:r>
              <a:rPr lang="en-US" dirty="0"/>
              <a:t>This does make sense because as soon as </a:t>
            </a:r>
            <a:r>
              <a:rPr lang="en-US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updateNum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r>
              <a:rPr lang="en-US" dirty="0"/>
              <a:t> ends,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dirty="0"/>
              <a:t> will get destroyed. But the compiler would have already made the copy of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copy is then sent back to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main()</a:t>
            </a:r>
            <a:r>
              <a:rPr lang="en-US" dirty="0"/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96A5F-BA5F-A853-4D1A-69D587203EE3}"/>
              </a:ext>
            </a:extLst>
          </p:cNvPr>
          <p:cNvSpPr txBox="1"/>
          <p:nvPr/>
        </p:nvSpPr>
        <p:spPr>
          <a:xfrm>
            <a:off x="7260221" y="4226084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89792-011C-CF0B-F569-E1676DF777A9}"/>
              </a:ext>
            </a:extLst>
          </p:cNvPr>
          <p:cNvSpPr txBox="1"/>
          <p:nvPr/>
        </p:nvSpPr>
        <p:spPr>
          <a:xfrm>
            <a:off x="7366120" y="380289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B429E6-235F-49B8-74E7-EF36DFA728C0}"/>
              </a:ext>
            </a:extLst>
          </p:cNvPr>
          <p:cNvSpPr txBox="1"/>
          <p:nvPr/>
        </p:nvSpPr>
        <p:spPr>
          <a:xfrm>
            <a:off x="7107113" y="466028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099809-63B6-A545-16A6-236F9BDB8806}"/>
              </a:ext>
            </a:extLst>
          </p:cNvPr>
          <p:cNvSpPr txBox="1"/>
          <p:nvPr/>
        </p:nvSpPr>
        <p:spPr>
          <a:xfrm>
            <a:off x="10701495" y="4226084"/>
            <a:ext cx="1037162" cy="400110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3028BA-DEA1-4434-4884-407EAA18071A}"/>
              </a:ext>
            </a:extLst>
          </p:cNvPr>
          <p:cNvSpPr txBox="1"/>
          <p:nvPr/>
        </p:nvSpPr>
        <p:spPr>
          <a:xfrm>
            <a:off x="10807394" y="380289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8CD6F1-FFB4-E72E-A334-3DB3C1655AED}"/>
              </a:ext>
            </a:extLst>
          </p:cNvPr>
          <p:cNvSpPr txBox="1"/>
          <p:nvPr/>
        </p:nvSpPr>
        <p:spPr>
          <a:xfrm>
            <a:off x="10548387" y="466028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27B426-6DBF-231A-E387-531F0F29E424}"/>
              </a:ext>
            </a:extLst>
          </p:cNvPr>
          <p:cNvSpPr txBox="1"/>
          <p:nvPr/>
        </p:nvSpPr>
        <p:spPr>
          <a:xfrm>
            <a:off x="8434484" y="3822676"/>
            <a:ext cx="212990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updateNum</a:t>
            </a:r>
            <a:r>
              <a:rPr lang="en-US" sz="20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(x);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785418C-6B92-B2B6-AAE8-679F5C4476F6}"/>
              </a:ext>
            </a:extLst>
          </p:cNvPr>
          <p:cNvSpPr/>
          <p:nvPr/>
        </p:nvSpPr>
        <p:spPr>
          <a:xfrm>
            <a:off x="8948978" y="4260178"/>
            <a:ext cx="1144151" cy="40011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5C8DF9-11E0-1764-577B-EB847B9FA27F}"/>
              </a:ext>
            </a:extLst>
          </p:cNvPr>
          <p:cNvSpPr txBox="1"/>
          <p:nvPr/>
        </p:nvSpPr>
        <p:spPr>
          <a:xfrm>
            <a:off x="7260221" y="5672452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F75498-F66E-D2EB-B1E1-D63538D21B52}"/>
              </a:ext>
            </a:extLst>
          </p:cNvPr>
          <p:cNvSpPr txBox="1"/>
          <p:nvPr/>
        </p:nvSpPr>
        <p:spPr>
          <a:xfrm>
            <a:off x="7366120" y="5249260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E9064-FF25-038E-4C54-4EDFBAE11F50}"/>
              </a:ext>
            </a:extLst>
          </p:cNvPr>
          <p:cNvSpPr txBox="1"/>
          <p:nvPr/>
        </p:nvSpPr>
        <p:spPr>
          <a:xfrm>
            <a:off x="7107113" y="6106656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1B6F26-15F3-8C51-C88E-464BA07358BE}"/>
              </a:ext>
            </a:extLst>
          </p:cNvPr>
          <p:cNvSpPr txBox="1"/>
          <p:nvPr/>
        </p:nvSpPr>
        <p:spPr>
          <a:xfrm>
            <a:off x="10701495" y="5672452"/>
            <a:ext cx="1037162" cy="400110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BC1922-EA6C-E5F4-2B8B-55BEDC4B236B}"/>
              </a:ext>
            </a:extLst>
          </p:cNvPr>
          <p:cNvSpPr txBox="1"/>
          <p:nvPr/>
        </p:nvSpPr>
        <p:spPr>
          <a:xfrm>
            <a:off x="10807394" y="5249260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CB48C5-DBC1-A026-1117-EC71F2097333}"/>
              </a:ext>
            </a:extLst>
          </p:cNvPr>
          <p:cNvSpPr txBox="1"/>
          <p:nvPr/>
        </p:nvSpPr>
        <p:spPr>
          <a:xfrm>
            <a:off x="10548387" y="6106656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0x20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C0BC18-DAA5-CFFB-AED0-9FAB90F7E741}"/>
              </a:ext>
            </a:extLst>
          </p:cNvPr>
          <p:cNvSpPr txBox="1"/>
          <p:nvPr/>
        </p:nvSpPr>
        <p:spPr>
          <a:xfrm>
            <a:off x="8487294" y="4964566"/>
            <a:ext cx="2129906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Copy of y is returned.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6781069C-A607-C04A-5E3E-F29B3DB94165}"/>
              </a:ext>
            </a:extLst>
          </p:cNvPr>
          <p:cNvSpPr/>
          <p:nvPr/>
        </p:nvSpPr>
        <p:spPr>
          <a:xfrm rot="10800000">
            <a:off x="8948978" y="5706546"/>
            <a:ext cx="1144151" cy="40011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D3C950-D581-C078-2CE9-B3B853DF1796}"/>
              </a:ext>
            </a:extLst>
          </p:cNvPr>
          <p:cNvSpPr/>
          <p:nvPr/>
        </p:nvSpPr>
        <p:spPr>
          <a:xfrm>
            <a:off x="2546349" y="3471508"/>
            <a:ext cx="2948940" cy="78867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1F2DE-9773-2720-839C-C48F0F28BA5F}"/>
              </a:ext>
            </a:extLst>
          </p:cNvPr>
          <p:cNvSpPr txBox="1"/>
          <p:nvPr/>
        </p:nvSpPr>
        <p:spPr>
          <a:xfrm>
            <a:off x="205740" y="289679"/>
            <a:ext cx="47852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accent2"/>
                </a:solidFill>
              </a:rPr>
              <a:t>This is the </a:t>
            </a:r>
            <a:r>
              <a:rPr lang="en-US" sz="2400" i="1" u="sng" dirty="0">
                <a:solidFill>
                  <a:schemeClr val="accent2"/>
                </a:solidFill>
              </a:rPr>
              <a:t>copy of </a:t>
            </a:r>
            <a:r>
              <a:rPr lang="en-US" sz="2400" b="1" u="sng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sz="2400" i="1" dirty="0">
                <a:solidFill>
                  <a:schemeClr val="accent2"/>
                </a:solidFill>
              </a:rPr>
              <a:t> being returned back to </a:t>
            </a:r>
            <a:r>
              <a:rPr lang="en-US" sz="24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main()</a:t>
            </a:r>
            <a:r>
              <a:rPr lang="en-US" sz="2400" i="1" dirty="0">
                <a:solidFill>
                  <a:schemeClr val="accent2"/>
                </a:solidFill>
              </a:rPr>
              <a:t>, which then gets assigned to </a:t>
            </a:r>
            <a:r>
              <a:rPr lang="en-US" sz="24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</a:t>
            </a:r>
            <a:r>
              <a:rPr lang="en-US" sz="2400" i="1" dirty="0">
                <a:solidFill>
                  <a:schemeClr val="accent2"/>
                </a:solidFill>
              </a:rPr>
              <a:t>.</a:t>
            </a:r>
          </a:p>
          <a:p>
            <a:pPr algn="ctr"/>
            <a:endParaRPr lang="en-US" sz="2400" i="1" dirty="0">
              <a:solidFill>
                <a:schemeClr val="accent2"/>
              </a:solidFill>
            </a:endParaRPr>
          </a:p>
          <a:p>
            <a:pPr algn="ctr"/>
            <a:r>
              <a:rPr lang="en-US" sz="24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</a:t>
            </a:r>
            <a:r>
              <a:rPr lang="en-US" sz="2400" i="1" dirty="0">
                <a:solidFill>
                  <a:schemeClr val="accent2"/>
                </a:solidFill>
              </a:rPr>
              <a:t> itself has gone out of scope.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8E199718-7BA9-9928-C351-337D7B283FAF}"/>
              </a:ext>
            </a:extLst>
          </p:cNvPr>
          <p:cNvCxnSpPr>
            <a:cxnSpLocks/>
            <a:stCxn id="4" idx="3"/>
            <a:endCxn id="3" idx="0"/>
          </p:cNvCxnSpPr>
          <p:nvPr/>
        </p:nvCxnSpPr>
        <p:spPr>
          <a:xfrm flipH="1">
            <a:off x="4020819" y="1259175"/>
            <a:ext cx="970212" cy="2212333"/>
          </a:xfrm>
          <a:prstGeom prst="curvedConnector4">
            <a:avLst>
              <a:gd name="adj1" fmla="val -23562"/>
              <a:gd name="adj2" fmla="val 71911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45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100E65-5E87-2B27-3264-7EB452CCB875}"/>
              </a:ext>
            </a:extLst>
          </p:cNvPr>
          <p:cNvSpPr txBox="1"/>
          <p:nvPr/>
        </p:nvSpPr>
        <p:spPr>
          <a:xfrm>
            <a:off x="195942" y="2136768"/>
            <a:ext cx="6357258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num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den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num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den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My </a:t>
            </a:r>
            <a:r>
              <a:rPr lang="en-US" sz="1600" b="0" dirty="0" err="1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ctor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 called.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My copy </a:t>
            </a:r>
            <a:r>
              <a:rPr lang="en-US" sz="1600" b="0" dirty="0" err="1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ctor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 called.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EF0F3F-5DC4-EA39-F03D-A453D1AE9C5F}"/>
              </a:ext>
            </a:extLst>
          </p:cNvPr>
          <p:cNvSpPr txBox="1"/>
          <p:nvPr/>
        </p:nvSpPr>
        <p:spPr>
          <a:xfrm>
            <a:off x="6977744" y="2136768"/>
            <a:ext cx="501831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// Not part of class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foo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Inside foo()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63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Calling foo()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 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foo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Back to main()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4A1842-3C92-DE2D-F724-BBA474271D3D}"/>
              </a:ext>
            </a:extLst>
          </p:cNvPr>
          <p:cNvSpPr txBox="1"/>
          <p:nvPr/>
        </p:nvSpPr>
        <p:spPr>
          <a:xfrm>
            <a:off x="2667000" y="135361"/>
            <a:ext cx="72213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Self study</a:t>
            </a:r>
            <a:r>
              <a:rPr lang="en-US" b="1" i="1" dirty="0"/>
              <a:t> </a:t>
            </a:r>
            <a:r>
              <a:rPr lang="en-US" i="1" dirty="0"/>
              <a:t>(you may run the following code on python tutor as well)</a:t>
            </a:r>
          </a:p>
          <a:p>
            <a:endParaRPr lang="en-US" i="1" dirty="0"/>
          </a:p>
          <a:p>
            <a:r>
              <a:rPr lang="en-US" i="1" dirty="0"/>
              <a:t>Similar behavior for objects as well. </a:t>
            </a:r>
          </a:p>
          <a:p>
            <a:endParaRPr lang="en-US" i="1" dirty="0"/>
          </a:p>
          <a:p>
            <a:r>
              <a:rPr lang="en-US" i="1" dirty="0"/>
              <a:t>Check the outputs to understand that copy is created when,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objects are passed by value, and when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objects are returned by value. </a:t>
            </a:r>
          </a:p>
        </p:txBody>
      </p:sp>
    </p:spTree>
    <p:extLst>
      <p:ext uri="{BB962C8B-B14F-4D97-AF65-F5344CB8AC3E}">
        <p14:creationId xmlns:p14="http://schemas.microsoft.com/office/powerpoint/2010/main" val="3601129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39C07-5166-96A7-E128-25F4C083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Styles of Returning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DA36B-DD7C-268E-8B82-E9B370C0C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saw </a:t>
            </a:r>
            <a:r>
              <a:rPr lang="en-US" b="1" i="1" dirty="0"/>
              <a:t>Return by Value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applies to objects of classes as well (understand the last slide).</a:t>
            </a:r>
          </a:p>
          <a:p>
            <a:pPr lvl="1"/>
            <a:r>
              <a:rPr lang="en-US" b="1" i="1" dirty="0">
                <a:solidFill>
                  <a:schemeClr val="accent1"/>
                </a:solidFill>
              </a:rPr>
              <a:t>Copy constructor will be called </a:t>
            </a:r>
            <a:r>
              <a:rPr lang="en-US" i="1" dirty="0">
                <a:solidFill>
                  <a:schemeClr val="accent1"/>
                </a:solidFill>
              </a:rPr>
              <a:t>if you </a:t>
            </a:r>
            <a:r>
              <a:rPr lang="en-US" b="1" i="1" dirty="0">
                <a:solidFill>
                  <a:schemeClr val="accent1"/>
                </a:solidFill>
              </a:rPr>
              <a:t>return </a:t>
            </a:r>
            <a:r>
              <a:rPr lang="en-US" i="1" dirty="0">
                <a:solidFill>
                  <a:schemeClr val="accent1"/>
                </a:solidFill>
              </a:rPr>
              <a:t>objects by value because the compiler creates a copy of the returned object.</a:t>
            </a:r>
          </a:p>
        </p:txBody>
      </p:sp>
    </p:spTree>
    <p:extLst>
      <p:ext uri="{BB962C8B-B14F-4D97-AF65-F5344CB8AC3E}">
        <p14:creationId xmlns:p14="http://schemas.microsoft.com/office/powerpoint/2010/main" val="2377321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54C92A-04D1-8B22-4600-58637F4B3D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Return by Address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0A244C3-6094-A005-A658-A59B918396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 have seen this. Let’s take a deeper look through an example.</a:t>
            </a:r>
          </a:p>
        </p:txBody>
      </p:sp>
    </p:spTree>
    <p:extLst>
      <p:ext uri="{BB962C8B-B14F-4D97-AF65-F5344CB8AC3E}">
        <p14:creationId xmlns:p14="http://schemas.microsoft.com/office/powerpoint/2010/main" val="3023632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CD6C93-5359-F108-EC0B-86C3F991DB1D}"/>
              </a:ext>
            </a:extLst>
          </p:cNvPr>
          <p:cNvSpPr txBox="1"/>
          <p:nvPr/>
        </p:nvSpPr>
        <p:spPr>
          <a:xfrm>
            <a:off x="7107113" y="289679"/>
            <a:ext cx="45162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Return by Address</a:t>
            </a:r>
          </a:p>
          <a:p>
            <a:r>
              <a:rPr lang="en-US" dirty="0"/>
              <a:t>We are returning the address of whatever variable we want to return from the function. Which basically means we return a </a:t>
            </a:r>
            <a:r>
              <a:rPr lang="en-US" b="1" i="1" u="sng" dirty="0"/>
              <a:t>pointer </a:t>
            </a:r>
            <a:r>
              <a:rPr lang="en-US" u="sng" dirty="0"/>
              <a:t>to that variable</a:t>
            </a:r>
            <a:r>
              <a:rPr lang="en-US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CDB5EB-CF35-5E0A-52DD-3FB798113E47}"/>
              </a:ext>
            </a:extLst>
          </p:cNvPr>
          <p:cNvSpPr txBox="1"/>
          <p:nvPr/>
        </p:nvSpPr>
        <p:spPr>
          <a:xfrm>
            <a:off x="841987" y="197346"/>
            <a:ext cx="591576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#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include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if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else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17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2000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989999-CEF7-BC21-2EC6-C379C582E47A}"/>
              </a:ext>
            </a:extLst>
          </p:cNvPr>
          <p:cNvSpPr txBox="1"/>
          <p:nvPr/>
        </p:nvSpPr>
        <p:spPr>
          <a:xfrm>
            <a:off x="7107113" y="1851660"/>
            <a:ext cx="451624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accent2"/>
                </a:solidFill>
              </a:rPr>
              <a:t>Question</a:t>
            </a:r>
          </a:p>
          <a:p>
            <a:r>
              <a:rPr lang="en-US" i="1" dirty="0">
                <a:solidFill>
                  <a:schemeClr val="accent2"/>
                </a:solidFill>
              </a:rPr>
              <a:t>Is/are there any problem(s) with this program?</a:t>
            </a:r>
          </a:p>
          <a:p>
            <a:endParaRPr lang="en-US" i="1" dirty="0">
              <a:solidFill>
                <a:schemeClr val="accent2"/>
              </a:solidFill>
            </a:endParaRPr>
          </a:p>
          <a:p>
            <a:r>
              <a:rPr lang="en-US" i="1" u="sng" dirty="0">
                <a:solidFill>
                  <a:schemeClr val="accent2"/>
                </a:solidFill>
              </a:rPr>
              <a:t>Thought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2"/>
                </a:solidFill>
              </a:rPr>
              <a:t>How are the variables being passed?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2"/>
                </a:solidFill>
              </a:rPr>
              <a:t>Is the logic of the function sound?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2"/>
                </a:solidFill>
              </a:rPr>
              <a:t>What is being returned?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2"/>
                </a:solidFill>
              </a:rPr>
              <a:t>What will be the output in </a:t>
            </a:r>
            <a:r>
              <a:rPr lang="en-US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main()</a:t>
            </a:r>
            <a:r>
              <a:rPr lang="en-US" i="1" dirty="0">
                <a:solidFill>
                  <a:schemeClr val="accent2"/>
                </a:solidFill>
              </a:rPr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1"/>
                </a:solidFill>
              </a:rPr>
              <a:t>Update it, so that we </a:t>
            </a:r>
            <a:r>
              <a:rPr lang="en-US" b="1" i="1" dirty="0">
                <a:solidFill>
                  <a:schemeClr val="accent1"/>
                </a:solidFill>
              </a:rPr>
              <a:t>dereference</a:t>
            </a:r>
            <a:r>
              <a:rPr lang="en-US" i="1" dirty="0">
                <a:solidFill>
                  <a:schemeClr val="accent1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i="1" dirty="0">
              <a:solidFill>
                <a:schemeClr val="accent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1"/>
                </a:solidFill>
              </a:rPr>
              <a:t>Alternatively, you can update </a:t>
            </a:r>
            <a:r>
              <a:rPr lang="en-US" b="1" dirty="0" err="1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smallestInTwo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r>
              <a:rPr lang="en-US" i="1" dirty="0">
                <a:solidFill>
                  <a:schemeClr val="accent1"/>
                </a:solidFill>
              </a:rPr>
              <a:t> so that it </a:t>
            </a:r>
            <a:r>
              <a:rPr lang="en-US" b="1" i="1" dirty="0">
                <a:solidFill>
                  <a:schemeClr val="accent1"/>
                </a:solidFill>
              </a:rPr>
              <a:t>does not </a:t>
            </a:r>
            <a:r>
              <a:rPr lang="en-US" i="1" dirty="0">
                <a:solidFill>
                  <a:schemeClr val="accent1"/>
                </a:solidFill>
              </a:rPr>
              <a:t>return a pointer.</a:t>
            </a:r>
          </a:p>
        </p:txBody>
      </p:sp>
    </p:spTree>
    <p:extLst>
      <p:ext uri="{BB962C8B-B14F-4D97-AF65-F5344CB8AC3E}">
        <p14:creationId xmlns:p14="http://schemas.microsoft.com/office/powerpoint/2010/main" val="4093943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CD6C93-5359-F108-EC0B-86C3F991DB1D}"/>
              </a:ext>
            </a:extLst>
          </p:cNvPr>
          <p:cNvSpPr txBox="1"/>
          <p:nvPr/>
        </p:nvSpPr>
        <p:spPr>
          <a:xfrm>
            <a:off x="7107113" y="289679"/>
            <a:ext cx="4516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Return by Address</a:t>
            </a:r>
          </a:p>
          <a:p>
            <a:r>
              <a:rPr lang="en-US" dirty="0"/>
              <a:t>We are returning an address from the function. Which basically means we return a </a:t>
            </a:r>
            <a:r>
              <a:rPr lang="en-US" b="1" i="1" dirty="0"/>
              <a:t>pointer</a:t>
            </a:r>
            <a:r>
              <a:rPr lang="en-US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CDB5EB-CF35-5E0A-52DD-3FB798113E47}"/>
              </a:ext>
            </a:extLst>
          </p:cNvPr>
          <p:cNvSpPr txBox="1"/>
          <p:nvPr/>
        </p:nvSpPr>
        <p:spPr>
          <a:xfrm>
            <a:off x="841987" y="197346"/>
            <a:ext cx="591576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#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include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if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else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17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2000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989999-CEF7-BC21-2EC6-C379C582E47A}"/>
              </a:ext>
            </a:extLst>
          </p:cNvPr>
          <p:cNvSpPr txBox="1"/>
          <p:nvPr/>
        </p:nvSpPr>
        <p:spPr>
          <a:xfrm>
            <a:off x="7107113" y="1851660"/>
            <a:ext cx="451624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accent2"/>
                </a:solidFill>
              </a:rPr>
              <a:t>Keep going</a:t>
            </a:r>
            <a:endParaRPr lang="en-US" i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2"/>
                </a:solidFill>
              </a:rPr>
              <a:t>Once the </a:t>
            </a:r>
            <a:r>
              <a:rPr lang="en-US" b="1" i="1" dirty="0">
                <a:solidFill>
                  <a:schemeClr val="accent2"/>
                </a:solidFill>
              </a:rPr>
              <a:t>function ends</a:t>
            </a:r>
            <a:r>
              <a:rPr lang="en-US" i="1" dirty="0">
                <a:solidFill>
                  <a:schemeClr val="accent2"/>
                </a:solidFill>
              </a:rPr>
              <a:t> will the returned addresses be of valid entities?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accent1"/>
                </a:solidFill>
              </a:rPr>
              <a:t>No!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1"/>
                </a:solidFill>
              </a:rPr>
              <a:t>The variables are </a:t>
            </a:r>
            <a:r>
              <a:rPr lang="en-US" b="1" i="1" dirty="0">
                <a:solidFill>
                  <a:schemeClr val="accent1"/>
                </a:solidFill>
              </a:rPr>
              <a:t>local</a:t>
            </a:r>
            <a:r>
              <a:rPr lang="en-US" i="1" dirty="0">
                <a:solidFill>
                  <a:schemeClr val="accent1"/>
                </a:solidFill>
              </a:rPr>
              <a:t> to the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2"/>
                </a:solidFill>
              </a:rPr>
              <a:t>How do we fix this?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1"/>
                </a:solidFill>
              </a:rPr>
              <a:t>We need the variables to </a:t>
            </a:r>
            <a:r>
              <a:rPr lang="en-US" b="1" i="1" dirty="0">
                <a:solidFill>
                  <a:schemeClr val="accent1"/>
                </a:solidFill>
              </a:rPr>
              <a:t>persist after the function ends</a:t>
            </a:r>
            <a:r>
              <a:rPr lang="en-US" i="1" dirty="0">
                <a:solidFill>
                  <a:schemeClr val="accent1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i="1" dirty="0">
              <a:solidFill>
                <a:schemeClr val="accent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1"/>
                </a:solidFill>
              </a:rPr>
              <a:t>You can pass 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  <a:r>
              <a:rPr lang="en-US" i="1" dirty="0">
                <a:solidFill>
                  <a:schemeClr val="accent1"/>
                </a:solidFill>
              </a:rPr>
              <a:t> and 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x2</a:t>
            </a:r>
            <a:r>
              <a:rPr lang="en-US" i="1" dirty="0">
                <a:solidFill>
                  <a:schemeClr val="accent1"/>
                </a:solidFill>
              </a:rPr>
              <a:t> by reference or by address.</a:t>
            </a:r>
          </a:p>
        </p:txBody>
      </p:sp>
    </p:spTree>
    <p:extLst>
      <p:ext uri="{BB962C8B-B14F-4D97-AF65-F5344CB8AC3E}">
        <p14:creationId xmlns:p14="http://schemas.microsoft.com/office/powerpoint/2010/main" val="56968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CD6C93-5359-F108-EC0B-86C3F991DB1D}"/>
              </a:ext>
            </a:extLst>
          </p:cNvPr>
          <p:cNvSpPr txBox="1"/>
          <p:nvPr/>
        </p:nvSpPr>
        <p:spPr>
          <a:xfrm>
            <a:off x="7107113" y="289679"/>
            <a:ext cx="4516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Return by Address</a:t>
            </a:r>
          </a:p>
          <a:p>
            <a:r>
              <a:rPr lang="en-US" dirty="0"/>
              <a:t>We are returning an address from the function. Which basically means we return a </a:t>
            </a:r>
            <a:r>
              <a:rPr lang="en-US" b="1" i="1" dirty="0"/>
              <a:t>pointer</a:t>
            </a:r>
            <a:r>
              <a:rPr lang="en-US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CDB5EB-CF35-5E0A-52DD-3FB798113E47}"/>
              </a:ext>
            </a:extLst>
          </p:cNvPr>
          <p:cNvSpPr txBox="1"/>
          <p:nvPr/>
        </p:nvSpPr>
        <p:spPr>
          <a:xfrm>
            <a:off x="841987" y="197346"/>
            <a:ext cx="591576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#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include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s-E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s-E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s-E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if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else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17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2000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C5257CE0-6A77-2AF5-64A0-56E14A50CA9E}"/>
              </a:ext>
            </a:extLst>
          </p:cNvPr>
          <p:cNvCxnSpPr>
            <a:cxnSpLocks/>
          </p:cNvCxnSpPr>
          <p:nvPr/>
        </p:nvCxnSpPr>
        <p:spPr>
          <a:xfrm rot="16200000" flipV="1">
            <a:off x="2566561" y="2593267"/>
            <a:ext cx="4223658" cy="1366666"/>
          </a:xfrm>
          <a:prstGeom prst="curved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E85B89FF-24D1-FA90-C0ED-F7AF6DE6C3B2}"/>
              </a:ext>
            </a:extLst>
          </p:cNvPr>
          <p:cNvCxnSpPr>
            <a:cxnSpLocks/>
          </p:cNvCxnSpPr>
          <p:nvPr/>
        </p:nvCxnSpPr>
        <p:spPr>
          <a:xfrm rot="16200000" flipV="1">
            <a:off x="3407229" y="2960914"/>
            <a:ext cx="4191000" cy="664029"/>
          </a:xfrm>
          <a:prstGeom prst="curved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2763661-7AD1-A553-1D66-7F13B858A6EA}"/>
              </a:ext>
            </a:extLst>
          </p:cNvPr>
          <p:cNvSpPr txBox="1"/>
          <p:nvPr/>
        </p:nvSpPr>
        <p:spPr>
          <a:xfrm>
            <a:off x="4201128" y="3854632"/>
            <a:ext cx="2321190" cy="369332"/>
          </a:xfrm>
          <a:prstGeom prst="rect">
            <a:avLst/>
          </a:prstGeom>
          <a:solidFill>
            <a:schemeClr val="bg1">
              <a:alpha val="5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accent1"/>
                </a:solidFill>
              </a:rPr>
              <a:t>Passed by reference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D0E843-37DE-D0EE-5BE0-997E72F11AFC}"/>
              </a:ext>
            </a:extLst>
          </p:cNvPr>
          <p:cNvSpPr txBox="1"/>
          <p:nvPr/>
        </p:nvSpPr>
        <p:spPr>
          <a:xfrm>
            <a:off x="7736489" y="4554115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C2E96-4F27-C3C8-BE17-CA84F56917DB}"/>
              </a:ext>
            </a:extLst>
          </p:cNvPr>
          <p:cNvSpPr txBox="1"/>
          <p:nvPr/>
        </p:nvSpPr>
        <p:spPr>
          <a:xfrm>
            <a:off x="7842388" y="4130923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F364B5-F9F8-6758-65DD-A0E04BD63D62}"/>
              </a:ext>
            </a:extLst>
          </p:cNvPr>
          <p:cNvSpPr txBox="1"/>
          <p:nvPr/>
        </p:nvSpPr>
        <p:spPr>
          <a:xfrm>
            <a:off x="7583381" y="4988319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42F33A-4EC0-0EF3-24EA-04F57E0995BC}"/>
              </a:ext>
            </a:extLst>
          </p:cNvPr>
          <p:cNvSpPr txBox="1"/>
          <p:nvPr/>
        </p:nvSpPr>
        <p:spPr>
          <a:xfrm>
            <a:off x="8800632" y="4531033"/>
            <a:ext cx="55325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104090-519C-B687-FFA5-0463658C4657}"/>
              </a:ext>
            </a:extLst>
          </p:cNvPr>
          <p:cNvSpPr txBox="1"/>
          <p:nvPr/>
        </p:nvSpPr>
        <p:spPr>
          <a:xfrm>
            <a:off x="10433088" y="4554115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2000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62C449-50AA-D77E-B56C-13B56B8A87FD}"/>
              </a:ext>
            </a:extLst>
          </p:cNvPr>
          <p:cNvSpPr txBox="1"/>
          <p:nvPr/>
        </p:nvSpPr>
        <p:spPr>
          <a:xfrm>
            <a:off x="10538987" y="4130923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07AEA4-EBD4-962A-56AD-71F80BBB0EC8}"/>
              </a:ext>
            </a:extLst>
          </p:cNvPr>
          <p:cNvSpPr txBox="1"/>
          <p:nvPr/>
        </p:nvSpPr>
        <p:spPr>
          <a:xfrm>
            <a:off x="10279980" y="4988319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0x20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A66277-39EC-5BB9-F84C-4D0B468627F1}"/>
              </a:ext>
            </a:extLst>
          </p:cNvPr>
          <p:cNvSpPr txBox="1"/>
          <p:nvPr/>
        </p:nvSpPr>
        <p:spPr>
          <a:xfrm>
            <a:off x="11497231" y="4531033"/>
            <a:ext cx="55325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y2</a:t>
            </a:r>
          </a:p>
        </p:txBody>
      </p:sp>
    </p:spTree>
    <p:extLst>
      <p:ext uri="{BB962C8B-B14F-4D97-AF65-F5344CB8AC3E}">
        <p14:creationId xmlns:p14="http://schemas.microsoft.com/office/powerpoint/2010/main" val="83677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8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CD6C93-5359-F108-EC0B-86C3F991DB1D}"/>
              </a:ext>
            </a:extLst>
          </p:cNvPr>
          <p:cNvSpPr txBox="1"/>
          <p:nvPr/>
        </p:nvSpPr>
        <p:spPr>
          <a:xfrm>
            <a:off x="7107113" y="289679"/>
            <a:ext cx="4516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Return by Address</a:t>
            </a:r>
          </a:p>
          <a:p>
            <a:r>
              <a:rPr lang="en-US" dirty="0"/>
              <a:t>We are returning an address from the function. Which basically means we return a </a:t>
            </a:r>
            <a:r>
              <a:rPr lang="en-US" b="1" i="1" dirty="0"/>
              <a:t>pointer</a:t>
            </a:r>
            <a:r>
              <a:rPr lang="en-US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CDB5EB-CF35-5E0A-52DD-3FB798113E47}"/>
              </a:ext>
            </a:extLst>
          </p:cNvPr>
          <p:cNvSpPr txBox="1"/>
          <p:nvPr/>
        </p:nvSpPr>
        <p:spPr>
          <a:xfrm>
            <a:off x="841987" y="197346"/>
            <a:ext cx="591576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#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include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s-E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s-E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s-E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s-E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s-E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s-E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if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else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17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2000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989999-CEF7-BC21-2EC6-C379C582E47A}"/>
              </a:ext>
            </a:extLst>
          </p:cNvPr>
          <p:cNvSpPr txBox="1"/>
          <p:nvPr/>
        </p:nvSpPr>
        <p:spPr>
          <a:xfrm>
            <a:off x="7107113" y="1547184"/>
            <a:ext cx="45162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Note that 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y1</a:t>
            </a:r>
            <a:r>
              <a:rPr lang="en-US" i="1" dirty="0">
                <a:solidFill>
                  <a:schemeClr val="accent1"/>
                </a:solidFill>
              </a:rPr>
              <a:t> and 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y2</a:t>
            </a:r>
            <a:r>
              <a:rPr lang="en-US" i="1" dirty="0">
                <a:solidFill>
                  <a:schemeClr val="accent1"/>
                </a:solidFill>
              </a:rPr>
              <a:t> are aliases to 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  <a:r>
              <a:rPr lang="en-US" i="1" dirty="0">
                <a:solidFill>
                  <a:schemeClr val="accent1"/>
                </a:solidFill>
              </a:rPr>
              <a:t> and 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x2</a:t>
            </a:r>
            <a:r>
              <a:rPr lang="en-US" i="1" dirty="0">
                <a:solidFill>
                  <a:schemeClr val="accent1"/>
                </a:solidFill>
              </a:rPr>
              <a:t>, respectively.</a:t>
            </a:r>
          </a:p>
          <a:p>
            <a:endParaRPr lang="en-US" i="1" dirty="0">
              <a:solidFill>
                <a:schemeClr val="accent1"/>
              </a:solidFill>
            </a:endParaRPr>
          </a:p>
          <a:p>
            <a:r>
              <a:rPr lang="en-US" i="1" dirty="0">
                <a:solidFill>
                  <a:schemeClr val="accent1"/>
                </a:solidFill>
              </a:rPr>
              <a:t>So essentially, I am returning the </a:t>
            </a:r>
            <a:r>
              <a:rPr lang="en-US" b="1" i="1" dirty="0">
                <a:solidFill>
                  <a:schemeClr val="accent1"/>
                </a:solidFill>
              </a:rPr>
              <a:t>address </a:t>
            </a:r>
            <a:r>
              <a:rPr lang="en-US" i="1" dirty="0">
                <a:solidFill>
                  <a:schemeClr val="accent1"/>
                </a:solidFill>
              </a:rPr>
              <a:t>of either 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  <a:r>
              <a:rPr lang="en-US" i="1" dirty="0">
                <a:solidFill>
                  <a:schemeClr val="accent1"/>
                </a:solidFill>
              </a:rPr>
              <a:t> or 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x2</a:t>
            </a:r>
            <a:r>
              <a:rPr lang="en-US" i="1" dirty="0">
                <a:solidFill>
                  <a:schemeClr val="accent1"/>
                </a:solidFill>
              </a:rPr>
              <a:t>, depending on which one is smaller. </a:t>
            </a:r>
          </a:p>
          <a:p>
            <a:endParaRPr lang="en-US" i="1" dirty="0">
              <a:solidFill>
                <a:schemeClr val="accent1"/>
              </a:solidFill>
            </a:endParaRPr>
          </a:p>
          <a:p>
            <a:r>
              <a:rPr lang="en-US" i="1" dirty="0">
                <a:solidFill>
                  <a:schemeClr val="accent1"/>
                </a:solidFill>
              </a:rPr>
              <a:t>Note that 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  <a:r>
              <a:rPr lang="en-US" i="1" dirty="0">
                <a:solidFill>
                  <a:schemeClr val="accent1"/>
                </a:solidFill>
              </a:rPr>
              <a:t> and 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x2</a:t>
            </a:r>
            <a:r>
              <a:rPr lang="en-US" i="1" dirty="0">
                <a:solidFill>
                  <a:schemeClr val="accent1"/>
                </a:solidFill>
              </a:rPr>
              <a:t> will persist even after </a:t>
            </a:r>
            <a:r>
              <a:rPr lang="en-US" b="1" dirty="0" err="1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smallestInTwo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r>
              <a:rPr lang="en-US" i="1" dirty="0">
                <a:solidFill>
                  <a:schemeClr val="accent1"/>
                </a:solidFill>
              </a:rPr>
              <a:t> ends.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B90BED5-BB4C-9B6C-9F0C-609609523875}"/>
              </a:ext>
            </a:extLst>
          </p:cNvPr>
          <p:cNvGrpSpPr/>
          <p:nvPr/>
        </p:nvGrpSpPr>
        <p:grpSpPr>
          <a:xfrm rot="10800000" flipH="1">
            <a:off x="368964" y="889843"/>
            <a:ext cx="959093" cy="4727186"/>
            <a:chOff x="5120638" y="1510560"/>
            <a:chExt cx="1931280" cy="2492387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1530BFB-A7E8-C325-FC59-95544D12067E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5120638" y="1510560"/>
              <a:ext cx="1931280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61324A9-65F8-85AD-D9BE-72C23DAD2F08}"/>
                </a:ext>
              </a:extLst>
            </p:cNvPr>
            <p:cNvCxnSpPr/>
            <p:nvPr/>
          </p:nvCxnSpPr>
          <p:spPr>
            <a:xfrm>
              <a:off x="5120640" y="1510560"/>
              <a:ext cx="0" cy="2492387"/>
            </a:xfrm>
            <a:prstGeom prst="line">
              <a:avLst/>
            </a:prstGeom>
            <a:ln w="19050">
              <a:solidFill>
                <a:srgbClr val="00B050"/>
              </a:solidFill>
              <a:tailEnd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D827770-5486-FA93-D5EF-7C603960F4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20640" y="4002947"/>
              <a:ext cx="952500" cy="0"/>
            </a:xfrm>
            <a:prstGeom prst="line">
              <a:avLst/>
            </a:prstGeom>
            <a:ln w="19050">
              <a:solidFill>
                <a:srgbClr val="00B050"/>
              </a:solidFill>
              <a:tailEnd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EA68461-D6B8-17FF-5409-399CDA4CEB1D}"/>
              </a:ext>
            </a:extLst>
          </p:cNvPr>
          <p:cNvSpPr txBox="1"/>
          <p:nvPr/>
        </p:nvSpPr>
        <p:spPr>
          <a:xfrm>
            <a:off x="44869" y="5044827"/>
            <a:ext cx="1163129" cy="923330"/>
          </a:xfrm>
          <a:prstGeom prst="rect">
            <a:avLst/>
          </a:prstGeom>
          <a:solidFill>
            <a:schemeClr val="bg1">
              <a:alpha val="50000"/>
            </a:schemeClr>
          </a:solidFill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00B050"/>
                </a:solidFill>
              </a:rPr>
              <a:t>Returned a valid address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4FCE7F-5D51-5D2A-87A7-A036B3113478}"/>
              </a:ext>
            </a:extLst>
          </p:cNvPr>
          <p:cNvSpPr txBox="1"/>
          <p:nvPr/>
        </p:nvSpPr>
        <p:spPr>
          <a:xfrm>
            <a:off x="7736489" y="4554115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36B252-58BC-8B4A-D06B-C7B641D9C2EC}"/>
              </a:ext>
            </a:extLst>
          </p:cNvPr>
          <p:cNvSpPr txBox="1"/>
          <p:nvPr/>
        </p:nvSpPr>
        <p:spPr>
          <a:xfrm>
            <a:off x="7842388" y="4130923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9CE054-BD84-C665-EE89-CEDB8827282B}"/>
              </a:ext>
            </a:extLst>
          </p:cNvPr>
          <p:cNvSpPr txBox="1"/>
          <p:nvPr/>
        </p:nvSpPr>
        <p:spPr>
          <a:xfrm>
            <a:off x="7583381" y="4988319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186A3D-1E8A-04F2-0CD4-6FAAAEAC7643}"/>
              </a:ext>
            </a:extLst>
          </p:cNvPr>
          <p:cNvSpPr txBox="1"/>
          <p:nvPr/>
        </p:nvSpPr>
        <p:spPr>
          <a:xfrm>
            <a:off x="8800632" y="4531033"/>
            <a:ext cx="55325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BD7533-EB85-A232-F8C9-C7A0D6DD1698}"/>
              </a:ext>
            </a:extLst>
          </p:cNvPr>
          <p:cNvSpPr txBox="1"/>
          <p:nvPr/>
        </p:nvSpPr>
        <p:spPr>
          <a:xfrm>
            <a:off x="10433088" y="4554115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686DC1-9A55-FD22-3659-E53681225F03}"/>
              </a:ext>
            </a:extLst>
          </p:cNvPr>
          <p:cNvSpPr txBox="1"/>
          <p:nvPr/>
        </p:nvSpPr>
        <p:spPr>
          <a:xfrm>
            <a:off x="10538987" y="4130923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4B76F2-13C0-A339-8171-BE1D9372189A}"/>
              </a:ext>
            </a:extLst>
          </p:cNvPr>
          <p:cNvSpPr txBox="1"/>
          <p:nvPr/>
        </p:nvSpPr>
        <p:spPr>
          <a:xfrm>
            <a:off x="10279980" y="4988319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0x20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E105B9-C93A-BA31-F742-32622F7BB082}"/>
              </a:ext>
            </a:extLst>
          </p:cNvPr>
          <p:cNvSpPr txBox="1"/>
          <p:nvPr/>
        </p:nvSpPr>
        <p:spPr>
          <a:xfrm>
            <a:off x="11497231" y="4531033"/>
            <a:ext cx="55325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193C53-B32E-ACE4-1CEA-9F41B95E6700}"/>
              </a:ext>
            </a:extLst>
          </p:cNvPr>
          <p:cNvSpPr txBox="1"/>
          <p:nvPr/>
        </p:nvSpPr>
        <p:spPr>
          <a:xfrm>
            <a:off x="6904129" y="5523019"/>
            <a:ext cx="52878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// address of y1 == address of x1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B3833C3-9196-910C-378E-F00AA1521022}"/>
              </a:ext>
            </a:extLst>
          </p:cNvPr>
          <p:cNvCxnSpPr>
            <a:cxnSpLocks/>
          </p:cNvCxnSpPr>
          <p:nvPr/>
        </p:nvCxnSpPr>
        <p:spPr>
          <a:xfrm flipH="1">
            <a:off x="8806566" y="4531033"/>
            <a:ext cx="553255" cy="4001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4FD4681-3EAD-D580-E84B-2112AB1C20E4}"/>
              </a:ext>
            </a:extLst>
          </p:cNvPr>
          <p:cNvCxnSpPr>
            <a:cxnSpLocks/>
          </p:cNvCxnSpPr>
          <p:nvPr/>
        </p:nvCxnSpPr>
        <p:spPr>
          <a:xfrm flipH="1">
            <a:off x="11476184" y="4531033"/>
            <a:ext cx="553255" cy="4001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90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100E65-5E87-2B27-3264-7EB452CCB875}"/>
              </a:ext>
            </a:extLst>
          </p:cNvPr>
          <p:cNvSpPr txBox="1"/>
          <p:nvPr/>
        </p:nvSpPr>
        <p:spPr>
          <a:xfrm>
            <a:off x="195942" y="2136768"/>
            <a:ext cx="6357258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num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den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num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den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My </a:t>
            </a:r>
            <a:r>
              <a:rPr lang="en-US" sz="1600" b="0" dirty="0" err="1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ctor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 called.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My copy </a:t>
            </a:r>
            <a:r>
              <a:rPr lang="en-US" sz="1600" b="0" dirty="0" err="1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ctor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 called.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EF0F3F-5DC4-EA39-F03D-A453D1AE9C5F}"/>
              </a:ext>
            </a:extLst>
          </p:cNvPr>
          <p:cNvSpPr txBox="1"/>
          <p:nvPr/>
        </p:nvSpPr>
        <p:spPr>
          <a:xfrm>
            <a:off x="6977744" y="2136768"/>
            <a:ext cx="501831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// Not part of class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foo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Inside foo()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63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Calling foo()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 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foo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Back to main()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4A1842-3C92-DE2D-F724-BBA474271D3D}"/>
              </a:ext>
            </a:extLst>
          </p:cNvPr>
          <p:cNvSpPr txBox="1"/>
          <p:nvPr/>
        </p:nvSpPr>
        <p:spPr>
          <a:xfrm>
            <a:off x="2667000" y="135361"/>
            <a:ext cx="72213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Self study</a:t>
            </a:r>
          </a:p>
          <a:p>
            <a:r>
              <a:rPr lang="en-US" i="1" dirty="0"/>
              <a:t>Similar behavior for objects as well.</a:t>
            </a:r>
          </a:p>
          <a:p>
            <a:r>
              <a:rPr lang="en-US" i="1" dirty="0"/>
              <a:t>See how many times the copy constructor gets called.</a:t>
            </a:r>
          </a:p>
        </p:txBody>
      </p:sp>
    </p:spTree>
    <p:extLst>
      <p:ext uri="{BB962C8B-B14F-4D97-AF65-F5344CB8AC3E}">
        <p14:creationId xmlns:p14="http://schemas.microsoft.com/office/powerpoint/2010/main" val="3494820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D4A1842-3C92-DE2D-F724-BBA474271D3D}"/>
              </a:ext>
            </a:extLst>
          </p:cNvPr>
          <p:cNvSpPr txBox="1"/>
          <p:nvPr/>
        </p:nvSpPr>
        <p:spPr>
          <a:xfrm>
            <a:off x="6705599" y="74235"/>
            <a:ext cx="52251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Unique way of changing values of variables. </a:t>
            </a:r>
          </a:p>
          <a:p>
            <a:endParaRPr lang="en-US" i="1" dirty="0"/>
          </a:p>
          <a:p>
            <a:r>
              <a:rPr lang="en-US" i="1" dirty="0"/>
              <a:t>Note that usually function calls are on the RHS of the assignment operator.</a:t>
            </a:r>
          </a:p>
          <a:p>
            <a:r>
              <a:rPr lang="en-US" i="1" dirty="0"/>
              <a:t>That isn’t the case here.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7FC5CF-3071-307F-3CB7-21B29DAFC7D3}"/>
              </a:ext>
            </a:extLst>
          </p:cNvPr>
          <p:cNvSpPr txBox="1"/>
          <p:nvPr/>
        </p:nvSpPr>
        <p:spPr>
          <a:xfrm>
            <a:off x="261257" y="74235"/>
            <a:ext cx="6096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#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include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if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else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17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2000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 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// 17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1000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4A57C6-E6A3-C9D3-A165-5305A6E63A80}"/>
              </a:ext>
            </a:extLst>
          </p:cNvPr>
          <p:cNvSpPr txBox="1"/>
          <p:nvPr/>
        </p:nvSpPr>
        <p:spPr>
          <a:xfrm>
            <a:off x="6705599" y="5302718"/>
            <a:ext cx="50292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 </a:t>
            </a:r>
            <a:r>
              <a:rPr lang="en-US" sz="20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</a:t>
            </a:r>
            <a:r>
              <a:rPr lang="en-US" sz="20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1000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0C94F-CE0B-E686-DE9E-C78B72E73F0F}"/>
              </a:ext>
            </a:extLst>
          </p:cNvPr>
          <p:cNvSpPr/>
          <p:nvPr/>
        </p:nvSpPr>
        <p:spPr>
          <a:xfrm>
            <a:off x="7013712" y="5253023"/>
            <a:ext cx="3250096" cy="52161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8BE2D-43DF-6ACD-0059-05E280266FC6}"/>
              </a:ext>
            </a:extLst>
          </p:cNvPr>
          <p:cNvSpPr txBox="1"/>
          <p:nvPr/>
        </p:nvSpPr>
        <p:spPr>
          <a:xfrm>
            <a:off x="6357257" y="2228671"/>
            <a:ext cx="55278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2"/>
                </a:solidFill>
              </a:rPr>
              <a:t>What gets returned here is the address of </a:t>
            </a:r>
            <a:r>
              <a:rPr lang="en-US" sz="24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  <a:r>
              <a:rPr lang="en-US" sz="2400" i="1" dirty="0">
                <a:solidFill>
                  <a:schemeClr val="accent2"/>
                </a:solidFill>
              </a:rPr>
              <a:t>. And then I’m dereferencing that address.</a:t>
            </a:r>
          </a:p>
          <a:p>
            <a:r>
              <a:rPr lang="en-US" sz="2400" i="1" dirty="0">
                <a:solidFill>
                  <a:schemeClr val="accent2"/>
                </a:solidFill>
              </a:rPr>
              <a:t>This is identical to the following.</a:t>
            </a:r>
          </a:p>
          <a:p>
            <a:pPr algn="ctr"/>
            <a:r>
              <a:rPr lang="en-US" sz="2400" dirty="0">
                <a:solidFill>
                  <a:srgbClr val="777777"/>
                </a:solidFill>
                <a:latin typeface="Cascadia Mono" panose="020B0609020000020004" pitchFamily="49" charset="0"/>
              </a:rPr>
              <a:t>*(&amp;</a:t>
            </a:r>
            <a:r>
              <a:rPr lang="en-US" sz="2400" dirty="0">
                <a:solidFill>
                  <a:srgbClr val="7A3E9D"/>
                </a:solidFill>
                <a:latin typeface="Cascadia Mono" panose="020B0609020000020004" pitchFamily="49" charset="0"/>
              </a:rPr>
              <a:t>x1</a:t>
            </a:r>
            <a:r>
              <a:rPr lang="en-US" sz="24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 =</a:t>
            </a:r>
            <a:r>
              <a:rPr lang="en-US" sz="2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</a:t>
            </a:r>
            <a:r>
              <a:rPr lang="en-US" sz="2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1000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2400" dirty="0">
              <a:solidFill>
                <a:srgbClr val="333333"/>
              </a:solidFill>
              <a:latin typeface="Cascadia Mono" panose="020B0609020000020004" pitchFamily="49" charset="0"/>
            </a:endParaRP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ED136049-1C0A-AA89-9B76-9476681F653C}"/>
              </a:ext>
            </a:extLst>
          </p:cNvPr>
          <p:cNvCxnSpPr>
            <a:cxnSpLocks/>
            <a:stCxn id="5" idx="0"/>
            <a:endCxn id="29" idx="2"/>
          </p:cNvCxnSpPr>
          <p:nvPr/>
        </p:nvCxnSpPr>
        <p:spPr>
          <a:xfrm rot="16200000" flipV="1">
            <a:off x="7964173" y="4578436"/>
            <a:ext cx="1115177" cy="233998"/>
          </a:xfrm>
          <a:prstGeom prst="curved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845F3F6-DD67-A2DB-44A1-6FF1375D6782}"/>
              </a:ext>
            </a:extLst>
          </p:cNvPr>
          <p:cNvSpPr/>
          <p:nvPr/>
        </p:nvSpPr>
        <p:spPr>
          <a:xfrm>
            <a:off x="8092907" y="3737736"/>
            <a:ext cx="623709" cy="40011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47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39C07-5166-96A7-E128-25F4C083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Styles of Returning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DA36B-DD7C-268E-8B82-E9B370C0C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saw </a:t>
            </a:r>
            <a:r>
              <a:rPr lang="en-US" b="1" i="1" dirty="0"/>
              <a:t>Return by Value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You can also </a:t>
            </a:r>
            <a:r>
              <a:rPr lang="en-US" b="1" i="1" dirty="0"/>
              <a:t>Return by Address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Key takeaway is that the address that you return should be of a </a:t>
            </a:r>
            <a:r>
              <a:rPr lang="en-US" b="1" dirty="0"/>
              <a:t>valid entity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That entity should persist after the function ends.</a:t>
            </a:r>
          </a:p>
          <a:p>
            <a:pPr lvl="2"/>
            <a:r>
              <a:rPr lang="en-US" dirty="0"/>
              <a:t>One example shown in earlier slides.</a:t>
            </a:r>
          </a:p>
          <a:p>
            <a:pPr lvl="2"/>
            <a:r>
              <a:rPr lang="en-US" dirty="0"/>
              <a:t>Another example could be if you return the address of memory on the heap that you haven’t deallocated yet.</a:t>
            </a:r>
          </a:p>
          <a:p>
            <a:pPr lvl="2"/>
            <a:r>
              <a:rPr lang="en-US" dirty="0"/>
              <a:t>Global variables could be yet another example.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Otherwise </a:t>
            </a:r>
            <a:r>
              <a:rPr lang="en-US" b="1" dirty="0"/>
              <a:t>dangling pointers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That is why returning the address of variables local to the function doesn’t make sense because those variables will go out of scope. </a:t>
            </a:r>
          </a:p>
        </p:txBody>
      </p:sp>
    </p:spTree>
    <p:extLst>
      <p:ext uri="{BB962C8B-B14F-4D97-AF65-F5344CB8AC3E}">
        <p14:creationId xmlns:p14="http://schemas.microsoft.com/office/powerpoint/2010/main" val="306014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54C92A-04D1-8B22-4600-58637F4B3D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Return by Reference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0A244C3-6094-A005-A658-A59B918396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Idea is similar to returning </a:t>
            </a:r>
            <a:r>
              <a:rPr lang="en-US"/>
              <a:t>by address.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539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CD6C93-5359-F108-EC0B-86C3F991DB1D}"/>
              </a:ext>
            </a:extLst>
          </p:cNvPr>
          <p:cNvSpPr txBox="1"/>
          <p:nvPr/>
        </p:nvSpPr>
        <p:spPr>
          <a:xfrm>
            <a:off x="7107113" y="289679"/>
            <a:ext cx="45162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Return by Reference</a:t>
            </a:r>
          </a:p>
          <a:p>
            <a:r>
              <a:rPr lang="en-US" dirty="0"/>
              <a:t>References </a:t>
            </a:r>
            <a:r>
              <a:rPr lang="en-US" b="1" dirty="0"/>
              <a:t>are</a:t>
            </a:r>
            <a:r>
              <a:rPr lang="en-US" dirty="0"/>
              <a:t> the entities to which they are referencing; they’re aliases.</a:t>
            </a:r>
          </a:p>
          <a:p>
            <a:endParaRPr lang="en-US" dirty="0"/>
          </a:p>
          <a:p>
            <a:r>
              <a:rPr lang="en-US" dirty="0"/>
              <a:t>Let’s walk through this function.</a:t>
            </a:r>
          </a:p>
          <a:p>
            <a:endParaRPr lang="en-US" dirty="0"/>
          </a:p>
          <a:p>
            <a:r>
              <a:rPr lang="en-US" dirty="0"/>
              <a:t>Firstly, the variables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  <a:r>
              <a:rPr lang="en-US" dirty="0"/>
              <a:t> and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x2</a:t>
            </a:r>
            <a:r>
              <a:rPr lang="en-US" dirty="0"/>
              <a:t> are passed by reference. </a:t>
            </a:r>
          </a:p>
          <a:p>
            <a:r>
              <a:rPr lang="en-US" dirty="0"/>
              <a:t>So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y1</a:t>
            </a:r>
            <a:r>
              <a:rPr lang="en-US" dirty="0"/>
              <a:t> and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y2</a:t>
            </a:r>
            <a:r>
              <a:rPr lang="en-US" dirty="0"/>
              <a:t> are aliases to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  <a:r>
              <a:rPr lang="en-US" dirty="0"/>
              <a:t> and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x2</a:t>
            </a:r>
            <a:r>
              <a:rPr lang="en-US" dirty="0"/>
              <a:t>, respectively.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CDB5EB-CF35-5E0A-52DD-3FB798113E47}"/>
              </a:ext>
            </a:extLst>
          </p:cNvPr>
          <p:cNvSpPr txBox="1"/>
          <p:nvPr/>
        </p:nvSpPr>
        <p:spPr>
          <a:xfrm>
            <a:off x="841988" y="197346"/>
            <a:ext cx="559147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#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include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if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else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17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2000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CA434-4D8F-3BA6-8DF3-92FFFA1EAC40}"/>
              </a:ext>
            </a:extLst>
          </p:cNvPr>
          <p:cNvSpPr txBox="1"/>
          <p:nvPr/>
        </p:nvSpPr>
        <p:spPr>
          <a:xfrm>
            <a:off x="7332633" y="4456144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267FE-85B7-6BEC-154D-B4CED7C5F262}"/>
              </a:ext>
            </a:extLst>
          </p:cNvPr>
          <p:cNvSpPr txBox="1"/>
          <p:nvPr/>
        </p:nvSpPr>
        <p:spPr>
          <a:xfrm>
            <a:off x="7438532" y="403295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75B40B-1DB5-8537-9CAD-5F20C8CD723F}"/>
              </a:ext>
            </a:extLst>
          </p:cNvPr>
          <p:cNvSpPr txBox="1"/>
          <p:nvPr/>
        </p:nvSpPr>
        <p:spPr>
          <a:xfrm>
            <a:off x="7179525" y="489034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45503-213B-7AD1-7D6D-4433233CE749}"/>
              </a:ext>
            </a:extLst>
          </p:cNvPr>
          <p:cNvSpPr txBox="1"/>
          <p:nvPr/>
        </p:nvSpPr>
        <p:spPr>
          <a:xfrm>
            <a:off x="8396776" y="4433062"/>
            <a:ext cx="55325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8C7B20-28F2-6F95-1E01-8E40564585F1}"/>
              </a:ext>
            </a:extLst>
          </p:cNvPr>
          <p:cNvSpPr txBox="1"/>
          <p:nvPr/>
        </p:nvSpPr>
        <p:spPr>
          <a:xfrm>
            <a:off x="10029232" y="4456144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C2F706-F907-03F3-4314-7E922FE30DC8}"/>
              </a:ext>
            </a:extLst>
          </p:cNvPr>
          <p:cNvSpPr txBox="1"/>
          <p:nvPr/>
        </p:nvSpPr>
        <p:spPr>
          <a:xfrm>
            <a:off x="10135131" y="403295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0F447-BCFD-98C7-77F9-69D672B53A8D}"/>
              </a:ext>
            </a:extLst>
          </p:cNvPr>
          <p:cNvSpPr txBox="1"/>
          <p:nvPr/>
        </p:nvSpPr>
        <p:spPr>
          <a:xfrm>
            <a:off x="9876124" y="489034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A2A171-8083-D488-7692-6E6EC01D55CE}"/>
              </a:ext>
            </a:extLst>
          </p:cNvPr>
          <p:cNvSpPr txBox="1"/>
          <p:nvPr/>
        </p:nvSpPr>
        <p:spPr>
          <a:xfrm>
            <a:off x="11093375" y="4433062"/>
            <a:ext cx="55325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y2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0843435D-8A7E-99EC-709C-08E2AE29683F}"/>
              </a:ext>
            </a:extLst>
          </p:cNvPr>
          <p:cNvCxnSpPr>
            <a:cxnSpLocks/>
          </p:cNvCxnSpPr>
          <p:nvPr/>
        </p:nvCxnSpPr>
        <p:spPr>
          <a:xfrm rot="16200000" flipV="1">
            <a:off x="2471057" y="2688771"/>
            <a:ext cx="4223658" cy="1175657"/>
          </a:xfrm>
          <a:prstGeom prst="curved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58A67F86-EAC5-2147-1E33-9100A54ACDFB}"/>
              </a:ext>
            </a:extLst>
          </p:cNvPr>
          <p:cNvCxnSpPr>
            <a:cxnSpLocks/>
          </p:cNvCxnSpPr>
          <p:nvPr/>
        </p:nvCxnSpPr>
        <p:spPr>
          <a:xfrm rot="16200000" flipV="1">
            <a:off x="3407229" y="2960914"/>
            <a:ext cx="4191000" cy="664029"/>
          </a:xfrm>
          <a:prstGeom prst="curved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7747F27-0CB5-AEA3-DBAD-E23489F0BAE9}"/>
              </a:ext>
            </a:extLst>
          </p:cNvPr>
          <p:cNvSpPr txBox="1"/>
          <p:nvPr/>
        </p:nvSpPr>
        <p:spPr>
          <a:xfrm>
            <a:off x="4201128" y="3854632"/>
            <a:ext cx="2321190" cy="369332"/>
          </a:xfrm>
          <a:prstGeom prst="rect">
            <a:avLst/>
          </a:prstGeom>
          <a:solidFill>
            <a:schemeClr val="bg1">
              <a:alpha val="5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accent1"/>
                </a:solidFill>
              </a:rPr>
              <a:t>Passed by reference</a:t>
            </a:r>
          </a:p>
        </p:txBody>
      </p:sp>
    </p:spTree>
    <p:extLst>
      <p:ext uri="{BB962C8B-B14F-4D97-AF65-F5344CB8AC3E}">
        <p14:creationId xmlns:p14="http://schemas.microsoft.com/office/powerpoint/2010/main" val="27836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7" grpId="0" animBg="1"/>
      <p:bldP spid="8" grpId="0"/>
      <p:bldP spid="9" grpId="0"/>
      <p:bldP spid="10" grpId="0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CD6C93-5359-F108-EC0B-86C3F991DB1D}"/>
              </a:ext>
            </a:extLst>
          </p:cNvPr>
          <p:cNvSpPr txBox="1"/>
          <p:nvPr/>
        </p:nvSpPr>
        <p:spPr>
          <a:xfrm>
            <a:off x="7107113" y="289679"/>
            <a:ext cx="4516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Return by Reference</a:t>
            </a:r>
          </a:p>
          <a:p>
            <a:r>
              <a:rPr lang="en-US" dirty="0"/>
              <a:t>The function logic works as intended; in this example,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y1</a:t>
            </a:r>
            <a:r>
              <a:rPr lang="en-US" dirty="0"/>
              <a:t> (or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  <a:r>
              <a:rPr lang="en-US" dirty="0"/>
              <a:t>) will be identified as the smaller integer.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CDB5EB-CF35-5E0A-52DD-3FB798113E47}"/>
              </a:ext>
            </a:extLst>
          </p:cNvPr>
          <p:cNvSpPr txBox="1"/>
          <p:nvPr/>
        </p:nvSpPr>
        <p:spPr>
          <a:xfrm>
            <a:off x="841988" y="197346"/>
            <a:ext cx="559147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#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include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if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else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17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2000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CA434-4D8F-3BA6-8DF3-92FFFA1EAC40}"/>
              </a:ext>
            </a:extLst>
          </p:cNvPr>
          <p:cNvSpPr txBox="1"/>
          <p:nvPr/>
        </p:nvSpPr>
        <p:spPr>
          <a:xfrm>
            <a:off x="7332633" y="4456144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267FE-85B7-6BEC-154D-B4CED7C5F262}"/>
              </a:ext>
            </a:extLst>
          </p:cNvPr>
          <p:cNvSpPr txBox="1"/>
          <p:nvPr/>
        </p:nvSpPr>
        <p:spPr>
          <a:xfrm>
            <a:off x="7438532" y="403295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75B40B-1DB5-8537-9CAD-5F20C8CD723F}"/>
              </a:ext>
            </a:extLst>
          </p:cNvPr>
          <p:cNvSpPr txBox="1"/>
          <p:nvPr/>
        </p:nvSpPr>
        <p:spPr>
          <a:xfrm>
            <a:off x="7179525" y="489034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45503-213B-7AD1-7D6D-4433233CE749}"/>
              </a:ext>
            </a:extLst>
          </p:cNvPr>
          <p:cNvSpPr txBox="1"/>
          <p:nvPr/>
        </p:nvSpPr>
        <p:spPr>
          <a:xfrm>
            <a:off x="8396776" y="4433062"/>
            <a:ext cx="55325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8C7B20-28F2-6F95-1E01-8E40564585F1}"/>
              </a:ext>
            </a:extLst>
          </p:cNvPr>
          <p:cNvSpPr txBox="1"/>
          <p:nvPr/>
        </p:nvSpPr>
        <p:spPr>
          <a:xfrm>
            <a:off x="10029232" y="4456144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C2F706-F907-03F3-4314-7E922FE30DC8}"/>
              </a:ext>
            </a:extLst>
          </p:cNvPr>
          <p:cNvSpPr txBox="1"/>
          <p:nvPr/>
        </p:nvSpPr>
        <p:spPr>
          <a:xfrm>
            <a:off x="10135131" y="403295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0F447-BCFD-98C7-77F9-69D672B53A8D}"/>
              </a:ext>
            </a:extLst>
          </p:cNvPr>
          <p:cNvSpPr txBox="1"/>
          <p:nvPr/>
        </p:nvSpPr>
        <p:spPr>
          <a:xfrm>
            <a:off x="9876124" y="489034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A2A171-8083-D488-7692-6E6EC01D55CE}"/>
              </a:ext>
            </a:extLst>
          </p:cNvPr>
          <p:cNvSpPr txBox="1"/>
          <p:nvPr/>
        </p:nvSpPr>
        <p:spPr>
          <a:xfrm>
            <a:off x="11093375" y="4433062"/>
            <a:ext cx="55325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y2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793935C-6E9C-E229-536A-109870AB9AD5}"/>
              </a:ext>
            </a:extLst>
          </p:cNvPr>
          <p:cNvSpPr/>
          <p:nvPr/>
        </p:nvSpPr>
        <p:spPr>
          <a:xfrm>
            <a:off x="841987" y="1305341"/>
            <a:ext cx="458459" cy="3057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BB1898D-B8E3-4489-E3B4-D026F30E67E5}"/>
              </a:ext>
            </a:extLst>
          </p:cNvPr>
          <p:cNvSpPr/>
          <p:nvPr/>
        </p:nvSpPr>
        <p:spPr>
          <a:xfrm rot="5400000">
            <a:off x="7619816" y="3650850"/>
            <a:ext cx="458459" cy="3057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71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CD6C93-5359-F108-EC0B-86C3F991DB1D}"/>
              </a:ext>
            </a:extLst>
          </p:cNvPr>
          <p:cNvSpPr txBox="1"/>
          <p:nvPr/>
        </p:nvSpPr>
        <p:spPr>
          <a:xfrm>
            <a:off x="7107113" y="289679"/>
            <a:ext cx="45162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Return by Reference</a:t>
            </a:r>
          </a:p>
          <a:p>
            <a:r>
              <a:rPr lang="en-US" dirty="0"/>
              <a:t>We are returning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y1</a:t>
            </a:r>
            <a:r>
              <a:rPr lang="en-US" dirty="0"/>
              <a:t> (or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  <a:r>
              <a:rPr lang="en-US" dirty="0"/>
              <a:t>) by reference.</a:t>
            </a:r>
          </a:p>
          <a:p>
            <a:endParaRPr lang="en-US" dirty="0"/>
          </a:p>
          <a:p>
            <a:r>
              <a:rPr lang="en-US" dirty="0"/>
              <a:t>Meaning, that we are returning a reference/alias to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y1</a:t>
            </a:r>
            <a:r>
              <a:rPr lang="en-US" dirty="0"/>
              <a:t> (or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Meaning we are not creating a copy of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y1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What we are returning, is the variable,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  <a:r>
              <a:rPr lang="en-US" dirty="0"/>
              <a:t>, itself.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CDB5EB-CF35-5E0A-52DD-3FB798113E47}"/>
              </a:ext>
            </a:extLst>
          </p:cNvPr>
          <p:cNvSpPr txBox="1"/>
          <p:nvPr/>
        </p:nvSpPr>
        <p:spPr>
          <a:xfrm>
            <a:off x="841988" y="197346"/>
            <a:ext cx="559147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#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include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if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else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17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2000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CA434-4D8F-3BA6-8DF3-92FFFA1EAC40}"/>
              </a:ext>
            </a:extLst>
          </p:cNvPr>
          <p:cNvSpPr txBox="1"/>
          <p:nvPr/>
        </p:nvSpPr>
        <p:spPr>
          <a:xfrm>
            <a:off x="7332633" y="4456144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267FE-85B7-6BEC-154D-B4CED7C5F262}"/>
              </a:ext>
            </a:extLst>
          </p:cNvPr>
          <p:cNvSpPr txBox="1"/>
          <p:nvPr/>
        </p:nvSpPr>
        <p:spPr>
          <a:xfrm>
            <a:off x="7438532" y="403295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75B40B-1DB5-8537-9CAD-5F20C8CD723F}"/>
              </a:ext>
            </a:extLst>
          </p:cNvPr>
          <p:cNvSpPr txBox="1"/>
          <p:nvPr/>
        </p:nvSpPr>
        <p:spPr>
          <a:xfrm>
            <a:off x="7179525" y="489034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45503-213B-7AD1-7D6D-4433233CE749}"/>
              </a:ext>
            </a:extLst>
          </p:cNvPr>
          <p:cNvSpPr txBox="1"/>
          <p:nvPr/>
        </p:nvSpPr>
        <p:spPr>
          <a:xfrm>
            <a:off x="8396776" y="4433062"/>
            <a:ext cx="55325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8C7B20-28F2-6F95-1E01-8E40564585F1}"/>
              </a:ext>
            </a:extLst>
          </p:cNvPr>
          <p:cNvSpPr txBox="1"/>
          <p:nvPr/>
        </p:nvSpPr>
        <p:spPr>
          <a:xfrm>
            <a:off x="10029232" y="4456144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C2F706-F907-03F3-4314-7E922FE30DC8}"/>
              </a:ext>
            </a:extLst>
          </p:cNvPr>
          <p:cNvSpPr txBox="1"/>
          <p:nvPr/>
        </p:nvSpPr>
        <p:spPr>
          <a:xfrm>
            <a:off x="10135131" y="403295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0F447-BCFD-98C7-77F9-69D672B53A8D}"/>
              </a:ext>
            </a:extLst>
          </p:cNvPr>
          <p:cNvSpPr txBox="1"/>
          <p:nvPr/>
        </p:nvSpPr>
        <p:spPr>
          <a:xfrm>
            <a:off x="9876124" y="489034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A2A171-8083-D488-7692-6E6EC01D55CE}"/>
              </a:ext>
            </a:extLst>
          </p:cNvPr>
          <p:cNvSpPr txBox="1"/>
          <p:nvPr/>
        </p:nvSpPr>
        <p:spPr>
          <a:xfrm>
            <a:off x="11093375" y="4433062"/>
            <a:ext cx="55325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y2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793935C-6E9C-E229-536A-109870AB9AD5}"/>
              </a:ext>
            </a:extLst>
          </p:cNvPr>
          <p:cNvSpPr/>
          <p:nvPr/>
        </p:nvSpPr>
        <p:spPr>
          <a:xfrm>
            <a:off x="841988" y="1860512"/>
            <a:ext cx="458459" cy="3057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A13AF84-E5D7-096E-6709-977FA0E86B95}"/>
              </a:ext>
            </a:extLst>
          </p:cNvPr>
          <p:cNvSpPr/>
          <p:nvPr/>
        </p:nvSpPr>
        <p:spPr>
          <a:xfrm rot="5400000">
            <a:off x="7619816" y="3650850"/>
            <a:ext cx="458459" cy="3057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519927D-498C-6BB5-9ED4-FBD158A3B62E}"/>
              </a:ext>
            </a:extLst>
          </p:cNvPr>
          <p:cNvSpPr/>
          <p:nvPr/>
        </p:nvSpPr>
        <p:spPr>
          <a:xfrm rot="2871039">
            <a:off x="558095" y="500065"/>
            <a:ext cx="458459" cy="3057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5D0DA2-017A-E534-9F3A-DE9A97B36579}"/>
              </a:ext>
            </a:extLst>
          </p:cNvPr>
          <p:cNvCxnSpPr>
            <a:cxnSpLocks/>
          </p:cNvCxnSpPr>
          <p:nvPr/>
        </p:nvCxnSpPr>
        <p:spPr>
          <a:xfrm flipH="1">
            <a:off x="8396776" y="4433062"/>
            <a:ext cx="553255" cy="4001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7C379BD-31C4-24A1-BE63-1A48045F52AC}"/>
              </a:ext>
            </a:extLst>
          </p:cNvPr>
          <p:cNvCxnSpPr>
            <a:cxnSpLocks/>
          </p:cNvCxnSpPr>
          <p:nvPr/>
        </p:nvCxnSpPr>
        <p:spPr>
          <a:xfrm flipH="1">
            <a:off x="11066394" y="4433062"/>
            <a:ext cx="553255" cy="4001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441EDEF-B62F-EE15-F2A6-0963C6FA2BE5}"/>
              </a:ext>
            </a:extLst>
          </p:cNvPr>
          <p:cNvSpPr txBox="1"/>
          <p:nvPr/>
        </p:nvSpPr>
        <p:spPr>
          <a:xfrm>
            <a:off x="7332633" y="5347634"/>
            <a:ext cx="45162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At the end of the function, 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y1</a:t>
            </a:r>
            <a:r>
              <a:rPr lang="en-US" i="1" dirty="0">
                <a:solidFill>
                  <a:schemeClr val="accent1"/>
                </a:solidFill>
              </a:rPr>
              <a:t> and 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y2</a:t>
            </a:r>
            <a:r>
              <a:rPr lang="en-US" i="1" dirty="0">
                <a:solidFill>
                  <a:schemeClr val="accent1"/>
                </a:solidFill>
              </a:rPr>
              <a:t> will go out of scope, but the function will return its reference back to 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main()</a:t>
            </a:r>
            <a:r>
              <a:rPr lang="en-US" i="1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244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CD6C93-5359-F108-EC0B-86C3F991DB1D}"/>
              </a:ext>
            </a:extLst>
          </p:cNvPr>
          <p:cNvSpPr txBox="1"/>
          <p:nvPr/>
        </p:nvSpPr>
        <p:spPr>
          <a:xfrm>
            <a:off x="7107113" y="289679"/>
            <a:ext cx="451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Return by Reference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CA434-4D8F-3BA6-8DF3-92FFFA1EAC40}"/>
              </a:ext>
            </a:extLst>
          </p:cNvPr>
          <p:cNvSpPr txBox="1"/>
          <p:nvPr/>
        </p:nvSpPr>
        <p:spPr>
          <a:xfrm>
            <a:off x="7332633" y="4456144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267FE-85B7-6BEC-154D-B4CED7C5F262}"/>
              </a:ext>
            </a:extLst>
          </p:cNvPr>
          <p:cNvSpPr txBox="1"/>
          <p:nvPr/>
        </p:nvSpPr>
        <p:spPr>
          <a:xfrm>
            <a:off x="7438532" y="403295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75B40B-1DB5-8537-9CAD-5F20C8CD723F}"/>
              </a:ext>
            </a:extLst>
          </p:cNvPr>
          <p:cNvSpPr txBox="1"/>
          <p:nvPr/>
        </p:nvSpPr>
        <p:spPr>
          <a:xfrm>
            <a:off x="7179525" y="489034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8C7B20-28F2-6F95-1E01-8E40564585F1}"/>
              </a:ext>
            </a:extLst>
          </p:cNvPr>
          <p:cNvSpPr txBox="1"/>
          <p:nvPr/>
        </p:nvSpPr>
        <p:spPr>
          <a:xfrm>
            <a:off x="10029232" y="4456144"/>
            <a:ext cx="103716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C2F706-F907-03F3-4314-7E922FE30DC8}"/>
              </a:ext>
            </a:extLst>
          </p:cNvPr>
          <p:cNvSpPr txBox="1"/>
          <p:nvPr/>
        </p:nvSpPr>
        <p:spPr>
          <a:xfrm>
            <a:off x="10135131" y="4032952"/>
            <a:ext cx="8253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0F447-BCFD-98C7-77F9-69D672B53A8D}"/>
              </a:ext>
            </a:extLst>
          </p:cNvPr>
          <p:cNvSpPr txBox="1"/>
          <p:nvPr/>
        </p:nvSpPr>
        <p:spPr>
          <a:xfrm>
            <a:off x="9876124" y="4890348"/>
            <a:ext cx="134337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0x20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7B8EC6-38D2-59BF-C0AA-8DCAE9D86287}"/>
              </a:ext>
            </a:extLst>
          </p:cNvPr>
          <p:cNvSpPr txBox="1"/>
          <p:nvPr/>
        </p:nvSpPr>
        <p:spPr>
          <a:xfrm>
            <a:off x="325439" y="3565258"/>
            <a:ext cx="65205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24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2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2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2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2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2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10B3BA-A0E6-78FF-52C6-8F0DB33DA22B}"/>
              </a:ext>
            </a:extLst>
          </p:cNvPr>
          <p:cNvSpPr/>
          <p:nvPr/>
        </p:nvSpPr>
        <p:spPr>
          <a:xfrm>
            <a:off x="2729732" y="3411091"/>
            <a:ext cx="3823467" cy="78867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7D9D00-AE7B-D4EA-FB26-E63BDB289370}"/>
              </a:ext>
            </a:extLst>
          </p:cNvPr>
          <p:cNvSpPr txBox="1"/>
          <p:nvPr/>
        </p:nvSpPr>
        <p:spPr>
          <a:xfrm>
            <a:off x="205740" y="257021"/>
            <a:ext cx="47852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2"/>
                </a:solidFill>
              </a:rPr>
              <a:t>What gets returned here is the variable </a:t>
            </a:r>
            <a:r>
              <a:rPr lang="en-US" sz="2400" b="1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  <a:r>
              <a:rPr lang="en-US" sz="2400" i="1" dirty="0">
                <a:solidFill>
                  <a:schemeClr val="accent2"/>
                </a:solidFill>
              </a:rPr>
              <a:t> itself.</a:t>
            </a:r>
          </a:p>
          <a:p>
            <a:r>
              <a:rPr lang="en-US" sz="2400" i="1" dirty="0">
                <a:solidFill>
                  <a:schemeClr val="accent2"/>
                </a:solidFill>
              </a:rPr>
              <a:t>This is identical to the following.</a:t>
            </a:r>
          </a:p>
          <a:p>
            <a:endParaRPr lang="en-US" sz="2400" i="1" dirty="0">
              <a:solidFill>
                <a:schemeClr val="accent2"/>
              </a:solidFill>
            </a:endParaRPr>
          </a:p>
          <a:p>
            <a:pPr algn="ctr"/>
            <a:r>
              <a:rPr lang="en-US" sz="2400" b="1" dirty="0">
                <a:solidFill>
                  <a:srgbClr val="7A3E9D"/>
                </a:solidFill>
                <a:latin typeface="Cascadia Mono" panose="020B0609020000020004" pitchFamily="49" charset="0"/>
              </a:rPr>
              <a:t>std</a:t>
            </a:r>
            <a:r>
              <a:rPr lang="en-US" sz="2400" dirty="0">
                <a:solidFill>
                  <a:srgbClr val="777777"/>
                </a:solidFill>
                <a:latin typeface="Cascadia Mono" panose="020B0609020000020004" pitchFamily="49" charset="0"/>
              </a:rPr>
              <a:t>::</a:t>
            </a:r>
            <a:r>
              <a:rPr lang="en-US" sz="24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cout</a:t>
            </a:r>
            <a:r>
              <a:rPr lang="en-US" sz="24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2400" b="1" dirty="0">
                <a:solidFill>
                  <a:srgbClr val="AA3731"/>
                </a:solidFill>
                <a:latin typeface="Cascadia Mono" panose="020B0609020000020004" pitchFamily="49" charset="0"/>
              </a:rPr>
              <a:t>&lt;&lt;</a:t>
            </a:r>
            <a:r>
              <a:rPr lang="en-US" sz="24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A3E9D"/>
                </a:solidFill>
                <a:latin typeface="Cascadia Mono" panose="020B0609020000020004" pitchFamily="49" charset="0"/>
              </a:rPr>
              <a:t>x1</a:t>
            </a:r>
            <a:r>
              <a:rPr lang="en-US" sz="24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endParaRPr lang="en-US" sz="2400" dirty="0">
              <a:solidFill>
                <a:srgbClr val="333333"/>
              </a:solidFill>
              <a:latin typeface="Cascadia Mono" panose="020B0609020000020004" pitchFamily="49" charset="0"/>
            </a:endParaRP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CE2B89F0-9DC0-2A4D-BC60-E19FF063BD23}"/>
              </a:ext>
            </a:extLst>
          </p:cNvPr>
          <p:cNvCxnSpPr>
            <a:cxnSpLocks/>
            <a:stCxn id="20" idx="0"/>
            <a:endCxn id="26" idx="2"/>
          </p:cNvCxnSpPr>
          <p:nvPr/>
        </p:nvCxnSpPr>
        <p:spPr>
          <a:xfrm rot="16200000" flipV="1">
            <a:off x="3537366" y="2306991"/>
            <a:ext cx="1215078" cy="993122"/>
          </a:xfrm>
          <a:prstGeom prst="curved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072860AD-23FE-AE56-F5C4-037EE2EBBAFC}"/>
              </a:ext>
            </a:extLst>
          </p:cNvPr>
          <p:cNvSpPr/>
          <p:nvPr/>
        </p:nvSpPr>
        <p:spPr>
          <a:xfrm>
            <a:off x="3421373" y="1686192"/>
            <a:ext cx="453942" cy="509821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97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D4A1842-3C92-DE2D-F724-BBA474271D3D}"/>
              </a:ext>
            </a:extLst>
          </p:cNvPr>
          <p:cNvSpPr txBox="1"/>
          <p:nvPr/>
        </p:nvSpPr>
        <p:spPr>
          <a:xfrm>
            <a:off x="6466115" y="690533"/>
            <a:ext cx="490945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Don’t return references to local variables.</a:t>
            </a:r>
          </a:p>
          <a:p>
            <a:endParaRPr lang="en-US" i="1" dirty="0"/>
          </a:p>
          <a:p>
            <a:r>
              <a:rPr lang="en-US" i="1" dirty="0"/>
              <a:t>References have to be bound to valid entities. </a:t>
            </a:r>
          </a:p>
          <a:p>
            <a:endParaRPr lang="en-US" i="1" dirty="0"/>
          </a:p>
          <a:p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y1</a:t>
            </a:r>
            <a:r>
              <a:rPr lang="en-US" i="1" dirty="0"/>
              <a:t> and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y2</a:t>
            </a:r>
            <a:r>
              <a:rPr lang="en-US" i="1" dirty="0"/>
              <a:t> go out of scope when the function ends. </a:t>
            </a:r>
            <a:r>
              <a:rPr lang="en-US" b="1" i="1" dirty="0"/>
              <a:t>DANGLING REFERENCES!</a:t>
            </a:r>
          </a:p>
          <a:p>
            <a:endParaRPr lang="en-US" i="1" dirty="0"/>
          </a:p>
          <a:p>
            <a:r>
              <a:rPr lang="en-US" i="1" dirty="0"/>
              <a:t>Similar to how you have to be careful with this when returning by address.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288814-CD07-C15C-9920-87866A568834}"/>
              </a:ext>
            </a:extLst>
          </p:cNvPr>
          <p:cNvSpPr txBox="1"/>
          <p:nvPr/>
        </p:nvSpPr>
        <p:spPr>
          <a:xfrm>
            <a:off x="424544" y="797510"/>
            <a:ext cx="6096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if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else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17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2000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E227464-9001-A617-0DAA-8096DB5732EF}"/>
              </a:ext>
            </a:extLst>
          </p:cNvPr>
          <p:cNvSpPr/>
          <p:nvPr/>
        </p:nvSpPr>
        <p:spPr>
          <a:xfrm rot="5400000">
            <a:off x="2910355" y="352130"/>
            <a:ext cx="458459" cy="3057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CA3531C-FC26-99FA-CD1B-05F6CBD59C57}"/>
              </a:ext>
            </a:extLst>
          </p:cNvPr>
          <p:cNvSpPr/>
          <p:nvPr/>
        </p:nvSpPr>
        <p:spPr>
          <a:xfrm rot="5400000">
            <a:off x="3922645" y="352131"/>
            <a:ext cx="458459" cy="3057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54303350-7736-65E5-4505-DE66404AFCF7}"/>
              </a:ext>
            </a:extLst>
          </p:cNvPr>
          <p:cNvSpPr/>
          <p:nvPr/>
        </p:nvSpPr>
        <p:spPr>
          <a:xfrm rot="3729296">
            <a:off x="311951" y="464774"/>
            <a:ext cx="458459" cy="3057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0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D4A1842-3C92-DE2D-F724-BBA474271D3D}"/>
              </a:ext>
            </a:extLst>
          </p:cNvPr>
          <p:cNvSpPr txBox="1"/>
          <p:nvPr/>
        </p:nvSpPr>
        <p:spPr>
          <a:xfrm>
            <a:off x="5815101" y="706151"/>
            <a:ext cx="62157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Note that the function call is on the LHS of the assignment operator.</a:t>
            </a:r>
          </a:p>
          <a:p>
            <a:endParaRPr lang="en-US" b="1" i="1" u="sng" dirty="0"/>
          </a:p>
          <a:p>
            <a:r>
              <a:rPr lang="en-US" i="1" dirty="0"/>
              <a:t>Because a reference to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  <a:r>
              <a:rPr lang="en-US" i="1" dirty="0"/>
              <a:t> is being returned, we can actually update the value of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x1</a:t>
            </a:r>
            <a:r>
              <a:rPr lang="en-US" i="1" dirty="0"/>
              <a:t> through something like this.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0BFA79-229F-79EB-C886-8DBA90C1102D}"/>
              </a:ext>
            </a:extLst>
          </p:cNvPr>
          <p:cNvSpPr txBox="1"/>
          <p:nvPr/>
        </p:nvSpPr>
        <p:spPr>
          <a:xfrm>
            <a:off x="359228" y="181957"/>
            <a:ext cx="52578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#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include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if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else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17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2000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smallestInTwo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1000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What will be the output?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x1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x2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'\n';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70C8B4B-5A20-5CDC-9EBE-10366E9C0747}"/>
              </a:ext>
            </a:extLst>
          </p:cNvPr>
          <p:cNvSpPr/>
          <p:nvPr/>
        </p:nvSpPr>
        <p:spPr>
          <a:xfrm>
            <a:off x="359228" y="4832313"/>
            <a:ext cx="458459" cy="3057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048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100E65-5E87-2B27-3264-7EB452CCB875}"/>
              </a:ext>
            </a:extLst>
          </p:cNvPr>
          <p:cNvSpPr txBox="1"/>
          <p:nvPr/>
        </p:nvSpPr>
        <p:spPr>
          <a:xfrm>
            <a:off x="195942" y="2136768"/>
            <a:ext cx="6357258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num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den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num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den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My </a:t>
            </a:r>
            <a:r>
              <a:rPr lang="en-US" sz="1600" b="0" dirty="0" err="1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ctor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 called.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My copy </a:t>
            </a:r>
            <a:r>
              <a:rPr lang="en-US" sz="1600" b="0" dirty="0" err="1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ctor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 called.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EF0F3F-5DC4-EA39-F03D-A453D1AE9C5F}"/>
              </a:ext>
            </a:extLst>
          </p:cNvPr>
          <p:cNvSpPr txBox="1"/>
          <p:nvPr/>
        </p:nvSpPr>
        <p:spPr>
          <a:xfrm>
            <a:off x="6977744" y="2136768"/>
            <a:ext cx="501831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// Not part of class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foo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Inside foo()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63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Calling foo()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 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foo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Back to main()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4A1842-3C92-DE2D-F724-BBA474271D3D}"/>
              </a:ext>
            </a:extLst>
          </p:cNvPr>
          <p:cNvSpPr txBox="1"/>
          <p:nvPr/>
        </p:nvSpPr>
        <p:spPr>
          <a:xfrm>
            <a:off x="2988129" y="222447"/>
            <a:ext cx="56986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Self study</a:t>
            </a:r>
          </a:p>
          <a:p>
            <a:r>
              <a:rPr lang="en-US" i="1" dirty="0"/>
              <a:t>The concept of return by reference applies on objects as well.</a:t>
            </a:r>
          </a:p>
          <a:p>
            <a:r>
              <a:rPr lang="en-US" i="1" dirty="0"/>
              <a:t>See how many times the copy constructor gets called.</a:t>
            </a:r>
          </a:p>
        </p:txBody>
      </p:sp>
    </p:spTree>
    <p:extLst>
      <p:ext uri="{BB962C8B-B14F-4D97-AF65-F5344CB8AC3E}">
        <p14:creationId xmlns:p14="http://schemas.microsoft.com/office/powerpoint/2010/main" val="2141261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39C07-5166-96A7-E128-25F4C083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Styles of Returning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DA36B-DD7C-268E-8B82-E9B370C0C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saw </a:t>
            </a:r>
            <a:r>
              <a:rPr lang="en-US" b="1" i="1" dirty="0"/>
              <a:t>Return by Value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We saw </a:t>
            </a:r>
            <a:r>
              <a:rPr lang="en-US" b="1" i="1" dirty="0"/>
              <a:t>Return by Address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You can also </a:t>
            </a:r>
            <a:r>
              <a:rPr lang="en-US" b="1" i="1" dirty="0"/>
              <a:t>Return by Reference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Key takeaway is that like in return by address, the returned reference should be bound to a </a:t>
            </a:r>
            <a:r>
              <a:rPr lang="en-US" b="1" dirty="0"/>
              <a:t>valid entity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That entity should persist after the function ends.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Otherwise </a:t>
            </a:r>
            <a:r>
              <a:rPr lang="en-US" b="1" dirty="0"/>
              <a:t>dangling references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That is why returning references to local variables doesn’t make sense because those variables will go out of scope. </a:t>
            </a:r>
          </a:p>
        </p:txBody>
      </p:sp>
    </p:spTree>
    <p:extLst>
      <p:ext uri="{BB962C8B-B14F-4D97-AF65-F5344CB8AC3E}">
        <p14:creationId xmlns:p14="http://schemas.microsoft.com/office/powerpoint/2010/main" val="7371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3320</Words>
  <Application>Microsoft Office PowerPoint</Application>
  <PresentationFormat>Widescreen</PresentationFormat>
  <Paragraphs>652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Cascadia Code</vt:lpstr>
      <vt:lpstr>Cascadia Mono</vt:lpstr>
      <vt:lpstr>Open Sans</vt:lpstr>
      <vt:lpstr>Office Theme</vt:lpstr>
      <vt:lpstr>Object-Oriented Programming</vt:lpstr>
      <vt:lpstr>Returning Data from Functions</vt:lpstr>
      <vt:lpstr>PowerPoint Presentation</vt:lpstr>
      <vt:lpstr>PowerPoint Presentation</vt:lpstr>
      <vt:lpstr>PowerPoint Presentation</vt:lpstr>
      <vt:lpstr>Different Styles of Returning Data</vt:lpstr>
      <vt:lpstr>PowerPoint Presentation</vt:lpstr>
      <vt:lpstr>PowerPoint Presentation</vt:lpstr>
      <vt:lpstr>PowerPoint Presentation</vt:lpstr>
      <vt:lpstr>PowerPoint Presentation</vt:lpstr>
      <vt:lpstr>Different Styles of Returning Data</vt:lpstr>
      <vt:lpstr>Return by Address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Different Styles of Returning Data</vt:lpstr>
      <vt:lpstr>Return by Reference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Different Styles of Returning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Mohammad Salman</dc:creator>
  <cp:lastModifiedBy>Mohammad Salman</cp:lastModifiedBy>
  <cp:revision>55</cp:revision>
  <dcterms:created xsi:type="dcterms:W3CDTF">2023-10-08T14:17:41Z</dcterms:created>
  <dcterms:modified xsi:type="dcterms:W3CDTF">2023-10-09T13:43:46Z</dcterms:modified>
</cp:coreProperties>
</file>