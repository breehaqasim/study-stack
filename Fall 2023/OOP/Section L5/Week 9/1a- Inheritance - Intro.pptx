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94" r:id="rId5"/>
    <p:sldId id="260" r:id="rId6"/>
    <p:sldId id="261" r:id="rId7"/>
    <p:sldId id="287" r:id="rId8"/>
    <p:sldId id="288" r:id="rId9"/>
    <p:sldId id="289" r:id="rId10"/>
    <p:sldId id="295" r:id="rId11"/>
    <p:sldId id="290" r:id="rId12"/>
    <p:sldId id="262" r:id="rId13"/>
    <p:sldId id="291" r:id="rId14"/>
    <p:sldId id="292" r:id="rId15"/>
    <p:sldId id="293" r:id="rId16"/>
    <p:sldId id="297" r:id="rId17"/>
    <p:sldId id="298" r:id="rId18"/>
    <p:sldId id="30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12" autoAdjust="0"/>
  </p:normalViewPr>
  <p:slideViewPr>
    <p:cSldViewPr snapToGrid="0">
      <p:cViewPr varScale="1">
        <p:scale>
          <a:sx n="71" d="100"/>
          <a:sy n="71" d="100"/>
        </p:scale>
        <p:origin x="38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47638079-F539-40F2-B741-EB80C1BE7111}"/>
    <pc:docChg chg="addSld delSld modSld modMainMaster">
      <pc:chgData name="Mohammad Salman" userId="cfd6754c-e613-4f6f-bb98-36aef69d8c31" providerId="ADAL" clId="{47638079-F539-40F2-B741-EB80C1BE7111}" dt="2023-10-23T15:12:32.025" v="7"/>
      <pc:docMkLst>
        <pc:docMk/>
      </pc:docMkLst>
      <pc:sldChg chg="new del">
        <pc:chgData name="Mohammad Salman" userId="cfd6754c-e613-4f6f-bb98-36aef69d8c31" providerId="ADAL" clId="{47638079-F539-40F2-B741-EB80C1BE7111}" dt="2023-10-17T07:20:25.859" v="3" actId="47"/>
        <pc:sldMkLst>
          <pc:docMk/>
          <pc:sldMk cId="1157792642" sldId="256"/>
        </pc:sldMkLst>
      </pc:sldChg>
      <pc:sldChg chg="add setBg">
        <pc:chgData name="Mohammad Salman" userId="cfd6754c-e613-4f6f-bb98-36aef69d8c31" providerId="ADAL" clId="{47638079-F539-40F2-B741-EB80C1BE7111}" dt="2023-10-17T07:20:31.921" v="4"/>
        <pc:sldMkLst>
          <pc:docMk/>
          <pc:sldMk cId="485089036" sldId="257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1713108058" sldId="258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2249829664" sldId="259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3612619778" sldId="260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2268352895" sldId="261"/>
        </pc:sldMkLst>
      </pc:sldChg>
      <pc:sldChg chg="add setBg">
        <pc:chgData name="Mohammad Salman" userId="cfd6754c-e613-4f6f-bb98-36aef69d8c31" providerId="ADAL" clId="{47638079-F539-40F2-B741-EB80C1BE7111}" dt="2023-10-23T15:12:32.025" v="7"/>
        <pc:sldMkLst>
          <pc:docMk/>
          <pc:sldMk cId="203826496" sldId="262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2560182135" sldId="287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1761950806" sldId="288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1644471285" sldId="289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1762163138" sldId="290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3448299456" sldId="291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2154514713" sldId="292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1791953234" sldId="293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1929577430" sldId="294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3671865961" sldId="295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2772613534" sldId="297"/>
        </pc:sldMkLst>
      </pc:sldChg>
      <pc:sldChg chg="add">
        <pc:chgData name="Mohammad Salman" userId="cfd6754c-e613-4f6f-bb98-36aef69d8c31" providerId="ADAL" clId="{47638079-F539-40F2-B741-EB80C1BE7111}" dt="2023-10-17T07:20:22.925" v="2"/>
        <pc:sldMkLst>
          <pc:docMk/>
          <pc:sldMk cId="942199952" sldId="298"/>
        </pc:sldMkLst>
      </pc:sldChg>
      <pc:sldChg chg="add setBg">
        <pc:chgData name="Mohammad Salman" userId="cfd6754c-e613-4f6f-bb98-36aef69d8c31" providerId="ADAL" clId="{47638079-F539-40F2-B741-EB80C1BE7111}" dt="2023-10-17T07:21:02.004" v="6"/>
        <pc:sldMkLst>
          <pc:docMk/>
          <pc:sldMk cId="3135531429" sldId="301"/>
        </pc:sldMkLst>
      </pc:sldChg>
      <pc:sldMasterChg chg="modSldLayout">
        <pc:chgData name="Mohammad Salman" userId="cfd6754c-e613-4f6f-bb98-36aef69d8c31" providerId="ADAL" clId="{47638079-F539-40F2-B741-EB80C1BE7111}" dt="2023-10-17T07:19:50.247" v="1" actId="114"/>
        <pc:sldMasterMkLst>
          <pc:docMk/>
          <pc:sldMasterMk cId="1678659896" sldId="2147483648"/>
        </pc:sldMasterMkLst>
        <pc:sldLayoutChg chg="modSp">
          <pc:chgData name="Mohammad Salman" userId="cfd6754c-e613-4f6f-bb98-36aef69d8c31" providerId="ADAL" clId="{47638079-F539-40F2-B741-EB80C1BE7111}" dt="2023-10-17T07:19:50.247" v="1" actId="114"/>
          <pc:sldLayoutMkLst>
            <pc:docMk/>
            <pc:sldMasterMk cId="1678659896" sldId="2147483648"/>
            <pc:sldLayoutMk cId="634055020" sldId="2147483649"/>
          </pc:sldLayoutMkLst>
          <pc:spChg chg="mod">
            <ac:chgData name="Mohammad Salman" userId="cfd6754c-e613-4f6f-bb98-36aef69d8c31" providerId="ADAL" clId="{47638079-F539-40F2-B741-EB80C1BE7111}" dt="2023-10-17T07:19:50.247" v="1" actId="114"/>
            <ac:spMkLst>
              <pc:docMk/>
              <pc:sldMasterMk cId="1678659896" sldId="2147483648"/>
              <pc:sldLayoutMk cId="634055020" sldId="2147483649"/>
              <ac:spMk id="3" creationId="{22F7D071-9086-17DB-9F1F-32558DE3B3B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A470B-00FA-4A05-91B7-8930F4BC9B1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E854A-E033-41C0-BF0C-C621D4D47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52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23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55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53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15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03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this coupling also get created when you use composition instead of inheritance?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8433A-0F4B-4449-AF00-9BDF8AB1EC8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45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58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46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62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2CC8-DF28-1490-CE35-B87F046CA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7D071-9086-17DB-9F1F-32558DE3B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5CFEF-21DB-EAFA-B31F-C4E2DEB68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E40A-BD14-0763-995A-8FC7DC77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ABD7D-8DEF-1EAB-E393-FE681A7D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5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C6B95-AB6D-D176-124B-B9A3A56FA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3274F-F0FB-444A-1BB7-0A2522424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D5B17-0468-9A7C-33F1-C084034F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48BE4-835E-0925-57F5-1ED514821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EB157-310D-43A0-FCF2-168C10838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6183-CB1C-4FE6-1638-AC37A4363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95B8C-C70C-B51B-BA33-1282D0F80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4BB6F-7F5D-AB30-5994-18BC8DCF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FD6BB-2E1B-11DB-BC46-5AECF6EF4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6D515-14F9-99A0-7B4D-61746F61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2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245D-3E17-D16F-F487-0DEE021B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E36DB-CF1F-3109-A89C-EA4B8ECA00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DC718-29FD-B385-655D-BE2FA3916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DCF88-8048-156B-5155-6FC869AD1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569B9-6837-91D2-494F-8208B395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3DC8B-5095-21ED-28DE-F6812F05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75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5BEA-1086-5BCB-A520-D52CD16D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46175-3C8F-9319-E233-5B88DC1D3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DCEBA-40D5-1D4D-1877-39E7C41D3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6E7D7-6D3C-E0DA-34F8-1734BCB67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136A2-871D-E680-6225-D0F085E83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64B9BC-7D97-3D05-3291-A875DC87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72F62B-2A3F-B5F8-9533-CD3AEE2FC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3C367-03D5-A12B-ECEA-ED076A71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2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E01F-E39D-3143-614F-247C1A3A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145F3-F885-E8E7-A152-FBA1C25A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B9A33-2226-FA53-480F-C275D1F0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E9568-6B17-C03B-7E88-F56C1952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0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C849E-3337-A941-D387-99D64A492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8C025A-D8C5-114C-248C-2AF4F44D0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DD8F0-17F2-8D7B-FB95-20DA747C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3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3662-F047-C70C-1BD7-DF250C54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75DCC-54EC-B249-4BF6-23CA4C562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A8BDD-AD39-AAE6-0C22-C561F02E6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8AFA5-1850-00D3-1D01-4C1649A5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06A7F-C3DD-9A51-B479-BA8BAD0EE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A322D-DF1C-D822-69A9-1CC1927D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5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F2BC-6277-A507-47E1-D5ABA2D09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57D51-2EB9-5FE3-18B1-A720371F0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9245D-F619-2996-5A72-C8680B0DB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28902-E23B-E74C-D4D2-481E0E1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EB3A0-6EC7-6116-0AB5-1F1E52BFD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B6E74-9645-4AE4-C3FB-BAEBAFF3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7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CDEB-F4BC-4C12-7368-CDDC69BC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53B92-2B6C-0131-A8EA-DD9684839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2A75-AEB8-D596-76DD-E2A7570D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87879-ACCE-7D60-3CB9-1AC5C4FF9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080A5-4F2E-8FCD-1E17-1FCB99EC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42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19B36-C59C-376F-BC3A-1C3790B69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85B84-7C17-FA5C-B790-40B8A745B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F0FFA-14E1-AF4C-B1F9-3CE5810C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8064C-8DDF-501A-F6B4-D6D6DB77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EB92-A287-FAEA-6B95-DA8019DE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1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5B4E9-9764-3075-A99D-46433182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30A46-8845-7EEB-4D76-1D439E6E3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58-1E0F-2072-9EDF-49DB2BE33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F6198-53A7-40CD-95B0-6FEBCA997A4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72651-C62B-1466-6BC9-ABE3B0A69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EF2EA-7213-D4F0-C016-B546C68B4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AD83E-A9EB-46D3-A036-FD84E6C62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5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introduction-to-inheritanc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31E7-991B-20E4-6591-E05CAD9B33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D6F60-FB13-C2B7-5CE4-5D3F8704B4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Mohammad Salman</a:t>
            </a:r>
          </a:p>
          <a:p>
            <a:r>
              <a:rPr lang="en-US" dirty="0"/>
              <a:t>Dean’s Fellow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D6C2C-FCEF-A3FE-CBFE-943F864C8287}"/>
              </a:ext>
            </a:extLst>
          </p:cNvPr>
          <p:cNvSpPr txBox="1"/>
          <p:nvPr/>
        </p:nvSpPr>
        <p:spPr>
          <a:xfrm>
            <a:off x="2498912" y="6142180"/>
            <a:ext cx="719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https://www.learncpp.com/cpp-tutorial/introduction-to-inheritance/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ACDC-F4D7-3BEA-BF20-A0027784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4F7E8-A245-9092-90E0-E91B034FE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These are your four main principles/pillars of object-oriented programming.</a:t>
            </a:r>
          </a:p>
          <a:p>
            <a:pPr lvl="1"/>
            <a:r>
              <a:rPr lang="en-US" dirty="0"/>
              <a:t>Encapsulation</a:t>
            </a:r>
          </a:p>
          <a:p>
            <a:pPr lvl="1"/>
            <a:r>
              <a:rPr lang="en-US" dirty="0"/>
              <a:t>Abstraction</a:t>
            </a:r>
          </a:p>
          <a:p>
            <a:pPr lvl="1"/>
            <a:r>
              <a:rPr lang="en-US" dirty="0"/>
              <a:t>Inheritance</a:t>
            </a:r>
          </a:p>
          <a:p>
            <a:pPr lvl="1"/>
            <a:r>
              <a:rPr lang="en-US" dirty="0"/>
              <a:t>Polymorphism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We will now see the third one, which is Inheritance.</a:t>
            </a:r>
          </a:p>
          <a:p>
            <a:endParaRPr lang="en-US" dirty="0"/>
          </a:p>
          <a:p>
            <a:r>
              <a:rPr lang="en-US" dirty="0"/>
              <a:t>Later on, we’ll talk about (runtime) polymorphism.</a:t>
            </a:r>
          </a:p>
        </p:txBody>
      </p:sp>
    </p:spTree>
    <p:extLst>
      <p:ext uri="{BB962C8B-B14F-4D97-AF65-F5344CB8AC3E}">
        <p14:creationId xmlns:p14="http://schemas.microsoft.com/office/powerpoint/2010/main" val="1713108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55B50-C083-E0F0-EEC1-77C9E3BA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F405D-8BB0-6023-56ED-63661E9CC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 far we have talked about the mechanics of OOP. </a:t>
            </a:r>
          </a:p>
          <a:p>
            <a:pPr lvl="1"/>
            <a:r>
              <a:rPr lang="en-US" dirty="0"/>
              <a:t>How objects are created?</a:t>
            </a:r>
          </a:p>
          <a:p>
            <a:pPr lvl="1"/>
            <a:r>
              <a:rPr lang="en-US" dirty="0"/>
              <a:t>How methods are called?</a:t>
            </a:r>
          </a:p>
          <a:p>
            <a:pPr lvl="1"/>
            <a:r>
              <a:rPr lang="en-US" dirty="0"/>
              <a:t>How memory is managed in the context of OOP?</a:t>
            </a:r>
          </a:p>
          <a:p>
            <a:pPr lvl="1"/>
            <a:r>
              <a:rPr lang="en-US" dirty="0"/>
              <a:t>Essentially, we’ve focused on the </a:t>
            </a:r>
            <a:r>
              <a:rPr lang="en-US" b="1" dirty="0"/>
              <a:t>“how”</a:t>
            </a:r>
            <a:r>
              <a:rPr lang="en-US" dirty="0"/>
              <a:t> of things?</a:t>
            </a:r>
          </a:p>
          <a:p>
            <a:pPr lvl="1"/>
            <a:endParaRPr lang="en-US" dirty="0"/>
          </a:p>
          <a:p>
            <a:r>
              <a:rPr lang="en-US" dirty="0"/>
              <a:t>We’ll now shift out attention back to the design process of an OO software/application.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82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55B50-C083-E0F0-EEC1-77C9E3BA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F405D-8BB0-6023-56ED-63661E9CC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It is here where you can actually exercise your “creative muscles” so to speak.</a:t>
            </a:r>
          </a:p>
          <a:p>
            <a:pPr lvl="1"/>
            <a:r>
              <a:rPr lang="en-US" dirty="0"/>
              <a:t>What classes need to be defined?</a:t>
            </a:r>
          </a:p>
          <a:p>
            <a:pPr lvl="1"/>
            <a:r>
              <a:rPr lang="en-US" dirty="0"/>
              <a:t>How will those classes interact with one another?</a:t>
            </a:r>
          </a:p>
          <a:p>
            <a:pPr lvl="2"/>
            <a:r>
              <a:rPr lang="en-US" dirty="0"/>
              <a:t>Usually, they do interact.</a:t>
            </a:r>
          </a:p>
          <a:p>
            <a:pPr lvl="1"/>
            <a:r>
              <a:rPr lang="en-US" dirty="0"/>
              <a:t>Your understanding of the problem you’re trying to </a:t>
            </a:r>
            <a:r>
              <a:rPr lang="en-US" b="1" dirty="0"/>
              <a:t>simulate </a:t>
            </a:r>
            <a:r>
              <a:rPr lang="en-US" dirty="0"/>
              <a:t>is crucial.</a:t>
            </a:r>
          </a:p>
          <a:p>
            <a:pPr lvl="1"/>
            <a:endParaRPr lang="en-US" dirty="0"/>
          </a:p>
          <a:p>
            <a:r>
              <a:rPr lang="en-US" dirty="0"/>
              <a:t>Classes are self-contained programs in their own right. </a:t>
            </a:r>
          </a:p>
          <a:p>
            <a:endParaRPr lang="en-US" dirty="0"/>
          </a:p>
          <a:p>
            <a:r>
              <a:rPr lang="en-US" dirty="0"/>
              <a:t>But in the context of an entire software, objects of various classes will </a:t>
            </a:r>
            <a:r>
              <a:rPr lang="en-US" b="1" dirty="0"/>
              <a:t>interact with each other </a:t>
            </a:r>
            <a:r>
              <a:rPr lang="en-US" dirty="0"/>
              <a:t>in order to make the application work.</a:t>
            </a:r>
          </a:p>
        </p:txBody>
      </p:sp>
    </p:spTree>
    <p:extLst>
      <p:ext uri="{BB962C8B-B14F-4D97-AF65-F5344CB8AC3E}">
        <p14:creationId xmlns:p14="http://schemas.microsoft.com/office/powerpoint/2010/main" val="1929577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D38A-D32C-8A22-75D8-9B681CB4A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33" y="366766"/>
            <a:ext cx="10515600" cy="2734091"/>
          </a:xfrm>
        </p:spPr>
        <p:txBody>
          <a:bodyPr>
            <a:normAutofit/>
          </a:bodyPr>
          <a:lstStyle/>
          <a:p>
            <a:r>
              <a:rPr lang="en-US" dirty="0"/>
              <a:t>For example, recall our robots in a warehouse example. </a:t>
            </a:r>
          </a:p>
          <a:p>
            <a:pPr lvl="1"/>
            <a:r>
              <a:rPr lang="en-US" dirty="0"/>
              <a:t>Our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Robot</a:t>
            </a:r>
            <a:r>
              <a:rPr lang="en-US" dirty="0"/>
              <a:t> was basically a </a:t>
            </a:r>
            <a:r>
              <a:rPr lang="en-US" b="1" dirty="0"/>
              <a:t>composition </a:t>
            </a:r>
            <a:r>
              <a:rPr lang="en-US" dirty="0"/>
              <a:t>of objects of other classes (along with some other built-in data types). </a:t>
            </a:r>
          </a:p>
          <a:p>
            <a:pPr lvl="1"/>
            <a:r>
              <a:rPr lang="en-US" dirty="0"/>
              <a:t>Composition is a </a:t>
            </a:r>
            <a:r>
              <a:rPr lang="en-US" b="1" dirty="0"/>
              <a:t>“has-a”</a:t>
            </a:r>
            <a:r>
              <a:rPr lang="en-US" dirty="0"/>
              <a:t> relationship.</a:t>
            </a:r>
          </a:p>
          <a:p>
            <a:pPr lvl="1"/>
            <a:r>
              <a:rPr lang="en-US" dirty="0"/>
              <a:t>A robot </a:t>
            </a:r>
            <a:r>
              <a:rPr lang="en-US" b="1" dirty="0"/>
              <a:t>has-a</a:t>
            </a:r>
            <a:r>
              <a:rPr lang="en-US" dirty="0"/>
              <a:t> position, </a:t>
            </a:r>
            <a:r>
              <a:rPr lang="en-US" b="1" dirty="0"/>
              <a:t>has-a</a:t>
            </a:r>
            <a:r>
              <a:rPr lang="en-US" dirty="0"/>
              <a:t> color, etc.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7C04BD-C092-8CA6-CE31-32D9BA47577C}"/>
              </a:ext>
            </a:extLst>
          </p:cNvPr>
          <p:cNvGrpSpPr/>
          <p:nvPr/>
        </p:nvGrpSpPr>
        <p:grpSpPr>
          <a:xfrm>
            <a:off x="4324574" y="2786230"/>
            <a:ext cx="7617311" cy="3905025"/>
            <a:chOff x="-5573533" y="751114"/>
            <a:chExt cx="12193071" cy="61068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4E3CCB6-7677-83A2-F02F-ECBBFB2A6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5573533" y="751114"/>
              <a:ext cx="12193071" cy="610688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43ACF17-0CA4-904B-EAE7-16AA6C0B3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3113918" y="5426016"/>
              <a:ext cx="2246293" cy="10668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0B923E4-D4F7-4A07-3E20-B400A80AC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5360211" y="4506471"/>
              <a:ext cx="893456" cy="198634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7D8747E-5B2F-D2F0-3BD8-AFA5BB05A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3918" y="4421155"/>
              <a:ext cx="1806097" cy="128789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A2F212D-A06F-9931-0C32-EFCBE5048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527319" y="4307416"/>
              <a:ext cx="1656729" cy="757685"/>
            </a:xfrm>
            <a:prstGeom prst="rect">
              <a:avLst/>
            </a:prstGeom>
            <a:ln w="25400"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D456ADE-A266-525A-50B9-6D349676A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77139" y="3777209"/>
              <a:ext cx="432951" cy="1287892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9949E32D-8AEE-CF58-16A2-2D843E860A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897" y="3353565"/>
            <a:ext cx="3642676" cy="246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1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1F1DB-9453-0EE5-BA80-91DD552B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take a look at another relationship…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C6780-33CB-F574-33BE-C8DBF8A4C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our robots in a warehouse discussion, let’s say you also have drones in the warehouse. </a:t>
            </a:r>
          </a:p>
          <a:p>
            <a:endParaRPr lang="en-US" dirty="0"/>
          </a:p>
          <a:p>
            <a:r>
              <a:rPr lang="en-US" dirty="0"/>
              <a:t>And outside of supervisors, there will be other employees like the cleaning staff, cooking staff, engineers, etc.</a:t>
            </a:r>
          </a:p>
          <a:p>
            <a:endParaRPr lang="en-US" dirty="0"/>
          </a:p>
          <a:p>
            <a:r>
              <a:rPr lang="en-US" dirty="0"/>
              <a:t>You may also have different types of packaging.</a:t>
            </a:r>
          </a:p>
          <a:p>
            <a:pPr lvl="1"/>
            <a:r>
              <a:rPr lang="en-US" dirty="0"/>
              <a:t>Cartons</a:t>
            </a:r>
          </a:p>
          <a:p>
            <a:pPr lvl="1"/>
            <a:r>
              <a:rPr lang="en-US" dirty="0"/>
              <a:t>Envelope packets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35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Identifying Objects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2688771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So these are all the objects that I should probably model.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FC9F28-E13D-F564-E62C-B93D633378AA}"/>
              </a:ext>
            </a:extLst>
          </p:cNvPr>
          <p:cNvSpPr txBox="1"/>
          <p:nvPr/>
        </p:nvSpPr>
        <p:spPr>
          <a:xfrm>
            <a:off x="3815444" y="4707364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Supervisor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DAE96-AE3F-149B-82B7-97BFA4867796}"/>
              </a:ext>
            </a:extLst>
          </p:cNvPr>
          <p:cNvSpPr txBox="1"/>
          <p:nvPr/>
        </p:nvSpPr>
        <p:spPr>
          <a:xfrm>
            <a:off x="4798770" y="2728157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Orange Robot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8134D-08F3-0412-9442-CF2369B9FD6A}"/>
              </a:ext>
            </a:extLst>
          </p:cNvPr>
          <p:cNvSpPr txBox="1"/>
          <p:nvPr/>
        </p:nvSpPr>
        <p:spPr>
          <a:xfrm>
            <a:off x="8343901" y="3348647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Warehouse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451BE-6EAC-D1CB-9617-21234272785F}"/>
              </a:ext>
            </a:extLst>
          </p:cNvPr>
          <p:cNvSpPr txBox="1"/>
          <p:nvPr/>
        </p:nvSpPr>
        <p:spPr>
          <a:xfrm>
            <a:off x="8724900" y="2173418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Green Robot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945CFD-824A-0D31-28FC-62E126238DD5}"/>
              </a:ext>
            </a:extLst>
          </p:cNvPr>
          <p:cNvSpPr txBox="1"/>
          <p:nvPr/>
        </p:nvSpPr>
        <p:spPr>
          <a:xfrm>
            <a:off x="6846122" y="5314425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Engineer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49B431-2E4F-4DC1-8C71-A23C722B6628}"/>
              </a:ext>
            </a:extLst>
          </p:cNvPr>
          <p:cNvSpPr txBox="1"/>
          <p:nvPr/>
        </p:nvSpPr>
        <p:spPr>
          <a:xfrm>
            <a:off x="6215747" y="4205957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Carton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A3961-2C8C-BFE0-6A89-92166AB797E5}"/>
              </a:ext>
            </a:extLst>
          </p:cNvPr>
          <p:cNvSpPr txBox="1"/>
          <p:nvPr/>
        </p:nvSpPr>
        <p:spPr>
          <a:xfrm>
            <a:off x="5531672" y="1663170"/>
            <a:ext cx="262890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White Drone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AF443-005E-6FBE-DB73-393F77F6B5A1}"/>
              </a:ext>
            </a:extLst>
          </p:cNvPr>
          <p:cNvSpPr txBox="1"/>
          <p:nvPr/>
        </p:nvSpPr>
        <p:spPr>
          <a:xfrm>
            <a:off x="9789079" y="5169029"/>
            <a:ext cx="2001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Envelope Packet</a:t>
            </a:r>
          </a:p>
        </p:txBody>
      </p:sp>
    </p:spTree>
    <p:extLst>
      <p:ext uri="{BB962C8B-B14F-4D97-AF65-F5344CB8AC3E}">
        <p14:creationId xmlns:p14="http://schemas.microsoft.com/office/powerpoint/2010/main" val="256018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9" grpId="0"/>
      <p:bldP spid="10" grpId="0"/>
      <p:bldP spid="11" grpId="0"/>
      <p:bldP spid="13" grpId="0"/>
      <p:bldP spid="14" grpId="0"/>
      <p:bldP spid="18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487615" y="537497"/>
            <a:ext cx="317196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We could then categorize them in classes.</a:t>
            </a:r>
          </a:p>
          <a:p>
            <a:endParaRPr lang="en-US" sz="2000" dirty="0"/>
          </a:p>
          <a:p>
            <a:r>
              <a:rPr lang="en-US" sz="2000" dirty="0"/>
              <a:t>Obviously, there can be more than one instance of each of these classes.</a:t>
            </a:r>
          </a:p>
          <a:p>
            <a:endParaRPr lang="en-US" sz="2000" dirty="0"/>
          </a:p>
          <a:p>
            <a:r>
              <a:rPr lang="en-US" sz="2000" dirty="0"/>
              <a:t>Note that the blue text represents objects.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A3961-2C8C-BFE0-6A89-92166AB797E5}"/>
              </a:ext>
            </a:extLst>
          </p:cNvPr>
          <p:cNvSpPr txBox="1"/>
          <p:nvPr/>
        </p:nvSpPr>
        <p:spPr>
          <a:xfrm>
            <a:off x="4025220" y="4102337"/>
            <a:ext cx="262890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White Drone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2D571-4DAF-E6F6-8EE9-EEE5A909B5FE}"/>
              </a:ext>
            </a:extLst>
          </p:cNvPr>
          <p:cNvSpPr txBox="1"/>
          <p:nvPr/>
        </p:nvSpPr>
        <p:spPr>
          <a:xfrm>
            <a:off x="9100458" y="898330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Supervisor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E7DE3-C69C-579B-98C8-CCA3312D32FF}"/>
              </a:ext>
            </a:extLst>
          </p:cNvPr>
          <p:cNvSpPr txBox="1"/>
          <p:nvPr/>
        </p:nvSpPr>
        <p:spPr>
          <a:xfrm>
            <a:off x="4025220" y="2053373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Orange Robot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66F4ED-D1E9-8ED1-5D99-31E276039A9B}"/>
              </a:ext>
            </a:extLst>
          </p:cNvPr>
          <p:cNvSpPr txBox="1"/>
          <p:nvPr/>
        </p:nvSpPr>
        <p:spPr>
          <a:xfrm>
            <a:off x="3988012" y="3113185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Green Robot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450BF-D8CE-2DF4-E206-621A9BBAADEA}"/>
              </a:ext>
            </a:extLst>
          </p:cNvPr>
          <p:cNvSpPr/>
          <p:nvPr/>
        </p:nvSpPr>
        <p:spPr>
          <a:xfrm>
            <a:off x="4105973" y="1968658"/>
            <a:ext cx="2510939" cy="262165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8CAA9-F259-EAC4-98A6-2AFA432BCE8D}"/>
              </a:ext>
            </a:extLst>
          </p:cNvPr>
          <p:cNvSpPr txBox="1"/>
          <p:nvPr/>
        </p:nvSpPr>
        <p:spPr>
          <a:xfrm>
            <a:off x="4145878" y="1439483"/>
            <a:ext cx="2431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Robot Category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69CA5B-86F2-982C-F5FF-7A6A4583284C}"/>
              </a:ext>
            </a:extLst>
          </p:cNvPr>
          <p:cNvSpPr/>
          <p:nvPr/>
        </p:nvSpPr>
        <p:spPr>
          <a:xfrm>
            <a:off x="9193446" y="905165"/>
            <a:ext cx="2510939" cy="11482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C97257-D178-D342-58B3-D685E7023789}"/>
              </a:ext>
            </a:extLst>
          </p:cNvPr>
          <p:cNvSpPr txBox="1"/>
          <p:nvPr/>
        </p:nvSpPr>
        <p:spPr>
          <a:xfrm>
            <a:off x="8877952" y="410410"/>
            <a:ext cx="314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Employee Category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060D0B-1AD3-4D6C-6875-DB6535279425}"/>
              </a:ext>
            </a:extLst>
          </p:cNvPr>
          <p:cNvSpPr txBox="1"/>
          <p:nvPr/>
        </p:nvSpPr>
        <p:spPr>
          <a:xfrm>
            <a:off x="6873425" y="2904375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Warehouse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9EC132-4BF0-5F21-AC07-B40AC53A78F0}"/>
              </a:ext>
            </a:extLst>
          </p:cNvPr>
          <p:cNvSpPr/>
          <p:nvPr/>
        </p:nvSpPr>
        <p:spPr>
          <a:xfrm>
            <a:off x="6932406" y="2881299"/>
            <a:ext cx="2510939" cy="50781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3014DC-155C-8F5D-4B6E-37C8A9734DBD}"/>
              </a:ext>
            </a:extLst>
          </p:cNvPr>
          <p:cNvSpPr txBox="1"/>
          <p:nvPr/>
        </p:nvSpPr>
        <p:spPr>
          <a:xfrm>
            <a:off x="6616912" y="2386544"/>
            <a:ext cx="314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Building Category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5C0818-44D2-3501-438D-CF403D8ECF9E}"/>
              </a:ext>
            </a:extLst>
          </p:cNvPr>
          <p:cNvSpPr txBox="1"/>
          <p:nvPr/>
        </p:nvSpPr>
        <p:spPr>
          <a:xfrm>
            <a:off x="9134466" y="1525393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Engineer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07B7F9-2CFB-0429-27D0-62659EBA582C}"/>
              </a:ext>
            </a:extLst>
          </p:cNvPr>
          <p:cNvSpPr txBox="1"/>
          <p:nvPr/>
        </p:nvSpPr>
        <p:spPr>
          <a:xfrm>
            <a:off x="9134466" y="3944182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Carton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B60A2-2E61-BD9D-85FD-01C8CDF91E73}"/>
              </a:ext>
            </a:extLst>
          </p:cNvPr>
          <p:cNvSpPr/>
          <p:nvPr/>
        </p:nvSpPr>
        <p:spPr>
          <a:xfrm>
            <a:off x="9193446" y="3944182"/>
            <a:ext cx="2510939" cy="145298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008AAF-AAEF-D24A-5922-870BE488120E}"/>
              </a:ext>
            </a:extLst>
          </p:cNvPr>
          <p:cNvSpPr txBox="1"/>
          <p:nvPr/>
        </p:nvSpPr>
        <p:spPr>
          <a:xfrm>
            <a:off x="9041478" y="3421036"/>
            <a:ext cx="2814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Package Category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9DE924-1CF7-3D45-1C60-8E3A4F01E96A}"/>
              </a:ext>
            </a:extLst>
          </p:cNvPr>
          <p:cNvSpPr txBox="1"/>
          <p:nvPr/>
        </p:nvSpPr>
        <p:spPr>
          <a:xfrm>
            <a:off x="9448263" y="4476281"/>
            <a:ext cx="2001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Envelope Packet</a:t>
            </a:r>
          </a:p>
        </p:txBody>
      </p:sp>
    </p:spTree>
    <p:extLst>
      <p:ext uri="{BB962C8B-B14F-4D97-AF65-F5344CB8AC3E}">
        <p14:creationId xmlns:p14="http://schemas.microsoft.com/office/powerpoint/2010/main" val="176195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12" grpId="0"/>
      <p:bldP spid="16" grpId="0"/>
      <p:bldP spid="19" grpId="0"/>
      <p:bldP spid="21" grpId="0"/>
      <p:bldP spid="22" grpId="0"/>
      <p:bldP spid="23" grpId="0"/>
      <p:bldP spid="25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496140" y="570673"/>
            <a:ext cx="3077257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However, note that the objects in each class do appear to have similarities, but there also seem to be </a:t>
            </a:r>
            <a:r>
              <a:rPr lang="en-US" sz="2000" b="1" dirty="0"/>
              <a:t>some differences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A grounded robot and an aerial robot will have different attributes and/or methods.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A3961-2C8C-BFE0-6A89-92166AB797E5}"/>
              </a:ext>
            </a:extLst>
          </p:cNvPr>
          <p:cNvSpPr txBox="1"/>
          <p:nvPr/>
        </p:nvSpPr>
        <p:spPr>
          <a:xfrm>
            <a:off x="4016695" y="4048548"/>
            <a:ext cx="262890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White Drone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2D571-4DAF-E6F6-8EE9-EEE5A909B5FE}"/>
              </a:ext>
            </a:extLst>
          </p:cNvPr>
          <p:cNvSpPr txBox="1"/>
          <p:nvPr/>
        </p:nvSpPr>
        <p:spPr>
          <a:xfrm>
            <a:off x="9091933" y="844541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Supervisor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E7DE3-C69C-579B-98C8-CCA3312D32FF}"/>
              </a:ext>
            </a:extLst>
          </p:cNvPr>
          <p:cNvSpPr txBox="1"/>
          <p:nvPr/>
        </p:nvSpPr>
        <p:spPr>
          <a:xfrm>
            <a:off x="4016695" y="1999584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Orange Robot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66F4ED-D1E9-8ED1-5D99-31E276039A9B}"/>
              </a:ext>
            </a:extLst>
          </p:cNvPr>
          <p:cNvSpPr txBox="1"/>
          <p:nvPr/>
        </p:nvSpPr>
        <p:spPr>
          <a:xfrm>
            <a:off x="3979487" y="3059396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Green Robot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450BF-D8CE-2DF4-E206-621A9BBAADEA}"/>
              </a:ext>
            </a:extLst>
          </p:cNvPr>
          <p:cNvSpPr/>
          <p:nvPr/>
        </p:nvSpPr>
        <p:spPr>
          <a:xfrm>
            <a:off x="4097448" y="1914869"/>
            <a:ext cx="2510939" cy="262165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8CAA9-F259-EAC4-98A6-2AFA432BCE8D}"/>
              </a:ext>
            </a:extLst>
          </p:cNvPr>
          <p:cNvSpPr txBox="1"/>
          <p:nvPr/>
        </p:nvSpPr>
        <p:spPr>
          <a:xfrm>
            <a:off x="4137353" y="1385694"/>
            <a:ext cx="2431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Robot Category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69CA5B-86F2-982C-F5FF-7A6A4583284C}"/>
              </a:ext>
            </a:extLst>
          </p:cNvPr>
          <p:cNvSpPr/>
          <p:nvPr/>
        </p:nvSpPr>
        <p:spPr>
          <a:xfrm>
            <a:off x="9184921" y="851376"/>
            <a:ext cx="2510939" cy="11482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C97257-D178-D342-58B3-D685E7023789}"/>
              </a:ext>
            </a:extLst>
          </p:cNvPr>
          <p:cNvSpPr txBox="1"/>
          <p:nvPr/>
        </p:nvSpPr>
        <p:spPr>
          <a:xfrm>
            <a:off x="8869427" y="356621"/>
            <a:ext cx="314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Employee Category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060D0B-1AD3-4D6C-6875-DB6535279425}"/>
              </a:ext>
            </a:extLst>
          </p:cNvPr>
          <p:cNvSpPr txBox="1"/>
          <p:nvPr/>
        </p:nvSpPr>
        <p:spPr>
          <a:xfrm>
            <a:off x="6864900" y="2850586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Warehouse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9EC132-4BF0-5F21-AC07-B40AC53A78F0}"/>
              </a:ext>
            </a:extLst>
          </p:cNvPr>
          <p:cNvSpPr/>
          <p:nvPr/>
        </p:nvSpPr>
        <p:spPr>
          <a:xfrm>
            <a:off x="6923881" y="2827510"/>
            <a:ext cx="2510939" cy="50781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3014DC-155C-8F5D-4B6E-37C8A9734DBD}"/>
              </a:ext>
            </a:extLst>
          </p:cNvPr>
          <p:cNvSpPr txBox="1"/>
          <p:nvPr/>
        </p:nvSpPr>
        <p:spPr>
          <a:xfrm>
            <a:off x="6608387" y="2332755"/>
            <a:ext cx="314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Building Category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5C0818-44D2-3501-438D-CF403D8ECF9E}"/>
              </a:ext>
            </a:extLst>
          </p:cNvPr>
          <p:cNvSpPr txBox="1"/>
          <p:nvPr/>
        </p:nvSpPr>
        <p:spPr>
          <a:xfrm>
            <a:off x="9125941" y="1471604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Engineer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07B7F9-2CFB-0429-27D0-62659EBA582C}"/>
              </a:ext>
            </a:extLst>
          </p:cNvPr>
          <p:cNvSpPr txBox="1"/>
          <p:nvPr/>
        </p:nvSpPr>
        <p:spPr>
          <a:xfrm>
            <a:off x="9125941" y="3890393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Carton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B60A2-2E61-BD9D-85FD-01C8CDF91E73}"/>
              </a:ext>
            </a:extLst>
          </p:cNvPr>
          <p:cNvSpPr/>
          <p:nvPr/>
        </p:nvSpPr>
        <p:spPr>
          <a:xfrm>
            <a:off x="9184921" y="3890393"/>
            <a:ext cx="2510939" cy="145298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008AAF-AAEF-D24A-5922-870BE488120E}"/>
              </a:ext>
            </a:extLst>
          </p:cNvPr>
          <p:cNvSpPr txBox="1"/>
          <p:nvPr/>
        </p:nvSpPr>
        <p:spPr>
          <a:xfrm>
            <a:off x="9032953" y="3367247"/>
            <a:ext cx="2814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Package Category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9DE924-1CF7-3D45-1C60-8E3A4F01E96A}"/>
              </a:ext>
            </a:extLst>
          </p:cNvPr>
          <p:cNvSpPr txBox="1"/>
          <p:nvPr/>
        </p:nvSpPr>
        <p:spPr>
          <a:xfrm>
            <a:off x="9439738" y="4422492"/>
            <a:ext cx="2001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Envelope Packet</a:t>
            </a:r>
          </a:p>
        </p:txBody>
      </p:sp>
    </p:spTree>
    <p:extLst>
      <p:ext uri="{BB962C8B-B14F-4D97-AF65-F5344CB8AC3E}">
        <p14:creationId xmlns:p14="http://schemas.microsoft.com/office/powerpoint/2010/main" val="164447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231543" y="94690"/>
            <a:ext cx="11728911" cy="2554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So you can categorize them in </a:t>
            </a:r>
            <a:r>
              <a:rPr lang="en-US" sz="2000" b="1" dirty="0"/>
              <a:t>different classes</a:t>
            </a:r>
            <a:r>
              <a:rPr lang="en-US" sz="2000" dirty="0"/>
              <a:t>. But here’s the problem.</a:t>
            </a:r>
          </a:p>
          <a:p>
            <a:endParaRPr lang="en-US" sz="2000" dirty="0"/>
          </a:p>
          <a:p>
            <a:r>
              <a:rPr lang="en-US" sz="2000" dirty="0"/>
              <a:t>The types of robots also have some class members that will be </a:t>
            </a:r>
            <a:r>
              <a:rPr lang="en-US" sz="2000" b="1" dirty="0"/>
              <a:t>common </a:t>
            </a:r>
            <a:r>
              <a:rPr lang="en-US" sz="2000" dirty="0"/>
              <a:t>(e.g. battery, motors, etc.). </a:t>
            </a:r>
          </a:p>
          <a:p>
            <a:r>
              <a:rPr lang="en-US" sz="2000" dirty="0"/>
              <a:t>If you create completely separate classes, parts of your class definitions </a:t>
            </a:r>
            <a:r>
              <a:rPr lang="en-US" sz="2000" b="1" dirty="0"/>
              <a:t>will repeat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/>
              <a:t>What if I could make a common class that contained all of this information? Then I wouldn’t have to repeat.</a:t>
            </a:r>
          </a:p>
          <a:p>
            <a:r>
              <a:rPr lang="en-US" sz="2000" dirty="0"/>
              <a:t>Here comes in </a:t>
            </a:r>
            <a:r>
              <a:rPr lang="en-US" sz="2000" b="1" dirty="0"/>
              <a:t>inheritance</a:t>
            </a:r>
            <a:r>
              <a:rPr lang="en-US" sz="20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A3961-2C8C-BFE0-6A89-92166AB797E5}"/>
              </a:ext>
            </a:extLst>
          </p:cNvPr>
          <p:cNvSpPr txBox="1"/>
          <p:nvPr/>
        </p:nvSpPr>
        <p:spPr>
          <a:xfrm>
            <a:off x="6139033" y="4289607"/>
            <a:ext cx="262890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White Drone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E7DE3-C69C-579B-98C8-CCA3312D32FF}"/>
              </a:ext>
            </a:extLst>
          </p:cNvPr>
          <p:cNvSpPr txBox="1"/>
          <p:nvPr/>
        </p:nvSpPr>
        <p:spPr>
          <a:xfrm>
            <a:off x="3389521" y="4289833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Ground Orange Robot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66F4ED-D1E9-8ED1-5D99-31E276039A9B}"/>
              </a:ext>
            </a:extLst>
          </p:cNvPr>
          <p:cNvSpPr txBox="1"/>
          <p:nvPr/>
        </p:nvSpPr>
        <p:spPr>
          <a:xfrm>
            <a:off x="3372243" y="5179322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Ground Green Robot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43D4E3-BDEB-2DC9-17C6-FD5316EAA061}"/>
              </a:ext>
            </a:extLst>
          </p:cNvPr>
          <p:cNvSpPr txBox="1"/>
          <p:nvPr/>
        </p:nvSpPr>
        <p:spPr>
          <a:xfrm>
            <a:off x="3389522" y="3400344"/>
            <a:ext cx="2628899" cy="83099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4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GroundedRobot</a:t>
            </a:r>
            <a:endParaRPr lang="en-US" sz="24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4BD0E-E473-9C68-1E8F-A15ADF045E0B}"/>
              </a:ext>
            </a:extLst>
          </p:cNvPr>
          <p:cNvSpPr txBox="1"/>
          <p:nvPr/>
        </p:nvSpPr>
        <p:spPr>
          <a:xfrm>
            <a:off x="6320920" y="3400344"/>
            <a:ext cx="2431128" cy="83099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4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AirRobot</a:t>
            </a:r>
            <a:endParaRPr lang="en-US" sz="24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4512-632F-E34C-048D-22778459C9A0}"/>
              </a:ext>
            </a:extLst>
          </p:cNvPr>
          <p:cNvSpPr txBox="1"/>
          <p:nvPr/>
        </p:nvSpPr>
        <p:spPr>
          <a:xfrm>
            <a:off x="8997537" y="3400344"/>
            <a:ext cx="306451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AirRobot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m_battery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m_microcontroller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m_cameraSensor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m_propellers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79DAFD-23AC-3179-8860-A21FAFA2EFA9}"/>
              </a:ext>
            </a:extLst>
          </p:cNvPr>
          <p:cNvSpPr txBox="1"/>
          <p:nvPr/>
        </p:nvSpPr>
        <p:spPr>
          <a:xfrm>
            <a:off x="129952" y="3397350"/>
            <a:ext cx="306451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GroundedRobot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m_battery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m_microcontroller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m_cameraSensor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m_wheels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E31CD-7592-42DE-B06B-6B0B68459FBF}"/>
              </a:ext>
            </a:extLst>
          </p:cNvPr>
          <p:cNvSpPr/>
          <p:nvPr/>
        </p:nvSpPr>
        <p:spPr>
          <a:xfrm>
            <a:off x="587634" y="3894269"/>
            <a:ext cx="2628901" cy="8570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B2D86D-8C2C-0704-C9DA-C240BC05DBBA}"/>
              </a:ext>
            </a:extLst>
          </p:cNvPr>
          <p:cNvSpPr/>
          <p:nvPr/>
        </p:nvSpPr>
        <p:spPr>
          <a:xfrm>
            <a:off x="9481631" y="3894268"/>
            <a:ext cx="2580417" cy="8570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6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231543" y="94690"/>
            <a:ext cx="11728911" cy="2554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You have a </a:t>
            </a:r>
            <a:r>
              <a:rPr lang="en-US" sz="2000" b="1" dirty="0"/>
              <a:t>parent class</a:t>
            </a:r>
            <a:r>
              <a:rPr lang="en-US" sz="2000" dirty="0"/>
              <a:t> or a </a:t>
            </a:r>
            <a:r>
              <a:rPr lang="en-US" sz="2000" b="1" dirty="0"/>
              <a:t>base class</a:t>
            </a:r>
            <a:r>
              <a:rPr lang="en-US" sz="2000" dirty="0"/>
              <a:t> that contains the </a:t>
            </a:r>
            <a:r>
              <a:rPr lang="en-US" sz="2000" u="sng" dirty="0"/>
              <a:t>common data and behaviors</a:t>
            </a:r>
            <a:r>
              <a:rPr lang="en-US" sz="2000" dirty="0"/>
              <a:t>.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child class</a:t>
            </a:r>
            <a:r>
              <a:rPr lang="en-US" sz="2000" dirty="0"/>
              <a:t> or the </a:t>
            </a:r>
            <a:r>
              <a:rPr lang="en-US" sz="2000" b="1" dirty="0"/>
              <a:t>derived class</a:t>
            </a:r>
            <a:r>
              <a:rPr lang="en-US" sz="2000" dirty="0"/>
              <a:t> can then </a:t>
            </a:r>
            <a:r>
              <a:rPr lang="en-US" sz="2000" u="sng" dirty="0"/>
              <a:t>extend the capabilities</a:t>
            </a:r>
            <a:r>
              <a:rPr lang="en-US" sz="2000" dirty="0"/>
              <a:t> of the parent/base class.</a:t>
            </a:r>
          </a:p>
          <a:p>
            <a:endParaRPr lang="en-US" sz="2000" dirty="0"/>
          </a:p>
          <a:p>
            <a:r>
              <a:rPr lang="en-US" sz="2000" dirty="0"/>
              <a:t>In this example, the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Robot</a:t>
            </a:r>
            <a:r>
              <a:rPr lang="en-US" sz="2000" dirty="0"/>
              <a:t> class will have </a:t>
            </a:r>
            <a:r>
              <a:rPr lang="en-US" sz="2000" b="1" dirty="0"/>
              <a:t>common members </a:t>
            </a:r>
            <a:r>
              <a:rPr lang="en-US" sz="2000" dirty="0"/>
              <a:t>such as battery, microcontroller, camera sensor, etc. </a:t>
            </a:r>
            <a:r>
              <a:rPr lang="en-US" sz="2000" dirty="0">
                <a:solidFill>
                  <a:schemeClr val="accent1"/>
                </a:solidFill>
              </a:rPr>
              <a:t>These will be possessed by the objects of all derived classes.</a:t>
            </a:r>
          </a:p>
          <a:p>
            <a:endParaRPr lang="en-US" sz="2000" dirty="0"/>
          </a:p>
          <a:p>
            <a:r>
              <a:rPr lang="en-US" sz="2000" dirty="0"/>
              <a:t>But the </a:t>
            </a:r>
            <a:r>
              <a:rPr lang="en-US" sz="2000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GroundRobot</a:t>
            </a:r>
            <a:r>
              <a:rPr lang="en-US" sz="2000" dirty="0"/>
              <a:t> class can have wheels, whereas the </a:t>
            </a:r>
            <a:r>
              <a:rPr lang="en-US" sz="2000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AirRobot</a:t>
            </a:r>
            <a:r>
              <a:rPr lang="en-US" sz="2000" dirty="0"/>
              <a:t> class can have propellers.</a:t>
            </a:r>
          </a:p>
          <a:p>
            <a:r>
              <a:rPr lang="en-US" sz="2000" dirty="0"/>
              <a:t>Therefore, the derived classes have somehow built on top of (or extended) the base class.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8CAA9-F259-EAC4-98A6-2AFA432BCE8D}"/>
              </a:ext>
            </a:extLst>
          </p:cNvPr>
          <p:cNvSpPr txBox="1"/>
          <p:nvPr/>
        </p:nvSpPr>
        <p:spPr>
          <a:xfrm>
            <a:off x="5391821" y="3055030"/>
            <a:ext cx="1408357" cy="83099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Robot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43D4E3-BDEB-2DC9-17C6-FD5316EAA061}"/>
              </a:ext>
            </a:extLst>
          </p:cNvPr>
          <p:cNvSpPr txBox="1"/>
          <p:nvPr/>
        </p:nvSpPr>
        <p:spPr>
          <a:xfrm>
            <a:off x="2719630" y="5209227"/>
            <a:ext cx="2628899" cy="83099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4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GroundedRobot</a:t>
            </a:r>
            <a:endParaRPr lang="en-US" sz="24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4BD0E-E473-9C68-1E8F-A15ADF045E0B}"/>
              </a:ext>
            </a:extLst>
          </p:cNvPr>
          <p:cNvSpPr txBox="1"/>
          <p:nvPr/>
        </p:nvSpPr>
        <p:spPr>
          <a:xfrm>
            <a:off x="6888157" y="5209227"/>
            <a:ext cx="2431128" cy="83099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4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AirRobot</a:t>
            </a:r>
            <a:endParaRPr lang="en-US" sz="24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EAD0EB1-CDEA-E526-0348-6897DAFDC0AF}"/>
              </a:ext>
            </a:extLst>
          </p:cNvPr>
          <p:cNvCxnSpPr>
            <a:cxnSpLocks/>
            <a:stCxn id="2" idx="0"/>
            <a:endCxn id="12" idx="2"/>
          </p:cNvCxnSpPr>
          <p:nvPr/>
        </p:nvCxnSpPr>
        <p:spPr>
          <a:xfrm rot="5400000" flipH="1" flipV="1">
            <a:off x="4403440" y="3516667"/>
            <a:ext cx="1323200" cy="2061920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827F310-8C3A-EB79-A5C7-8FEF67675A1B}"/>
              </a:ext>
            </a:extLst>
          </p:cNvPr>
          <p:cNvCxnSpPr>
            <a:cxnSpLocks/>
            <a:stCxn id="4" idx="0"/>
            <a:endCxn id="12" idx="2"/>
          </p:cNvCxnSpPr>
          <p:nvPr/>
        </p:nvCxnSpPr>
        <p:spPr>
          <a:xfrm rot="16200000" flipV="1">
            <a:off x="6438261" y="3543766"/>
            <a:ext cx="1323200" cy="2007721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86C0C3-1F02-6A6C-4784-FA3766D47FB0}"/>
              </a:ext>
            </a:extLst>
          </p:cNvPr>
          <p:cNvSpPr txBox="1"/>
          <p:nvPr/>
        </p:nvSpPr>
        <p:spPr>
          <a:xfrm>
            <a:off x="9925977" y="3128845"/>
            <a:ext cx="2034477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i="1" u="sng" dirty="0">
                <a:solidFill>
                  <a:schemeClr val="accent1"/>
                </a:solidFill>
              </a:rPr>
              <a:t>Note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A derived class extends the capabilities of its base class.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14ACEF5-D9B7-EE0E-E1E6-BCAB2CA60C44}"/>
              </a:ext>
            </a:extLst>
          </p:cNvPr>
          <p:cNvSpPr/>
          <p:nvPr/>
        </p:nvSpPr>
        <p:spPr>
          <a:xfrm>
            <a:off x="6015315" y="3886025"/>
            <a:ext cx="161365" cy="148092"/>
          </a:xfrm>
          <a:prstGeom prst="triangle">
            <a:avLst/>
          </a:prstGeom>
          <a:solidFill>
            <a:schemeClr val="bg1"/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6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AD992D-21D8-9EB6-883B-C3600BFF6445}"/>
              </a:ext>
            </a:extLst>
          </p:cNvPr>
          <p:cNvSpPr txBox="1"/>
          <p:nvPr/>
        </p:nvSpPr>
        <p:spPr>
          <a:xfrm>
            <a:off x="7901776" y="2033052"/>
            <a:ext cx="1159115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Robot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2AC67-682C-A6E0-F801-59E323393F94}"/>
              </a:ext>
            </a:extLst>
          </p:cNvPr>
          <p:cNvSpPr txBox="1"/>
          <p:nvPr/>
        </p:nvSpPr>
        <p:spPr>
          <a:xfrm>
            <a:off x="5241194" y="4265207"/>
            <a:ext cx="2163653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GroundedRobot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022FA-A1BB-043E-E791-86A287D388CC}"/>
              </a:ext>
            </a:extLst>
          </p:cNvPr>
          <p:cNvSpPr txBox="1"/>
          <p:nvPr/>
        </p:nvSpPr>
        <p:spPr>
          <a:xfrm>
            <a:off x="9738828" y="4265206"/>
            <a:ext cx="2000882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AirRobot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C092F4F-3E58-5E47-0482-D24AC436FC4A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rot="5400000" flipH="1" flipV="1">
            <a:off x="6640043" y="2423917"/>
            <a:ext cx="1524269" cy="215831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D718D91-288B-42D9-91C2-3E51525BD342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rot="16200000" flipV="1">
            <a:off x="8848168" y="2374104"/>
            <a:ext cx="1524268" cy="2257935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13929E-AC3B-9ECE-DF4E-A9DB909904A2}"/>
              </a:ext>
            </a:extLst>
          </p:cNvPr>
          <p:cNvSpPr txBox="1"/>
          <p:nvPr/>
        </p:nvSpPr>
        <p:spPr>
          <a:xfrm>
            <a:off x="452290" y="1491391"/>
            <a:ext cx="428961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Common data and functions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Robot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m_battery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m_microcontroller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m_cameraSensor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endParaRPr lang="en-US" sz="1600" b="0" dirty="0">
              <a:solidFill>
                <a:srgbClr val="7A3E9D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GroundedRobot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Robot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m_wheels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AirRobot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Robot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m_propellers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8AF79-CAF0-6EF6-7598-BB56ED187009}"/>
              </a:ext>
            </a:extLst>
          </p:cNvPr>
          <p:cNvSpPr txBox="1"/>
          <p:nvPr/>
        </p:nvSpPr>
        <p:spPr>
          <a:xfrm>
            <a:off x="231543" y="94690"/>
            <a:ext cx="11728911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So this is what inheritance will look like in code (without adding a lot of details).</a:t>
            </a:r>
          </a:p>
          <a:p>
            <a:endParaRPr lang="en-US" sz="2000" dirty="0"/>
          </a:p>
          <a:p>
            <a:r>
              <a:rPr lang="en-US" sz="2000" dirty="0"/>
              <a:t>Note that the derived classes are </a:t>
            </a:r>
            <a:r>
              <a:rPr lang="en-US" sz="2000" b="1" dirty="0"/>
              <a:t>coupled</a:t>
            </a:r>
            <a:r>
              <a:rPr lang="en-US" sz="2000" dirty="0"/>
              <a:t> to the base class.</a:t>
            </a:r>
          </a:p>
          <a:p>
            <a:r>
              <a:rPr lang="en-US" sz="2000" dirty="0"/>
              <a:t>Any changes made in the base class will be reflected on the derived classes.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B15C50A7-D33D-66E5-DAD2-BD3D7445DF20}"/>
              </a:ext>
            </a:extLst>
          </p:cNvPr>
          <p:cNvSpPr/>
          <p:nvPr/>
        </p:nvSpPr>
        <p:spPr>
          <a:xfrm>
            <a:off x="8400650" y="2740935"/>
            <a:ext cx="161365" cy="148092"/>
          </a:xfrm>
          <a:prstGeom prst="triangle">
            <a:avLst/>
          </a:prstGeom>
          <a:solidFill>
            <a:schemeClr val="bg1"/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2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231543" y="94690"/>
            <a:ext cx="11728911" cy="16312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What we have here is a </a:t>
            </a:r>
            <a:r>
              <a:rPr lang="en-US" sz="2000" b="1" dirty="0"/>
              <a:t>class hierarchy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/>
              <a:t>Observe that the classes at the </a:t>
            </a:r>
            <a:r>
              <a:rPr lang="en-US" sz="2000" b="1" dirty="0"/>
              <a:t>bottom </a:t>
            </a:r>
            <a:r>
              <a:rPr lang="en-US" sz="2000" dirty="0"/>
              <a:t>of the hierarchy are </a:t>
            </a:r>
            <a:r>
              <a:rPr lang="en-US" sz="2000" b="1" dirty="0"/>
              <a:t>more specific or specialized</a:t>
            </a:r>
            <a:r>
              <a:rPr lang="en-US" sz="2000" dirty="0"/>
              <a:t>.</a:t>
            </a:r>
          </a:p>
          <a:p>
            <a:r>
              <a:rPr lang="en-US" sz="2000" dirty="0"/>
              <a:t>And as you </a:t>
            </a:r>
            <a:r>
              <a:rPr lang="en-US" sz="2000" b="1" dirty="0"/>
              <a:t>climb up </a:t>
            </a:r>
            <a:r>
              <a:rPr lang="en-US" sz="2000" dirty="0"/>
              <a:t>the hierarchy, you will notice that the classes become </a:t>
            </a:r>
            <a:r>
              <a:rPr lang="en-US" sz="2000" b="1" dirty="0"/>
              <a:t>more general (with lesser details)</a:t>
            </a:r>
            <a:r>
              <a:rPr lang="en-US" sz="20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8CAA9-F259-EAC4-98A6-2AFA432BCE8D}"/>
              </a:ext>
            </a:extLst>
          </p:cNvPr>
          <p:cNvSpPr txBox="1"/>
          <p:nvPr/>
        </p:nvSpPr>
        <p:spPr>
          <a:xfrm>
            <a:off x="5391821" y="2420328"/>
            <a:ext cx="1408357" cy="83099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Robot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43D4E3-BDEB-2DC9-17C6-FD5316EAA061}"/>
              </a:ext>
            </a:extLst>
          </p:cNvPr>
          <p:cNvSpPr txBox="1"/>
          <p:nvPr/>
        </p:nvSpPr>
        <p:spPr>
          <a:xfrm>
            <a:off x="2515235" y="4652483"/>
            <a:ext cx="2628899" cy="83099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4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GroundedRobot</a:t>
            </a:r>
            <a:endParaRPr lang="en-US" sz="24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4BD0E-E473-9C68-1E8F-A15ADF045E0B}"/>
              </a:ext>
            </a:extLst>
          </p:cNvPr>
          <p:cNvSpPr txBox="1"/>
          <p:nvPr/>
        </p:nvSpPr>
        <p:spPr>
          <a:xfrm>
            <a:off x="7047868" y="4652482"/>
            <a:ext cx="2431128" cy="83099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4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AirRobot</a:t>
            </a:r>
            <a:endParaRPr lang="en-US" sz="24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EAD0EB1-CDEA-E526-0348-6897DAFDC0AF}"/>
              </a:ext>
            </a:extLst>
          </p:cNvPr>
          <p:cNvCxnSpPr>
            <a:cxnSpLocks/>
            <a:stCxn id="2" idx="0"/>
            <a:endCxn id="12" idx="2"/>
          </p:cNvCxnSpPr>
          <p:nvPr/>
        </p:nvCxnSpPr>
        <p:spPr>
          <a:xfrm rot="5400000" flipH="1" flipV="1">
            <a:off x="4262263" y="2818747"/>
            <a:ext cx="1401158" cy="2266315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827F310-8C3A-EB79-A5C7-8FEF67675A1B}"/>
              </a:ext>
            </a:extLst>
          </p:cNvPr>
          <p:cNvCxnSpPr>
            <a:cxnSpLocks/>
            <a:stCxn id="4" idx="0"/>
            <a:endCxn id="12" idx="2"/>
          </p:cNvCxnSpPr>
          <p:nvPr/>
        </p:nvCxnSpPr>
        <p:spPr>
          <a:xfrm rot="16200000" flipV="1">
            <a:off x="6479138" y="2868188"/>
            <a:ext cx="1401157" cy="2167432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0F11754-5A8C-36E8-EF41-FAD366F27B35}"/>
              </a:ext>
            </a:extLst>
          </p:cNvPr>
          <p:cNvSpPr txBox="1"/>
          <p:nvPr/>
        </p:nvSpPr>
        <p:spPr>
          <a:xfrm>
            <a:off x="0" y="2194132"/>
            <a:ext cx="3115743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sz="2000" i="1" dirty="0"/>
              <a:t>More general / abstract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32AD32-0E4E-11FC-1FBE-FD8D991B7D2A}"/>
              </a:ext>
            </a:extLst>
          </p:cNvPr>
          <p:cNvSpPr txBox="1"/>
          <p:nvPr/>
        </p:nvSpPr>
        <p:spPr>
          <a:xfrm>
            <a:off x="0" y="5648124"/>
            <a:ext cx="2697988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sz="2000" i="1" dirty="0"/>
              <a:t>Less general / abstract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A8376C-67B3-A8BA-B092-683C2A67D04B}"/>
              </a:ext>
            </a:extLst>
          </p:cNvPr>
          <p:cNvCxnSpPr>
            <a:stCxn id="8" idx="0"/>
          </p:cNvCxnSpPr>
          <p:nvPr/>
        </p:nvCxnSpPr>
        <p:spPr>
          <a:xfrm flipV="1">
            <a:off x="1348994" y="2614107"/>
            <a:ext cx="0" cy="3034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7C6DB7D-83BC-83B8-92FF-FB9821AC3E7D}"/>
              </a:ext>
            </a:extLst>
          </p:cNvPr>
          <p:cNvSpPr txBox="1"/>
          <p:nvPr/>
        </p:nvSpPr>
        <p:spPr>
          <a:xfrm>
            <a:off x="9925977" y="3128845"/>
            <a:ext cx="2034477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i="1" u="sng" dirty="0">
                <a:solidFill>
                  <a:schemeClr val="accent1"/>
                </a:solidFill>
              </a:rPr>
              <a:t>Note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A derived class is typically more specialized than its base class.</a:t>
            </a: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9D4F9ED-CD9C-4551-CBCE-F46D701D7CC6}"/>
              </a:ext>
            </a:extLst>
          </p:cNvPr>
          <p:cNvSpPr/>
          <p:nvPr/>
        </p:nvSpPr>
        <p:spPr>
          <a:xfrm>
            <a:off x="6015315" y="3251324"/>
            <a:ext cx="161365" cy="148092"/>
          </a:xfrm>
          <a:prstGeom prst="triangle">
            <a:avLst/>
          </a:prstGeom>
          <a:solidFill>
            <a:schemeClr val="bg1"/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9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231543" y="94690"/>
            <a:ext cx="1172891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You can create multiple levels of hierarchy depending on the problem that you’re trying to </a:t>
            </a:r>
            <a:r>
              <a:rPr lang="en-US" sz="2000" b="1" dirty="0"/>
              <a:t>simulate</a:t>
            </a:r>
            <a:r>
              <a:rPr lang="en-US" sz="20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8CAA9-F259-EAC4-98A6-2AFA432BCE8D}"/>
              </a:ext>
            </a:extLst>
          </p:cNvPr>
          <p:cNvSpPr txBox="1"/>
          <p:nvPr/>
        </p:nvSpPr>
        <p:spPr>
          <a:xfrm>
            <a:off x="6093121" y="1063468"/>
            <a:ext cx="1187073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Robot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43D4E3-BDEB-2DC9-17C6-FD5316EAA061}"/>
              </a:ext>
            </a:extLst>
          </p:cNvPr>
          <p:cNvSpPr txBox="1"/>
          <p:nvPr/>
        </p:nvSpPr>
        <p:spPr>
          <a:xfrm>
            <a:off x="3470352" y="2823916"/>
            <a:ext cx="2215841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GroundedRobot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4BD0E-E473-9C68-1E8F-A15ADF045E0B}"/>
              </a:ext>
            </a:extLst>
          </p:cNvPr>
          <p:cNvSpPr txBox="1"/>
          <p:nvPr/>
        </p:nvSpPr>
        <p:spPr>
          <a:xfrm>
            <a:off x="7873730" y="2823916"/>
            <a:ext cx="2049144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AirRobot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EAD0EB1-CDEA-E526-0348-6897DAFDC0AF}"/>
              </a:ext>
            </a:extLst>
          </p:cNvPr>
          <p:cNvCxnSpPr>
            <a:cxnSpLocks/>
            <a:stCxn id="2" idx="0"/>
            <a:endCxn id="12" idx="2"/>
          </p:cNvCxnSpPr>
          <p:nvPr/>
        </p:nvCxnSpPr>
        <p:spPr>
          <a:xfrm rot="5400000" flipH="1" flipV="1">
            <a:off x="5106184" y="1243443"/>
            <a:ext cx="1052562" cy="2108385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827F310-8C3A-EB79-A5C7-8FEF67675A1B}"/>
              </a:ext>
            </a:extLst>
          </p:cNvPr>
          <p:cNvCxnSpPr>
            <a:cxnSpLocks/>
            <a:stCxn id="4" idx="0"/>
            <a:endCxn id="12" idx="2"/>
          </p:cNvCxnSpPr>
          <p:nvPr/>
        </p:nvCxnSpPr>
        <p:spPr>
          <a:xfrm rot="16200000" flipV="1">
            <a:off x="7266199" y="1191813"/>
            <a:ext cx="1052562" cy="221164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0F11754-5A8C-36E8-EF41-FAD366F27B35}"/>
              </a:ext>
            </a:extLst>
          </p:cNvPr>
          <p:cNvSpPr txBox="1"/>
          <p:nvPr/>
        </p:nvSpPr>
        <p:spPr>
          <a:xfrm>
            <a:off x="-621" y="837556"/>
            <a:ext cx="3115743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sz="2000" i="1" dirty="0"/>
              <a:t>More general / abstract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32AD32-0E4E-11FC-1FBE-FD8D991B7D2A}"/>
              </a:ext>
            </a:extLst>
          </p:cNvPr>
          <p:cNvSpPr txBox="1"/>
          <p:nvPr/>
        </p:nvSpPr>
        <p:spPr>
          <a:xfrm>
            <a:off x="-621" y="5632021"/>
            <a:ext cx="2697988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sz="2000" i="1" dirty="0"/>
              <a:t>Less general / abstract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A8376C-67B3-A8BA-B092-683C2A67D04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348373" y="1237666"/>
            <a:ext cx="0" cy="4394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96D85E5-23A2-6688-8A8C-EB233824E367}"/>
              </a:ext>
            </a:extLst>
          </p:cNvPr>
          <p:cNvSpPr txBox="1"/>
          <p:nvPr/>
        </p:nvSpPr>
        <p:spPr>
          <a:xfrm>
            <a:off x="1808470" y="4693744"/>
            <a:ext cx="2215841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TrackedWheels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9C88A1-78D7-5A9C-E730-89E840F5CD2A}"/>
              </a:ext>
            </a:extLst>
          </p:cNvPr>
          <p:cNvSpPr txBox="1"/>
          <p:nvPr/>
        </p:nvSpPr>
        <p:spPr>
          <a:xfrm>
            <a:off x="4477926" y="4693744"/>
            <a:ext cx="2215841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RegularWheels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D79F822-7B16-8AFB-7AFA-165F14FA6FB0}"/>
              </a:ext>
            </a:extLst>
          </p:cNvPr>
          <p:cNvCxnSpPr>
            <a:cxnSpLocks/>
            <a:stCxn id="16" idx="0"/>
            <a:endCxn id="2" idx="2"/>
          </p:cNvCxnSpPr>
          <p:nvPr/>
        </p:nvCxnSpPr>
        <p:spPr>
          <a:xfrm rot="5400000" flipH="1" flipV="1">
            <a:off x="3166361" y="3281832"/>
            <a:ext cx="1161942" cy="1661882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64A950A-6E66-0A9F-8652-29912ABC22AC}"/>
              </a:ext>
            </a:extLst>
          </p:cNvPr>
          <p:cNvCxnSpPr>
            <a:cxnSpLocks/>
            <a:stCxn id="18" idx="0"/>
            <a:endCxn id="2" idx="2"/>
          </p:cNvCxnSpPr>
          <p:nvPr/>
        </p:nvCxnSpPr>
        <p:spPr>
          <a:xfrm rot="16200000" flipV="1">
            <a:off x="4501089" y="3608986"/>
            <a:ext cx="1161942" cy="100757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5622410-5BBD-8A51-C0AC-D303FD2CE381}"/>
              </a:ext>
            </a:extLst>
          </p:cNvPr>
          <p:cNvSpPr txBox="1"/>
          <p:nvPr/>
        </p:nvSpPr>
        <p:spPr>
          <a:xfrm>
            <a:off x="7423348" y="4690308"/>
            <a:ext cx="1179963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VTOL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5D6116-395D-6AFD-4AFC-9414913AD551}"/>
              </a:ext>
            </a:extLst>
          </p:cNvPr>
          <p:cNvSpPr txBox="1"/>
          <p:nvPr/>
        </p:nvSpPr>
        <p:spPr>
          <a:xfrm>
            <a:off x="9332892" y="4693744"/>
            <a:ext cx="1179963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CTOL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EF293E09-B347-E01C-D36E-5FE4E678AB33}"/>
              </a:ext>
            </a:extLst>
          </p:cNvPr>
          <p:cNvCxnSpPr>
            <a:cxnSpLocks/>
            <a:stCxn id="28" idx="0"/>
            <a:endCxn id="4" idx="2"/>
          </p:cNvCxnSpPr>
          <p:nvPr/>
        </p:nvCxnSpPr>
        <p:spPr>
          <a:xfrm rot="5400000" flipH="1" flipV="1">
            <a:off x="7876563" y="3668569"/>
            <a:ext cx="1158506" cy="884972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6E81BF2-AA24-0FBB-C783-E97B945D8EAF}"/>
              </a:ext>
            </a:extLst>
          </p:cNvPr>
          <p:cNvCxnSpPr>
            <a:cxnSpLocks/>
            <a:stCxn id="29" idx="0"/>
            <a:endCxn id="4" idx="2"/>
          </p:cNvCxnSpPr>
          <p:nvPr/>
        </p:nvCxnSpPr>
        <p:spPr>
          <a:xfrm rot="16200000" flipV="1">
            <a:off x="8829617" y="3600487"/>
            <a:ext cx="1161942" cy="1024572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908AA23-8548-D517-7CF3-213B3705874B}"/>
              </a:ext>
            </a:extLst>
          </p:cNvPr>
          <p:cNvSpPr txBox="1"/>
          <p:nvPr/>
        </p:nvSpPr>
        <p:spPr>
          <a:xfrm>
            <a:off x="9990464" y="854378"/>
            <a:ext cx="2034477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i="1" u="sng" dirty="0">
                <a:solidFill>
                  <a:schemeClr val="accent1"/>
                </a:solidFill>
              </a:rPr>
              <a:t>Note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You can have multiple levels of inheritance.</a:t>
            </a: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629C5C1C-DBF9-7CEE-21EF-EFE2965E2DB2}"/>
              </a:ext>
            </a:extLst>
          </p:cNvPr>
          <p:cNvSpPr/>
          <p:nvPr/>
        </p:nvSpPr>
        <p:spPr>
          <a:xfrm>
            <a:off x="4497591" y="3536692"/>
            <a:ext cx="161365" cy="148092"/>
          </a:xfrm>
          <a:prstGeom prst="triangle">
            <a:avLst/>
          </a:prstGeom>
          <a:solidFill>
            <a:schemeClr val="bg1"/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02F9E9AA-BC2E-A52F-A59E-7E8336738E61}"/>
              </a:ext>
            </a:extLst>
          </p:cNvPr>
          <p:cNvSpPr/>
          <p:nvPr/>
        </p:nvSpPr>
        <p:spPr>
          <a:xfrm>
            <a:off x="8817619" y="3528366"/>
            <a:ext cx="161365" cy="148092"/>
          </a:xfrm>
          <a:prstGeom prst="triangle">
            <a:avLst/>
          </a:prstGeom>
          <a:solidFill>
            <a:schemeClr val="bg1"/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3F1DE88C-A2EC-5164-B5D0-51517BABD36E}"/>
              </a:ext>
            </a:extLst>
          </p:cNvPr>
          <p:cNvSpPr/>
          <p:nvPr/>
        </p:nvSpPr>
        <p:spPr>
          <a:xfrm>
            <a:off x="6613084" y="1771352"/>
            <a:ext cx="161365" cy="148092"/>
          </a:xfrm>
          <a:prstGeom prst="triangle">
            <a:avLst/>
          </a:prstGeom>
          <a:solidFill>
            <a:schemeClr val="bg1"/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1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8" grpId="0" animBg="1"/>
      <p:bldP spid="29" grpId="0" animBg="1"/>
      <p:bldP spid="44" grpId="0" animBg="1"/>
      <p:bldP spid="45" grpId="0" animBg="1"/>
      <p:bldP spid="4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231543" y="94690"/>
            <a:ext cx="11728911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 the idea is that when designing, if you see objects/entities that are </a:t>
            </a:r>
            <a:r>
              <a:rPr lang="en-US" sz="2000" b="1" dirty="0"/>
              <a:t>similar </a:t>
            </a:r>
            <a:r>
              <a:rPr lang="en-US" sz="2000" dirty="0"/>
              <a:t>but </a:t>
            </a:r>
            <a:r>
              <a:rPr lang="en-US" sz="2000" b="1" dirty="0"/>
              <a:t>not identical</a:t>
            </a:r>
            <a:r>
              <a:rPr lang="en-US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You could create a </a:t>
            </a:r>
            <a:r>
              <a:rPr lang="en-US" sz="2000" b="1" dirty="0"/>
              <a:t>parent class </a:t>
            </a:r>
            <a:r>
              <a:rPr lang="en-US" sz="2000" dirty="0"/>
              <a:t>that contains the </a:t>
            </a:r>
            <a:r>
              <a:rPr lang="en-US" sz="2000" b="1" dirty="0"/>
              <a:t>common data and functions</a:t>
            </a:r>
            <a:r>
              <a:rPr lang="en-US" sz="2000" dirty="0"/>
              <a:t>, and then…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… create </a:t>
            </a:r>
            <a:r>
              <a:rPr lang="en-US" sz="2000" b="1" dirty="0"/>
              <a:t>derived classes </a:t>
            </a:r>
            <a:r>
              <a:rPr lang="en-US" sz="2000" dirty="0"/>
              <a:t>which will </a:t>
            </a:r>
            <a:r>
              <a:rPr lang="en-US" sz="2000" b="1" dirty="0"/>
              <a:t>inherit </a:t>
            </a:r>
            <a:r>
              <a:rPr lang="en-US" sz="2000" dirty="0"/>
              <a:t>the parent’s members, and </a:t>
            </a:r>
            <a:r>
              <a:rPr lang="en-US" sz="2000" b="1" dirty="0"/>
              <a:t>have the option </a:t>
            </a:r>
            <a:r>
              <a:rPr lang="en-US" sz="2000" dirty="0"/>
              <a:t>to </a:t>
            </a:r>
            <a:r>
              <a:rPr lang="en-US" sz="2000" b="1" dirty="0"/>
              <a:t>extend </a:t>
            </a:r>
            <a:r>
              <a:rPr lang="en-US" sz="2000" dirty="0"/>
              <a:t>those capabilities.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8CAA9-F259-EAC4-98A6-2AFA432BCE8D}"/>
              </a:ext>
            </a:extLst>
          </p:cNvPr>
          <p:cNvSpPr txBox="1"/>
          <p:nvPr/>
        </p:nvSpPr>
        <p:spPr>
          <a:xfrm>
            <a:off x="5747135" y="2465170"/>
            <a:ext cx="1477634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Employee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43D4E3-BDEB-2DC9-17C6-FD5316EAA061}"/>
              </a:ext>
            </a:extLst>
          </p:cNvPr>
          <p:cNvSpPr txBox="1"/>
          <p:nvPr/>
        </p:nvSpPr>
        <p:spPr>
          <a:xfrm>
            <a:off x="1882586" y="4738543"/>
            <a:ext cx="1959963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Supervisor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4BD0E-E473-9C68-1E8F-A15ADF045E0B}"/>
              </a:ext>
            </a:extLst>
          </p:cNvPr>
          <p:cNvSpPr txBox="1"/>
          <p:nvPr/>
        </p:nvSpPr>
        <p:spPr>
          <a:xfrm>
            <a:off x="4457434" y="4738543"/>
            <a:ext cx="1591945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Engineer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EAD0EB1-CDEA-E526-0348-6897DAFDC0AF}"/>
              </a:ext>
            </a:extLst>
          </p:cNvPr>
          <p:cNvCxnSpPr>
            <a:cxnSpLocks/>
            <a:stCxn id="2" idx="0"/>
            <a:endCxn id="12" idx="2"/>
          </p:cNvCxnSpPr>
          <p:nvPr/>
        </p:nvCxnSpPr>
        <p:spPr>
          <a:xfrm rot="5400000" flipH="1" flipV="1">
            <a:off x="3891517" y="2144108"/>
            <a:ext cx="1565487" cy="362338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827F310-8C3A-EB79-A5C7-8FEF67675A1B}"/>
              </a:ext>
            </a:extLst>
          </p:cNvPr>
          <p:cNvCxnSpPr>
            <a:cxnSpLocks/>
            <a:stCxn id="4" idx="0"/>
            <a:endCxn id="12" idx="2"/>
          </p:cNvCxnSpPr>
          <p:nvPr/>
        </p:nvCxnSpPr>
        <p:spPr>
          <a:xfrm rot="5400000" flipH="1" flipV="1">
            <a:off x="5086936" y="3339528"/>
            <a:ext cx="1565487" cy="1232545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0F11754-5A8C-36E8-EF41-FAD366F27B35}"/>
              </a:ext>
            </a:extLst>
          </p:cNvPr>
          <p:cNvSpPr txBox="1"/>
          <p:nvPr/>
        </p:nvSpPr>
        <p:spPr>
          <a:xfrm>
            <a:off x="0" y="1822579"/>
            <a:ext cx="3115743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sz="2000" i="1" dirty="0"/>
              <a:t>More general / abstract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32AD32-0E4E-11FC-1FBE-FD8D991B7D2A}"/>
              </a:ext>
            </a:extLst>
          </p:cNvPr>
          <p:cNvSpPr txBox="1"/>
          <p:nvPr/>
        </p:nvSpPr>
        <p:spPr>
          <a:xfrm>
            <a:off x="0" y="5680397"/>
            <a:ext cx="2697988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sz="2000" i="1" dirty="0"/>
              <a:t>Less general / abstract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A8376C-67B3-A8BA-B092-683C2A67D04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348994" y="2222689"/>
            <a:ext cx="0" cy="34577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1EB400E-F0A1-AD88-971A-F60436958499}"/>
              </a:ext>
            </a:extLst>
          </p:cNvPr>
          <p:cNvSpPr txBox="1"/>
          <p:nvPr/>
        </p:nvSpPr>
        <p:spPr>
          <a:xfrm>
            <a:off x="6729010" y="4738543"/>
            <a:ext cx="2128161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CookingStaff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5026811-8F1A-59B3-B268-3FC9415DDAA2}"/>
              </a:ext>
            </a:extLst>
          </p:cNvPr>
          <p:cNvCxnSpPr>
            <a:cxnSpLocks/>
            <a:stCxn id="16" idx="0"/>
            <a:endCxn id="12" idx="2"/>
          </p:cNvCxnSpPr>
          <p:nvPr/>
        </p:nvCxnSpPr>
        <p:spPr>
          <a:xfrm rot="16200000" flipV="1">
            <a:off x="6356779" y="3302230"/>
            <a:ext cx="1565487" cy="1307139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7572991-1D33-8F75-37EA-ED384961347E}"/>
              </a:ext>
            </a:extLst>
          </p:cNvPr>
          <p:cNvSpPr txBox="1"/>
          <p:nvPr/>
        </p:nvSpPr>
        <p:spPr>
          <a:xfrm>
            <a:off x="9433629" y="4738543"/>
            <a:ext cx="2325513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CleaningStaff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7EC21F5-BB0A-4DF3-1450-F32BE41EE1C7}"/>
              </a:ext>
            </a:extLst>
          </p:cNvPr>
          <p:cNvCxnSpPr>
            <a:cxnSpLocks/>
            <a:stCxn id="22" idx="0"/>
            <a:endCxn id="12" idx="2"/>
          </p:cNvCxnSpPr>
          <p:nvPr/>
        </p:nvCxnSpPr>
        <p:spPr>
          <a:xfrm rot="16200000" flipV="1">
            <a:off x="7758426" y="1900583"/>
            <a:ext cx="1565487" cy="411043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9110FDE-804E-BE5B-ABB0-C153E335C64C}"/>
              </a:ext>
            </a:extLst>
          </p:cNvPr>
          <p:cNvSpPr txBox="1"/>
          <p:nvPr/>
        </p:nvSpPr>
        <p:spPr>
          <a:xfrm>
            <a:off x="9500159" y="2619058"/>
            <a:ext cx="2122750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Another example</a:t>
            </a: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D05DDCE5-4B61-6045-6217-27B1A825AE52}"/>
              </a:ext>
            </a:extLst>
          </p:cNvPr>
          <p:cNvSpPr/>
          <p:nvPr/>
        </p:nvSpPr>
        <p:spPr>
          <a:xfrm>
            <a:off x="6405270" y="3173054"/>
            <a:ext cx="161365" cy="148092"/>
          </a:xfrm>
          <a:prstGeom prst="triangle">
            <a:avLst/>
          </a:prstGeom>
          <a:solidFill>
            <a:schemeClr val="bg1"/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95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AD992D-21D8-9EB6-883B-C3600BFF6445}"/>
              </a:ext>
            </a:extLst>
          </p:cNvPr>
          <p:cNvSpPr txBox="1"/>
          <p:nvPr/>
        </p:nvSpPr>
        <p:spPr>
          <a:xfrm>
            <a:off x="7901776" y="2033052"/>
            <a:ext cx="1159115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Robot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2AC67-682C-A6E0-F801-59E323393F94}"/>
              </a:ext>
            </a:extLst>
          </p:cNvPr>
          <p:cNvSpPr txBox="1"/>
          <p:nvPr/>
        </p:nvSpPr>
        <p:spPr>
          <a:xfrm>
            <a:off x="5241194" y="4200659"/>
            <a:ext cx="2163653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GroundedRobot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022FA-A1BB-043E-E791-86A287D388CC}"/>
              </a:ext>
            </a:extLst>
          </p:cNvPr>
          <p:cNvSpPr txBox="1"/>
          <p:nvPr/>
        </p:nvSpPr>
        <p:spPr>
          <a:xfrm>
            <a:off x="9738828" y="4200658"/>
            <a:ext cx="2000882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AirRobot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13929E-AC3B-9ECE-DF4E-A9DB909904A2}"/>
              </a:ext>
            </a:extLst>
          </p:cNvPr>
          <p:cNvSpPr txBox="1"/>
          <p:nvPr/>
        </p:nvSpPr>
        <p:spPr>
          <a:xfrm>
            <a:off x="452290" y="1491391"/>
            <a:ext cx="42896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Common data and functions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Robot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m_battery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m_microcontroller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m_cameraSensor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endParaRPr lang="en-US" sz="1600" b="0" dirty="0">
              <a:solidFill>
                <a:srgbClr val="7A3E9D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GroundedRobot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i="1" dirty="0">
                <a:solidFill>
                  <a:srgbClr val="AAAAAA"/>
                </a:solidFill>
                <a:latin typeface="Cascadia Mono" panose="020B0609020000020004" pitchFamily="49" charset="0"/>
              </a:rPr>
              <a:t>    // Robot </a:t>
            </a:r>
            <a:r>
              <a:rPr lang="en-US" sz="1600" i="1" dirty="0" err="1">
                <a:solidFill>
                  <a:srgbClr val="AAAAAA"/>
                </a:solidFill>
                <a:latin typeface="Cascadia Mono" panose="020B0609020000020004" pitchFamily="49" charset="0"/>
              </a:rPr>
              <a:t>m_common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i="1" dirty="0">
                <a:solidFill>
                  <a:srgbClr val="AAAAAA"/>
                </a:solidFill>
                <a:latin typeface="Cascadia Mono" panose="020B0609020000020004" pitchFamily="49" charset="0"/>
              </a:rPr>
              <a:t>    // </a:t>
            </a:r>
            <a:r>
              <a:rPr lang="en-US" sz="1600" i="1" dirty="0" err="1">
                <a:solidFill>
                  <a:srgbClr val="AAAAAA"/>
                </a:solidFill>
                <a:latin typeface="Cascadia Mono" panose="020B0609020000020004" pitchFamily="49" charset="0"/>
              </a:rPr>
              <a:t>m_wheels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AirRobot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i="1" dirty="0">
                <a:solidFill>
                  <a:srgbClr val="AAAAAA"/>
                </a:solidFill>
                <a:latin typeface="Cascadia Mono" panose="020B0609020000020004" pitchFamily="49" charset="0"/>
              </a:rPr>
              <a:t>    // Robot </a:t>
            </a:r>
            <a:r>
              <a:rPr lang="en-US" sz="1600" i="1" dirty="0" err="1">
                <a:solidFill>
                  <a:srgbClr val="AAAAAA"/>
                </a:solidFill>
                <a:latin typeface="Cascadia Mono" panose="020B0609020000020004" pitchFamily="49" charset="0"/>
              </a:rPr>
              <a:t>m_common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i="1" dirty="0">
                <a:solidFill>
                  <a:srgbClr val="AAAAAA"/>
                </a:solidFill>
                <a:latin typeface="Cascadia Mono" panose="020B0609020000020004" pitchFamily="49" charset="0"/>
              </a:rPr>
              <a:t>    // </a:t>
            </a:r>
            <a:r>
              <a:rPr lang="en-US" sz="1600" i="1" dirty="0" err="1">
                <a:solidFill>
                  <a:srgbClr val="AAAAAA"/>
                </a:solidFill>
                <a:latin typeface="Cascadia Mono" panose="020B0609020000020004" pitchFamily="49" charset="0"/>
              </a:rPr>
              <a:t>m_propellers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8AF79-CAF0-6EF6-7598-BB56ED187009}"/>
              </a:ext>
            </a:extLst>
          </p:cNvPr>
          <p:cNvSpPr txBox="1"/>
          <p:nvPr/>
        </p:nvSpPr>
        <p:spPr>
          <a:xfrm>
            <a:off x="231543" y="94690"/>
            <a:ext cx="11728911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Now that we’ve seen that inheritance helps us extend and re-use the functionalities of base classes, here’s an idea.</a:t>
            </a:r>
          </a:p>
          <a:p>
            <a:r>
              <a:rPr lang="en-US" sz="2000" dirty="0"/>
              <a:t>What about </a:t>
            </a:r>
            <a:r>
              <a:rPr lang="en-US" sz="2000" b="1" dirty="0"/>
              <a:t>composition</a:t>
            </a:r>
            <a:r>
              <a:rPr lang="en-US" sz="2000" dirty="0"/>
              <a:t> that we saw earlier? </a:t>
            </a:r>
          </a:p>
          <a:p>
            <a:r>
              <a:rPr lang="en-US" sz="2000" dirty="0"/>
              <a:t>What if I did this?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C1486B5A-DA6F-9DCA-A902-ABFB8B1D68F1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6323020" y="2386995"/>
            <a:ext cx="1578756" cy="1730068"/>
          </a:xfrm>
          <a:prstGeom prst="bentConnector2">
            <a:avLst/>
          </a:prstGeom>
          <a:ln w="19050">
            <a:solidFill>
              <a:srgbClr val="00B050"/>
            </a:solidFill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516D005-2490-0BCC-E1ED-69516FCB181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9060891" y="2386995"/>
            <a:ext cx="1678378" cy="1730068"/>
          </a:xfrm>
          <a:prstGeom prst="bentConnector2">
            <a:avLst/>
          </a:prstGeom>
          <a:ln w="19050">
            <a:solidFill>
              <a:srgbClr val="00B050"/>
            </a:solidFill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Left 18">
            <a:extLst>
              <a:ext uri="{FF2B5EF4-FFF2-40B4-BE49-F238E27FC236}">
                <a16:creationId xmlns:a16="http://schemas.microsoft.com/office/drawing/2014/main" id="{1FBD6310-56C7-DC83-6779-9E38211A7357}"/>
              </a:ext>
            </a:extLst>
          </p:cNvPr>
          <p:cNvSpPr/>
          <p:nvPr/>
        </p:nvSpPr>
        <p:spPr>
          <a:xfrm>
            <a:off x="3216534" y="4200658"/>
            <a:ext cx="839097" cy="27452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4DBA3AD2-377D-A477-105C-F1A9A17C7FBA}"/>
              </a:ext>
            </a:extLst>
          </p:cNvPr>
          <p:cNvSpPr/>
          <p:nvPr/>
        </p:nvSpPr>
        <p:spPr>
          <a:xfrm>
            <a:off x="3216534" y="5934432"/>
            <a:ext cx="839097" cy="27452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C4449D-F508-3844-24A6-45CF774A49F1}"/>
              </a:ext>
            </a:extLst>
          </p:cNvPr>
          <p:cNvSpPr txBox="1"/>
          <p:nvPr/>
        </p:nvSpPr>
        <p:spPr>
          <a:xfrm>
            <a:off x="9457128" y="5276197"/>
            <a:ext cx="2122750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Note that that arrowheads and their directions have changed.</a:t>
            </a:r>
          </a:p>
        </p:txBody>
      </p:sp>
    </p:spTree>
    <p:extLst>
      <p:ext uri="{BB962C8B-B14F-4D97-AF65-F5344CB8AC3E}">
        <p14:creationId xmlns:p14="http://schemas.microsoft.com/office/powerpoint/2010/main" val="277261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AD992D-21D8-9EB6-883B-C3600BFF6445}"/>
              </a:ext>
            </a:extLst>
          </p:cNvPr>
          <p:cNvSpPr txBox="1"/>
          <p:nvPr/>
        </p:nvSpPr>
        <p:spPr>
          <a:xfrm>
            <a:off x="7901776" y="2033052"/>
            <a:ext cx="1159115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Robot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2AC67-682C-A6E0-F801-59E323393F94}"/>
              </a:ext>
            </a:extLst>
          </p:cNvPr>
          <p:cNvSpPr txBox="1"/>
          <p:nvPr/>
        </p:nvSpPr>
        <p:spPr>
          <a:xfrm>
            <a:off x="5241194" y="4200659"/>
            <a:ext cx="2163653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GroundedRobot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022FA-A1BB-043E-E791-86A287D388CC}"/>
              </a:ext>
            </a:extLst>
          </p:cNvPr>
          <p:cNvSpPr txBox="1"/>
          <p:nvPr/>
        </p:nvSpPr>
        <p:spPr>
          <a:xfrm>
            <a:off x="9738828" y="4200658"/>
            <a:ext cx="2000882" cy="7078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AirRobot</a:t>
            </a:r>
            <a:endParaRPr lang="en-US" sz="2000" b="1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13929E-AC3B-9ECE-DF4E-A9DB909904A2}"/>
              </a:ext>
            </a:extLst>
          </p:cNvPr>
          <p:cNvSpPr txBox="1"/>
          <p:nvPr/>
        </p:nvSpPr>
        <p:spPr>
          <a:xfrm>
            <a:off x="452290" y="1491391"/>
            <a:ext cx="42896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Common data and functions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Robot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m_battery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m_microcontroller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m_cameraSensor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endParaRPr lang="en-US" sz="1600" b="0" dirty="0">
              <a:solidFill>
                <a:srgbClr val="7A3E9D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GroundedRobot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i="1" dirty="0">
                <a:solidFill>
                  <a:srgbClr val="AAAAAA"/>
                </a:solidFill>
                <a:latin typeface="Cascadia Mono" panose="020B0609020000020004" pitchFamily="49" charset="0"/>
              </a:rPr>
              <a:t>    // </a:t>
            </a:r>
            <a:r>
              <a:rPr lang="en-US" sz="1600" b="1" i="1" dirty="0">
                <a:solidFill>
                  <a:srgbClr val="AAAAAA"/>
                </a:solidFill>
                <a:latin typeface="Cascadia Mono" panose="020B0609020000020004" pitchFamily="49" charset="0"/>
              </a:rPr>
              <a:t>Robot</a:t>
            </a:r>
            <a:r>
              <a:rPr lang="en-US" sz="1600" i="1" dirty="0">
                <a:solidFill>
                  <a:srgbClr val="AAAAAA"/>
                </a:solidFill>
                <a:latin typeface="Cascadia Mono" panose="020B0609020000020004" pitchFamily="49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ascadia Mono" panose="020B0609020000020004" pitchFamily="49" charset="0"/>
              </a:rPr>
              <a:t>m_common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i="1" dirty="0">
                <a:solidFill>
                  <a:srgbClr val="AAAAAA"/>
                </a:solidFill>
                <a:latin typeface="Cascadia Mono" panose="020B0609020000020004" pitchFamily="49" charset="0"/>
              </a:rPr>
              <a:t>    // </a:t>
            </a:r>
            <a:r>
              <a:rPr lang="en-US" sz="1600" i="1" dirty="0" err="1">
                <a:solidFill>
                  <a:srgbClr val="AAAAAA"/>
                </a:solidFill>
                <a:latin typeface="Cascadia Mono" panose="020B0609020000020004" pitchFamily="49" charset="0"/>
              </a:rPr>
              <a:t>m_wheels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AirRobot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i="1" dirty="0">
                <a:solidFill>
                  <a:srgbClr val="AAAAAA"/>
                </a:solidFill>
                <a:latin typeface="Cascadia Mono" panose="020B0609020000020004" pitchFamily="49" charset="0"/>
              </a:rPr>
              <a:t>    // </a:t>
            </a:r>
            <a:r>
              <a:rPr lang="en-US" sz="1600" b="1" i="1" dirty="0">
                <a:solidFill>
                  <a:srgbClr val="AAAAAA"/>
                </a:solidFill>
                <a:latin typeface="Cascadia Mono" panose="020B0609020000020004" pitchFamily="49" charset="0"/>
              </a:rPr>
              <a:t>Robot </a:t>
            </a:r>
            <a:r>
              <a:rPr lang="en-US" sz="1600" i="1" dirty="0" err="1">
                <a:solidFill>
                  <a:srgbClr val="AAAAAA"/>
                </a:solidFill>
                <a:latin typeface="Cascadia Mono" panose="020B0609020000020004" pitchFamily="49" charset="0"/>
              </a:rPr>
              <a:t>m_common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i="1" dirty="0">
                <a:solidFill>
                  <a:srgbClr val="AAAAAA"/>
                </a:solidFill>
                <a:latin typeface="Cascadia Mono" panose="020B0609020000020004" pitchFamily="49" charset="0"/>
              </a:rPr>
              <a:t>    // </a:t>
            </a:r>
            <a:r>
              <a:rPr lang="en-US" sz="1600" i="1" dirty="0" err="1">
                <a:solidFill>
                  <a:srgbClr val="AAAAAA"/>
                </a:solidFill>
                <a:latin typeface="Cascadia Mono" panose="020B0609020000020004" pitchFamily="49" charset="0"/>
              </a:rPr>
              <a:t>m_propellers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8AF79-CAF0-6EF6-7598-BB56ED187009}"/>
              </a:ext>
            </a:extLst>
          </p:cNvPr>
          <p:cNvSpPr txBox="1"/>
          <p:nvPr/>
        </p:nvSpPr>
        <p:spPr>
          <a:xfrm>
            <a:off x="231543" y="94690"/>
            <a:ext cx="11728911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Recall that composition creates a </a:t>
            </a:r>
            <a:r>
              <a:rPr lang="en-US" sz="2000" b="1" dirty="0"/>
              <a:t>“has-a”</a:t>
            </a:r>
            <a:r>
              <a:rPr lang="en-US" sz="2000" dirty="0"/>
              <a:t> relationship, which in this example doesn’t make sense.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A </a:t>
            </a:r>
            <a:r>
              <a:rPr lang="en-US" sz="2000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GroundedRobot</a:t>
            </a:r>
            <a:r>
              <a:rPr lang="en-US" sz="2000" dirty="0">
                <a:solidFill>
                  <a:schemeClr val="accent1"/>
                </a:solidFill>
              </a:rPr>
              <a:t> object </a:t>
            </a:r>
            <a:r>
              <a:rPr lang="en-US" sz="2000" b="1" dirty="0">
                <a:solidFill>
                  <a:schemeClr val="accent1"/>
                </a:solidFill>
              </a:rPr>
              <a:t>has-a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Robot</a:t>
            </a:r>
            <a:r>
              <a:rPr lang="en-US" sz="2000" dirty="0">
                <a:solidFill>
                  <a:schemeClr val="accent1"/>
                </a:solidFill>
              </a:rPr>
              <a:t>. </a:t>
            </a:r>
          </a:p>
          <a:p>
            <a:r>
              <a:rPr lang="en-US" sz="2000" dirty="0"/>
              <a:t>No </a:t>
            </a:r>
            <a:r>
              <a:rPr lang="en-US" sz="2000" dirty="0" err="1"/>
              <a:t>no</a:t>
            </a:r>
            <a:r>
              <a:rPr lang="en-US" sz="2000" dirty="0"/>
              <a:t>.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A </a:t>
            </a:r>
            <a:r>
              <a:rPr lang="en-US" sz="2000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GroundedRobot</a:t>
            </a:r>
            <a:r>
              <a:rPr lang="en-US" sz="2000" dirty="0">
                <a:solidFill>
                  <a:schemeClr val="accent1"/>
                </a:solidFill>
              </a:rPr>
              <a:t> object </a:t>
            </a:r>
            <a:r>
              <a:rPr lang="en-US" sz="2000" b="1" dirty="0">
                <a:solidFill>
                  <a:schemeClr val="accent1"/>
                </a:solidFill>
              </a:rPr>
              <a:t>is-a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Robot</a:t>
            </a:r>
            <a:r>
              <a:rPr lang="en-US" sz="2000" dirty="0"/>
              <a:t> </a:t>
            </a:r>
            <a:r>
              <a:rPr lang="en-US" sz="2000" i="1" dirty="0"/>
              <a:t>(this is the relationship that inheritance creates)</a:t>
            </a:r>
            <a:r>
              <a:rPr lang="en-US" sz="2000" dirty="0"/>
              <a:t>.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C1486B5A-DA6F-9DCA-A902-ABFB8B1D68F1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6323020" y="2386995"/>
            <a:ext cx="1578756" cy="1730068"/>
          </a:xfrm>
          <a:prstGeom prst="bentConnector2">
            <a:avLst/>
          </a:prstGeom>
          <a:ln w="19050">
            <a:solidFill>
              <a:srgbClr val="00B050"/>
            </a:solidFill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516D005-2490-0BCC-E1ED-69516FCB181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9060891" y="2386995"/>
            <a:ext cx="1678378" cy="1730068"/>
          </a:xfrm>
          <a:prstGeom prst="bentConnector2">
            <a:avLst/>
          </a:prstGeom>
          <a:ln w="19050">
            <a:solidFill>
              <a:srgbClr val="00B050"/>
            </a:solidFill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Left 18">
            <a:extLst>
              <a:ext uri="{FF2B5EF4-FFF2-40B4-BE49-F238E27FC236}">
                <a16:creationId xmlns:a16="http://schemas.microsoft.com/office/drawing/2014/main" id="{1FBD6310-56C7-DC83-6779-9E38211A7357}"/>
              </a:ext>
            </a:extLst>
          </p:cNvPr>
          <p:cNvSpPr/>
          <p:nvPr/>
        </p:nvSpPr>
        <p:spPr>
          <a:xfrm>
            <a:off x="3216534" y="4200658"/>
            <a:ext cx="839097" cy="27452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4DBA3AD2-377D-A477-105C-F1A9A17C7FBA}"/>
              </a:ext>
            </a:extLst>
          </p:cNvPr>
          <p:cNvSpPr/>
          <p:nvPr/>
        </p:nvSpPr>
        <p:spPr>
          <a:xfrm>
            <a:off x="3216534" y="5934432"/>
            <a:ext cx="839097" cy="27452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B387A-807D-1AB6-3A87-889E36D764A7}"/>
              </a:ext>
            </a:extLst>
          </p:cNvPr>
          <p:cNvSpPr txBox="1"/>
          <p:nvPr/>
        </p:nvSpPr>
        <p:spPr>
          <a:xfrm>
            <a:off x="6336527" y="5426600"/>
            <a:ext cx="4840668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DerivedClass</a:t>
            </a:r>
            <a:r>
              <a:rPr lang="en-US" sz="2000" i="1" dirty="0">
                <a:solidFill>
                  <a:schemeClr val="accent1"/>
                </a:solidFill>
              </a:rPr>
              <a:t> </a:t>
            </a:r>
            <a:r>
              <a:rPr lang="en-US" sz="2000" b="1" i="1" dirty="0">
                <a:solidFill>
                  <a:schemeClr val="accent1"/>
                </a:solidFill>
              </a:rPr>
              <a:t>is-a</a:t>
            </a:r>
            <a:r>
              <a:rPr lang="en-US" sz="2000" i="1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BaseClass</a:t>
            </a:r>
            <a:r>
              <a:rPr lang="en-US" sz="2000" i="1" dirty="0">
                <a:solidFill>
                  <a:schemeClr val="accent1"/>
                </a:solidFill>
              </a:rPr>
              <a:t>.</a:t>
            </a:r>
          </a:p>
          <a:p>
            <a:endParaRPr lang="en-US" sz="2000" i="1" dirty="0">
              <a:solidFill>
                <a:schemeClr val="accent1"/>
              </a:solidFill>
            </a:endParaRPr>
          </a:p>
          <a:p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DerivedClass</a:t>
            </a:r>
            <a:r>
              <a:rPr lang="en-US" sz="2000" i="1" dirty="0">
                <a:solidFill>
                  <a:schemeClr val="accent1"/>
                </a:solidFill>
              </a:rPr>
              <a:t> </a:t>
            </a:r>
            <a:r>
              <a:rPr lang="en-US" sz="2000" b="1" i="1" dirty="0">
                <a:solidFill>
                  <a:schemeClr val="accent1"/>
                </a:solidFill>
              </a:rPr>
              <a:t>is-a-kind-of</a:t>
            </a:r>
            <a:r>
              <a:rPr lang="en-US" sz="2000" i="1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BaseClass</a:t>
            </a:r>
            <a:r>
              <a:rPr lang="en-US" sz="2000" i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219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8D264A5-B832-694B-01E8-E3265F681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" y="2545274"/>
            <a:ext cx="12034550" cy="17674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0210C8B-77AF-F30E-22EB-B28502676A54}"/>
              </a:ext>
            </a:extLst>
          </p:cNvPr>
          <p:cNvSpPr/>
          <p:nvPr/>
        </p:nvSpPr>
        <p:spPr>
          <a:xfrm>
            <a:off x="78725" y="2545274"/>
            <a:ext cx="9732249" cy="316260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A03781-A032-50EC-81D0-F00DDF048FC1}"/>
              </a:ext>
            </a:extLst>
          </p:cNvPr>
          <p:cNvSpPr/>
          <p:nvPr/>
        </p:nvSpPr>
        <p:spPr>
          <a:xfrm>
            <a:off x="78725" y="3658692"/>
            <a:ext cx="10786499" cy="316260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31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1263</Words>
  <Application>Microsoft Office PowerPoint</Application>
  <PresentationFormat>Widescreen</PresentationFormat>
  <Paragraphs>250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Cascadia Code</vt:lpstr>
      <vt:lpstr>Cascadia Mono</vt:lpstr>
      <vt:lpstr>Office Theme</vt:lpstr>
      <vt:lpstr>Inheritance</vt:lpstr>
      <vt:lpstr>Inheritance </vt:lpstr>
      <vt:lpstr>Inheritance </vt:lpstr>
      <vt:lpstr>Inheritance </vt:lpstr>
      <vt:lpstr>PowerPoint Presentation</vt:lpstr>
      <vt:lpstr>Let’s take a look at another relationship…</vt:lpstr>
      <vt:lpstr>Identifying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</dc:title>
  <dc:creator>Mohammad Salman</dc:creator>
  <cp:lastModifiedBy>Mohammad Salman</cp:lastModifiedBy>
  <cp:revision>1</cp:revision>
  <dcterms:created xsi:type="dcterms:W3CDTF">2023-10-17T07:19:32Z</dcterms:created>
  <dcterms:modified xsi:type="dcterms:W3CDTF">2023-10-23T15:12:33Z</dcterms:modified>
</cp:coreProperties>
</file>